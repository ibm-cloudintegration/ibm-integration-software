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2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theme/theme3.xml" ContentType="application/vnd.openxmlformats-officedocument.theme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theme/theme4.xml" ContentType="application/vnd.openxmlformats-officedocument.theme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theme/theme5.xml" ContentType="application/vnd.openxmlformats-officedocument.theme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theme/theme6.xml" ContentType="application/vnd.openxmlformats-officedocument.theme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theme/theme7.xml" ContentType="application/vnd.openxmlformats-officedocument.theme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  <p:sldMasterId id="2147483757" r:id="rId2"/>
    <p:sldMasterId id="2147483802" r:id="rId3"/>
    <p:sldMasterId id="2147483838" r:id="rId4"/>
    <p:sldMasterId id="2147483881" r:id="rId5"/>
    <p:sldMasterId id="2147483924" r:id="rId6"/>
    <p:sldMasterId id="2147483970" r:id="rId7"/>
    <p:sldMasterId id="2147484015" r:id="rId8"/>
  </p:sldMasterIdLst>
  <p:notesMasterIdLst>
    <p:notesMasterId r:id="rId58"/>
  </p:notesMasterIdLst>
  <p:sldIdLst>
    <p:sldId id="2147377034" r:id="rId9"/>
    <p:sldId id="2147377036" r:id="rId10"/>
    <p:sldId id="2147477488" r:id="rId11"/>
    <p:sldId id="2147477517" r:id="rId12"/>
    <p:sldId id="2147374678" r:id="rId13"/>
    <p:sldId id="2147374662" r:id="rId14"/>
    <p:sldId id="2147374677" r:id="rId15"/>
    <p:sldId id="2147374663" r:id="rId16"/>
    <p:sldId id="284" r:id="rId17"/>
    <p:sldId id="2147477489" r:id="rId18"/>
    <p:sldId id="2147374703" r:id="rId19"/>
    <p:sldId id="2147374704" r:id="rId20"/>
    <p:sldId id="2147374705" r:id="rId21"/>
    <p:sldId id="2147374706" r:id="rId22"/>
    <p:sldId id="2147477490" r:id="rId23"/>
    <p:sldId id="2147477827" r:id="rId24"/>
    <p:sldId id="2147477828" r:id="rId25"/>
    <p:sldId id="2147477829" r:id="rId26"/>
    <p:sldId id="2147477532" r:id="rId27"/>
    <p:sldId id="2147477491" r:id="rId28"/>
    <p:sldId id="258" r:id="rId29"/>
    <p:sldId id="262" r:id="rId30"/>
    <p:sldId id="263" r:id="rId31"/>
    <p:sldId id="264" r:id="rId32"/>
    <p:sldId id="2147477825" r:id="rId33"/>
    <p:sldId id="2147477826" r:id="rId34"/>
    <p:sldId id="2147477830" r:id="rId35"/>
    <p:sldId id="270" r:id="rId36"/>
    <p:sldId id="2147477824" r:id="rId37"/>
    <p:sldId id="2147374685" r:id="rId38"/>
    <p:sldId id="2147374702" r:id="rId39"/>
    <p:sldId id="273" r:id="rId40"/>
    <p:sldId id="274" r:id="rId41"/>
    <p:sldId id="275" r:id="rId42"/>
    <p:sldId id="294" r:id="rId43"/>
    <p:sldId id="276" r:id="rId44"/>
    <p:sldId id="2147374701" r:id="rId45"/>
    <p:sldId id="2147374700" r:id="rId46"/>
    <p:sldId id="2147477492" r:id="rId47"/>
    <p:sldId id="2147477822" r:id="rId48"/>
    <p:sldId id="2147477823" r:id="rId49"/>
    <p:sldId id="2147477493" r:id="rId50"/>
    <p:sldId id="2147477526" r:id="rId51"/>
    <p:sldId id="2147477815" r:id="rId52"/>
    <p:sldId id="2147477820" r:id="rId53"/>
    <p:sldId id="2147377040" r:id="rId54"/>
    <p:sldId id="2147477494" r:id="rId55"/>
    <p:sldId id="2147477534" r:id="rId56"/>
    <p:sldId id="2147477495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62FE"/>
    <a:srgbClr val="F2DB12"/>
    <a:srgbClr val="053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394CB4-13A2-49AC-8718-D12D09365872}" v="64" dt="2023-06-06T14:53:00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02"/>
    <p:restoredTop sz="97155"/>
  </p:normalViewPr>
  <p:slideViewPr>
    <p:cSldViewPr snapToGrid="0">
      <p:cViewPr varScale="1">
        <p:scale>
          <a:sx n="105" d="100"/>
          <a:sy n="105" d="100"/>
        </p:scale>
        <p:origin x="544" y="192"/>
      </p:cViewPr>
      <p:guideLst/>
    </p:cSldViewPr>
  </p:slideViewPr>
  <p:outlineViewPr>
    <p:cViewPr>
      <p:scale>
        <a:sx n="33" d="100"/>
        <a:sy n="33" d="100"/>
      </p:scale>
      <p:origin x="0" y="-39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63" Type="http://schemas.microsoft.com/office/2016/11/relationships/changesInfo" Target="changesInfos/changesInfo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theme" Target="theme/theme1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microsoft.com/office/2015/10/relationships/revisionInfo" Target="revisionInfo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presProps" Target="presProps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berhardt" userId="UJwVjI0uLoOAx/JuKitRQ70sdiGYvPb+vXMNvxZqnFw=" providerId="None" clId="Web-{64394CB4-13A2-49AC-8718-D12D09365872}"/>
    <pc:docChg chg="delSld modSld">
      <pc:chgData name="Carlos Eberhardt" userId="UJwVjI0uLoOAx/JuKitRQ70sdiGYvPb+vXMNvxZqnFw=" providerId="None" clId="Web-{64394CB4-13A2-49AC-8718-D12D09365872}" dt="2023-06-06T14:53:00.325" v="50" actId="20577"/>
      <pc:docMkLst>
        <pc:docMk/>
      </pc:docMkLst>
      <pc:sldChg chg="del">
        <pc:chgData name="Carlos Eberhardt" userId="UJwVjI0uLoOAx/JuKitRQ70sdiGYvPb+vXMNvxZqnFw=" providerId="None" clId="Web-{64394CB4-13A2-49AC-8718-D12D09365872}" dt="2023-06-06T14:48:10.178" v="15"/>
        <pc:sldMkLst>
          <pc:docMk/>
          <pc:sldMk cId="3476914846" sldId="2147374686"/>
        </pc:sldMkLst>
      </pc:sldChg>
      <pc:sldChg chg="modSp">
        <pc:chgData name="Carlos Eberhardt" userId="UJwVjI0uLoOAx/JuKitRQ70sdiGYvPb+vXMNvxZqnFw=" providerId="None" clId="Web-{64394CB4-13A2-49AC-8718-D12D09365872}" dt="2023-06-06T14:53:00.325" v="50" actId="20577"/>
        <pc:sldMkLst>
          <pc:docMk/>
          <pc:sldMk cId="785460818" sldId="2147377034"/>
        </pc:sldMkLst>
        <pc:spChg chg="mod">
          <ac:chgData name="Carlos Eberhardt" userId="UJwVjI0uLoOAx/JuKitRQ70sdiGYvPb+vXMNvxZqnFw=" providerId="None" clId="Web-{64394CB4-13A2-49AC-8718-D12D09365872}" dt="2023-06-06T14:53:00.325" v="50" actId="20577"/>
          <ac:spMkLst>
            <pc:docMk/>
            <pc:sldMk cId="785460818" sldId="2147377034"/>
            <ac:spMk id="2" creationId="{B335AEEA-5D4C-1E14-8D74-5ACD379B06AE}"/>
          </ac:spMkLst>
        </pc:spChg>
      </pc:sldChg>
      <pc:sldChg chg="modSp">
        <pc:chgData name="Carlos Eberhardt" userId="UJwVjI0uLoOAx/JuKitRQ70sdiGYvPb+vXMNvxZqnFw=" providerId="None" clId="Web-{64394CB4-13A2-49AC-8718-D12D09365872}" dt="2023-06-06T14:49:11.461" v="29" actId="20577"/>
        <pc:sldMkLst>
          <pc:docMk/>
          <pc:sldMk cId="2704615012" sldId="2147377036"/>
        </pc:sldMkLst>
        <pc:spChg chg="mod">
          <ac:chgData name="Carlos Eberhardt" userId="UJwVjI0uLoOAx/JuKitRQ70sdiGYvPb+vXMNvxZqnFw=" providerId="None" clId="Web-{64394CB4-13A2-49AC-8718-D12D09365872}" dt="2023-06-06T14:49:11.461" v="29" actId="20577"/>
          <ac:spMkLst>
            <pc:docMk/>
            <pc:sldMk cId="2704615012" sldId="2147377036"/>
            <ac:spMk id="10" creationId="{34DE9767-21B1-BCE8-F2D8-BF6020146BD2}"/>
          </ac:spMkLst>
        </pc:spChg>
      </pc:sldChg>
      <pc:sldChg chg="mod modShow">
        <pc:chgData name="Carlos Eberhardt" userId="UJwVjI0uLoOAx/JuKitRQ70sdiGYvPb+vXMNvxZqnFw=" providerId="None" clId="Web-{64394CB4-13A2-49AC-8718-D12D09365872}" dt="2023-06-06T14:49:57.712" v="32"/>
        <pc:sldMkLst>
          <pc:docMk/>
          <pc:sldMk cId="743450545" sldId="2147477488"/>
        </pc:sldMkLst>
      </pc:sldChg>
      <pc:sldChg chg="mod modShow">
        <pc:chgData name="Carlos Eberhardt" userId="UJwVjI0uLoOAx/JuKitRQ70sdiGYvPb+vXMNvxZqnFw=" providerId="None" clId="Web-{64394CB4-13A2-49AC-8718-D12D09365872}" dt="2023-06-06T14:50:04.525" v="33"/>
        <pc:sldMkLst>
          <pc:docMk/>
          <pc:sldMk cId="4188793281" sldId="2147477490"/>
        </pc:sldMkLst>
      </pc:sldChg>
      <pc:sldChg chg="mod modShow">
        <pc:chgData name="Carlos Eberhardt" userId="UJwVjI0uLoOAx/JuKitRQ70sdiGYvPb+vXMNvxZqnFw=" providerId="None" clId="Web-{64394CB4-13A2-49AC-8718-D12D09365872}" dt="2023-06-06T14:50:14.103" v="34"/>
        <pc:sldMkLst>
          <pc:docMk/>
          <pc:sldMk cId="677213323" sldId="2147477491"/>
        </pc:sldMkLst>
      </pc:sldChg>
      <pc:sldChg chg="mod modShow">
        <pc:chgData name="Carlos Eberhardt" userId="UJwVjI0uLoOAx/JuKitRQ70sdiGYvPb+vXMNvxZqnFw=" providerId="None" clId="Web-{64394CB4-13A2-49AC-8718-D12D09365872}" dt="2023-06-06T14:51:57.621" v="35"/>
        <pc:sldMkLst>
          <pc:docMk/>
          <pc:sldMk cId="834609843" sldId="2147477493"/>
        </pc:sldMkLst>
      </pc:sldChg>
      <pc:sldChg chg="modSp mod modShow">
        <pc:chgData name="Carlos Eberhardt" userId="UJwVjI0uLoOAx/JuKitRQ70sdiGYvPb+vXMNvxZqnFw=" providerId="None" clId="Web-{64394CB4-13A2-49AC-8718-D12D09365872}" dt="2023-06-06T14:52:01.558" v="36"/>
        <pc:sldMkLst>
          <pc:docMk/>
          <pc:sldMk cId="4260533501" sldId="2147477494"/>
        </pc:sldMkLst>
        <pc:spChg chg="mod">
          <ac:chgData name="Carlos Eberhardt" userId="UJwVjI0uLoOAx/JuKitRQ70sdiGYvPb+vXMNvxZqnFw=" providerId="None" clId="Web-{64394CB4-13A2-49AC-8718-D12D09365872}" dt="2023-06-06T14:49:35.008" v="31" actId="20577"/>
          <ac:spMkLst>
            <pc:docMk/>
            <pc:sldMk cId="4260533501" sldId="2147477494"/>
            <ac:spMk id="7" creationId="{C795152B-A654-A30A-EC8B-3C05987DAB1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0A3F2-2DAD-164B-8AF3-94FA5CA7B2F8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B7128-E5C0-354D-97BF-084BFE5D7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08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104" defTabSz="685706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</a:pPr>
            <a:r>
              <a:rPr lang="en-US" sz="1200" b="1" dirty="0">
                <a:solidFill>
                  <a:srgbClr val="27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GraphQL Opportunity</a:t>
            </a:r>
          </a:p>
          <a:p>
            <a:pPr marL="259554" indent="-171450" defTabSz="685706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7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Gartner Analysis of GraphQL</a:t>
            </a:r>
          </a:p>
          <a:p>
            <a:pPr marL="831054" lvl="1" indent="-285750" defTabSz="685706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  <a:buFont typeface="Arial" panose="020B0604020202020204" pitchFamily="34" charset="0"/>
              <a:buChar char="•"/>
            </a:pPr>
            <a:r>
              <a:rPr lang="en-US" sz="1100" dirty="0"/>
              <a:t>By 2025, more than 50% of enterprises will use GraphQL in production, up from less than 10% in 2021</a:t>
            </a:r>
          </a:p>
          <a:p>
            <a:pPr marL="831054" lvl="1" indent="-285750" defTabSz="685706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7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GraphQL APIs will also expand into data sharing and integration-centric use cases, driving demand for better native GraphQL support from business intelligence (BI), self-service analytics, integration platforms and low-code application platforms (LCAPs). </a:t>
            </a:r>
          </a:p>
          <a:p>
            <a:pPr marL="831054" lvl="1" indent="-285750" defTabSz="685706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7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GraphQL usage is growing fast and is a good fit for connecting mobile and web user interfaces. Its use cases are also expanding to include data publication and normalization of diverse back-end APIs</a:t>
            </a:r>
          </a:p>
          <a:p>
            <a:pPr marL="236538" indent="-149225" defTabSz="685706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7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GraphQL does not fall into an existing, established market but sits at intersection of 3 related markets: Data Integration $8.4B in ‘22 (8.5% CAGR, 23.5% cloud), App Dev $8.9B in ‘22 (7.2% CAGR, 17.1% cloud), API Management $2.2B in ‘22 (16.7% CAGR, 26.4% cloud)</a:t>
            </a:r>
          </a:p>
          <a:p>
            <a:pPr marL="117475" lvl="1" defTabSz="685706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</a:pPr>
            <a:endParaRPr lang="en-US" sz="600" dirty="0">
              <a:solidFill>
                <a:srgbClr val="2727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7475" lvl="1" defTabSz="685706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</a:pPr>
            <a:r>
              <a:rPr lang="en-US" sz="800" dirty="0">
                <a:solidFill>
                  <a:srgbClr val="27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Sources: </a:t>
            </a:r>
          </a:p>
          <a:p>
            <a:pPr marL="117475" lvl="1" defTabSz="685706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</a:pPr>
            <a:r>
              <a:rPr lang="en-US" sz="800" dirty="0">
                <a:solidFill>
                  <a:srgbClr val="27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Gartner Predicts 2022: APIs Demand Improved Security and Management, December 2021; Choosing an API Format: REST Using </a:t>
            </a:r>
            <a:r>
              <a:rPr lang="en-US" sz="800" dirty="0" err="1">
                <a:solidFill>
                  <a:srgbClr val="27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OpenAPI</a:t>
            </a:r>
            <a:r>
              <a:rPr lang="en-US" sz="800" dirty="0">
                <a:solidFill>
                  <a:srgbClr val="27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Specification, GraphQL, </a:t>
            </a:r>
            <a:r>
              <a:rPr lang="en-US" sz="800" dirty="0" err="1">
                <a:solidFill>
                  <a:srgbClr val="27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lang="en-US" sz="800" dirty="0">
                <a:solidFill>
                  <a:srgbClr val="27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800" dirty="0" err="1">
                <a:solidFill>
                  <a:srgbClr val="27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AsyncAPI</a:t>
            </a:r>
            <a:endParaRPr lang="en-US" sz="800" dirty="0">
              <a:solidFill>
                <a:srgbClr val="2727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7475" lvl="1" defTabSz="685706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</a:pPr>
            <a:r>
              <a:rPr lang="en-US" sz="800" dirty="0"/>
              <a:t>IDC Software Forecaster, Nov 2022 (Data Integration &amp; Intelligence, API Management and Gateways, Application Development)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7128-E5C0-354D-97BF-084BFE5D73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95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1738b667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1738b667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503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1738b667a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1738b667a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193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256631bcf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256631bcf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256631bcf4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256631bcf4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622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499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256631bcf4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256631bcf4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256631bcf4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256631bcf4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256631bcf4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256631bcf4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256631bcf4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256631bcf4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55818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256631bcf4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256631bcf4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488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9560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55E1A-CE45-A641-B002-6AAB231BD28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028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55E1A-CE45-A641-B002-6AAB231BD28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0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6.xml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6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8.xml"/></Relationships>
</file>

<file path=ppt/slideLayouts/_rels/slideLayout2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8.xml"/></Relationships>
</file>

<file path=ppt/slideLayouts/_rels/slideLayout2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8.xml"/></Relationships>
</file>

<file path=ppt/slideLayouts/_rels/slideLayout3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8.xml"/></Relationships>
</file>

<file path=ppt/slideLayouts/_rels/slideLayout3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8.xml"/></Relationships>
</file>

<file path=ppt/slideLayouts/_rels/slideLayout3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8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7865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0075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9613794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4750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98" y="6231636"/>
            <a:ext cx="5524575" cy="381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6669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5721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41248"/>
            <a:ext cx="5049180" cy="4668838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6547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20718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81382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4095750"/>
          </a:xfrm>
        </p:spPr>
        <p:txBody>
          <a:bodyPr/>
          <a:lstStyle>
            <a:lvl1pPr>
              <a:defRPr sz="8598" b="0" i="0">
                <a:solidFill>
                  <a:schemeClr val="tx2"/>
                </a:solidFill>
                <a:latin typeface="IBM Plex Sans ExtraLigh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56859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90543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10312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01627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98" y="4649724"/>
            <a:ext cx="5524575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raLigh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0919" y="4648200"/>
            <a:ext cx="5523781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raLigh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3809504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288036"/>
            <a:ext cx="3811091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609600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5814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213241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214827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14884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7327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4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85046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00" y="201168"/>
            <a:ext cx="2474590" cy="2667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201168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00" y="3238500"/>
            <a:ext cx="2474590" cy="2667000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94556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05740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1907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862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6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201668"/>
            <a:ext cx="2475383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89925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48338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282232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2279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185" y="1714500"/>
            <a:ext cx="247073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1714500"/>
            <a:ext cx="2476177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5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913235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4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57390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5049180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652206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2193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00410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6178" cy="2286794"/>
          </a:xfr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29197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330958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4591" cy="2286794"/>
          </a:xfrm>
        </p:spPr>
        <p:txBody>
          <a:bodyPr rIns="0"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1697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989526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7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2988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591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0919" y="288036"/>
            <a:ext cx="607997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2" y="288036"/>
            <a:ext cx="608843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609368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836462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23825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20" y="419100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0919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19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6095206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86607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841248"/>
            <a:ext cx="2857128" cy="1138428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1681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570706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427589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521401" cy="1138428"/>
          </a:xfrm>
        </p:spPr>
        <p:txBody>
          <a:bodyPr rIns="457200"/>
          <a:lstStyle>
            <a:lvl1pPr>
              <a:lnSpc>
                <a:spcPct val="11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4957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4957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224028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151569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715150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362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004939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554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34141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683484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66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8523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316" y="3714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0920" y="3714750"/>
            <a:ext cx="2475384" cy="189634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8523" y="3714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0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0920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485135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8" y="3332988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14703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0042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64384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142326247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835175079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6343589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680993248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126" y="284957"/>
            <a:ext cx="11620574" cy="629046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9992509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7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999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7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7999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7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77745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6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77745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6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77745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6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34379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4957"/>
            <a:ext cx="8571384" cy="571579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433580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005874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352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388265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0474" y="6402388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11380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472545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3711980" cy="9532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377FA90-E771-AC82-090E-6FBBAE2633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8781" y="1714500"/>
            <a:ext cx="509125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3C39AE1-8603-84DA-CC2F-0C36A1C9D1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1714500"/>
            <a:ext cx="509125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301348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22A2-A3EA-F143-6EE6-1E2C1E5AC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D5A18-384B-FB19-98F9-2F93B6302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D326A-9C74-0A68-AE6E-3B2441F2D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EAB8-A184-D941-A1B0-29C8D3A2A3F0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D6818-AC05-0A76-5381-31A444EDF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D9685-DC39-C403-FACB-B0F783168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2F886-49E8-2A49-906E-1108FB87F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970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11606693" cy="107289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Confidential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995817" y="6663151"/>
            <a:ext cx="133833" cy="123111"/>
          </a:xfrm>
        </p:spPr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BA8F02-502A-7C45-823D-27135D6C3FF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80416" y="1713782"/>
            <a:ext cx="11606693" cy="43017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5743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5522885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 dirty="0">
              <a:solidFill>
                <a:schemeClr val="tx1"/>
              </a:solidFill>
              <a:latin typeface="IBM Plex Sans Light" panose="020B0503050203000203" pitchFamily="34" charset="0"/>
              <a:cs typeface="IBM Plex Sans Light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BCD6DC6-4438-7A45-8C8C-C2E4D157E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2539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56395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647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6968" y="610"/>
            <a:ext cx="12178064" cy="685678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pic>
        <p:nvPicPr>
          <p:cNvPr id="10" name="Picture">
            <a:extLst>
              <a:ext uri="{FF2B5EF4-FFF2-40B4-BE49-F238E27FC236}">
                <a16:creationId xmlns:a16="http://schemas.microsoft.com/office/drawing/2014/main" id="{AF27D010-9F2C-E24B-9425-1712E900993B}"/>
              </a:ext>
            </a:extLst>
          </p:cNvPr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3990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6968" y="609"/>
            <a:ext cx="12178064" cy="6856779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F7EA8AAE-0BDE-7D4C-B52A-496FD9C298D3}"/>
              </a:ext>
            </a:extLst>
          </p:cNvPr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725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6970" y="609"/>
            <a:ext cx="12178061" cy="6856779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2F8C8987-724F-6B47-A6B9-8E11DF00B812}"/>
              </a:ext>
            </a:extLst>
          </p:cNvPr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1174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6970" y="610"/>
            <a:ext cx="12178061" cy="685677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7B48B5CA-5BC1-8844-81E1-24543A8F2C9A}"/>
              </a:ext>
            </a:extLst>
          </p:cNvPr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918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596131-38DE-3A44-BE82-CDD2A1709808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0" y="0"/>
            <a:ext cx="12192000" cy="686462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Fabric / March, 2022 / © 2022 IBM Corporation</a:t>
            </a:r>
            <a:endParaRPr lang="en-US" dirty="0"/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4241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6EA217-D975-DE4B-A991-B3A7FEFBAC32}"/>
              </a:ext>
            </a:extLst>
          </p:cNvPr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14916" y="5080"/>
            <a:ext cx="12171208" cy="685292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9FC9FB8B-2D23-D949-963B-B1200DEDE836}"/>
              </a:ext>
            </a:extLst>
          </p:cNvPr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97678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6970" y="610"/>
            <a:ext cx="12178060" cy="685677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14C6F24E-1E96-144E-A44F-8124FE9D9BA3}"/>
              </a:ext>
            </a:extLst>
          </p:cNvPr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2897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6970" y="609"/>
            <a:ext cx="12178060" cy="6856776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BE20C7ED-E83C-DE49-B49C-6FE6E39CB338}"/>
              </a:ext>
            </a:extLst>
          </p:cNvPr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2402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18139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5880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92031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6427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2" y="121920"/>
            <a:ext cx="11704229" cy="5872480"/>
          </a:xfrm>
        </p:spPr>
        <p:txBody>
          <a:bodyPr/>
          <a:lstStyle>
            <a:lvl1pPr>
              <a:defRPr sz="128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25902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7416713" cy="5726176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5187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1876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10" y="1658112"/>
            <a:ext cx="5498501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50224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2184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75504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71703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30046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5522885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 dirty="0">
              <a:solidFill>
                <a:schemeClr val="tx1"/>
              </a:solidFill>
              <a:latin typeface="IBM Plex Sans Light" panose="020B0503050203000203" pitchFamily="34" charset="0"/>
              <a:cs typeface="IBM Plex Sans Light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3396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68040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12731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00289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6096000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39245" y="313269"/>
            <a:ext cx="0" cy="2822545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89817" y="3426884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81083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6096000" cy="3431116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6096000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801" y="3422651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89817" y="3422651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41024" y="313269"/>
            <a:ext cx="0" cy="2822545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17962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3048000" y="3722189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096000" y="3722189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44000" y="3722189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304800" y="3429000"/>
            <a:ext cx="115824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40554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1415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048004" cy="342900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97839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6096000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3045025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9141025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88667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89798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00633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79501"/>
            <a:ext cx="2450592" cy="4336288"/>
          </a:xfrm>
        </p:spPr>
        <p:txBody>
          <a:bodyPr/>
          <a:lstStyle>
            <a:lvl1pPr>
              <a:spcBef>
                <a:spcPts val="400"/>
              </a:spcBef>
              <a:defRPr sz="1867">
                <a:solidFill>
                  <a:schemeClr val="tx1"/>
                </a:solidFill>
              </a:defRPr>
            </a:lvl1pPr>
            <a:lvl2pPr>
              <a:spcBef>
                <a:spcPts val="1467"/>
              </a:spcBef>
              <a:defRPr sz="1867">
                <a:solidFill>
                  <a:schemeClr val="tx1"/>
                </a:solidFill>
              </a:defRPr>
            </a:lvl2pPr>
            <a:lvl3pPr>
              <a:spcBef>
                <a:spcPts val="1467"/>
              </a:spcBef>
              <a:defRPr sz="1867">
                <a:solidFill>
                  <a:schemeClr val="tx1"/>
                </a:solidFill>
              </a:defRPr>
            </a:lvl3pPr>
            <a:lvl4pPr>
              <a:spcBef>
                <a:spcPts val="1467"/>
              </a:spcBef>
              <a:defRPr sz="1867">
                <a:solidFill>
                  <a:schemeClr val="tx1"/>
                </a:solidFill>
              </a:defRPr>
            </a:lvl4pPr>
            <a:lvl5pPr>
              <a:spcBef>
                <a:spcPts val="1467"/>
              </a:spcBef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18690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83512"/>
            <a:ext cx="2450592" cy="4336288"/>
          </a:xfrm>
        </p:spPr>
        <p:txBody>
          <a:bodyPr/>
          <a:lstStyle>
            <a:lvl1pPr>
              <a:spcBef>
                <a:spcPts val="400"/>
              </a:spcBef>
              <a:defRPr sz="1333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1333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1333">
                <a:solidFill>
                  <a:schemeClr val="tx1"/>
                </a:solidFill>
              </a:defRPr>
            </a:lvl3pPr>
            <a:lvl4pPr>
              <a:spcBef>
                <a:spcPts val="400"/>
              </a:spcBef>
              <a:defRPr sz="1333">
                <a:solidFill>
                  <a:schemeClr val="tx1"/>
                </a:solidFill>
              </a:defRPr>
            </a:lvl4pPr>
            <a:lvl5pPr>
              <a:spcBef>
                <a:spcPts val="400"/>
              </a:spcBef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62642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tabela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8603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48074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79927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1746504"/>
          </a:xfrm>
        </p:spPr>
        <p:txBody>
          <a:bodyPr/>
          <a:lstStyle>
            <a:lvl1pPr>
              <a:spcBef>
                <a:spcPts val="0"/>
              </a:spcBef>
              <a:defRPr sz="1333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2608" y="4279392"/>
            <a:ext cx="8546592" cy="1743456"/>
          </a:xfrm>
        </p:spPr>
        <p:txBody>
          <a:bodyPr anchor="b"/>
          <a:lstStyle>
            <a:lvl1pPr>
              <a:spcBef>
                <a:spcPts val="400"/>
              </a:spcBef>
              <a:defRPr sz="800">
                <a:solidFill>
                  <a:schemeClr val="tx1"/>
                </a:solidFill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15808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5230930" y="3083847"/>
            <a:ext cx="1730141" cy="6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920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5230931" y="3083847"/>
            <a:ext cx="1730139" cy="6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33866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/>
          <a:srcRect/>
          <a:stretch/>
        </p:blipFill>
        <p:spPr>
          <a:xfrm>
            <a:off x="5230930" y="3083846"/>
            <a:ext cx="1730141" cy="69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2799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13171A"/>
          </a:solidFill>
          <a:ln w="19050">
            <a:solidFill>
              <a:schemeClr val="tx1"/>
            </a:solidFill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rgbClr val="13171A"/>
          </a:solidFill>
          <a:ln w="19050">
            <a:solidFill>
              <a:schemeClr val="tx1"/>
            </a:solidFill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13171A"/>
          </a:solidFill>
          <a:ln w="19050">
            <a:solidFill>
              <a:schemeClr val="tx1"/>
            </a:solidFill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80E96A-E9F5-F445-856F-2BEA8F4E7E3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868D95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AC7C11A0-9005-3D44-8C32-A541F4F06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4627"/>
            <a:ext cx="2555629" cy="12192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lang="en-US" sz="799" b="0" i="0">
                <a:solidFill>
                  <a:schemeClr val="bg1"/>
                </a:solidFill>
                <a:latin typeface="IBM Plex Sans Light" panose="020B0403050203000203" pitchFamily="34" charset="77"/>
              </a:defRPr>
            </a:lvl1pPr>
          </a:lstStyle>
          <a:p>
            <a:r>
              <a:rPr lang="en-US"/>
              <a:t>IBM Automation / © 2021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00799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57044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78708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62476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576323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18790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2" y="121920"/>
            <a:ext cx="11704229" cy="5872480"/>
          </a:xfrm>
        </p:spPr>
        <p:txBody>
          <a:bodyPr/>
          <a:lstStyle>
            <a:lvl1pPr>
              <a:defRPr sz="12800" b="1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72893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7416713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9537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58928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10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05188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72605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05259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57420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5216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5522885" cy="5726176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53674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52756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32616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14868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rgbClr val="0F62F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02D9C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043C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170910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rgbClr val="0F62F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01D6C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6096000" cy="3431116"/>
          </a:xfrm>
          <a:solidFill>
            <a:srgbClr val="161616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02358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solidFill>
            <a:srgbClr val="001D6C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solidFill>
            <a:srgbClr val="0043C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rgbClr val="0F62F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78A9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879723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81260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048004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89" y="268818"/>
            <a:ext cx="5524500" cy="57255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6922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02D9C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043CE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rgbClr val="0F62FE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78A9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4386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365638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31876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81611"/>
            <a:ext cx="2450592" cy="4312788"/>
          </a:xfrm>
        </p:spPr>
        <p:txBody>
          <a:bodyPr/>
          <a:lstStyle>
            <a:lvl1pPr>
              <a:spcBef>
                <a:spcPts val="400"/>
              </a:spcBef>
              <a:defRPr sz="1333"/>
            </a:lvl1pPr>
            <a:lvl2pPr>
              <a:spcBef>
                <a:spcPts val="400"/>
              </a:spcBef>
              <a:defRPr sz="1333"/>
            </a:lvl2pPr>
            <a:lvl3pPr>
              <a:spcBef>
                <a:spcPts val="400"/>
              </a:spcBef>
              <a:defRPr sz="1333"/>
            </a:lvl3pPr>
            <a:lvl4pPr>
              <a:spcBef>
                <a:spcPts val="400"/>
              </a:spcBef>
              <a:defRPr sz="1333"/>
            </a:lvl4pPr>
            <a:lvl5pPr>
              <a:spcBef>
                <a:spcPts val="400"/>
              </a:spcBef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58869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 2"/>
          <p:cNvSpPr>
            <a:spLocks noGrp="1"/>
          </p:cNvSpPr>
          <p:nvPr>
            <p:ph type="body" sz="quarter" idx="13"/>
          </p:nvPr>
        </p:nvSpPr>
        <p:spPr>
          <a:xfrm>
            <a:off x="3340608" y="1681611"/>
            <a:ext cx="2450592" cy="4312788"/>
          </a:xfrm>
        </p:spPr>
        <p:txBody>
          <a:bodyPr/>
          <a:lstStyle>
            <a:lvl1pPr>
              <a:spcBef>
                <a:spcPts val="400"/>
              </a:spcBef>
              <a:defRPr sz="1333"/>
            </a:lvl1pPr>
            <a:lvl2pPr>
              <a:spcBef>
                <a:spcPts val="400"/>
              </a:spcBef>
              <a:defRPr sz="1333"/>
            </a:lvl2pPr>
            <a:lvl3pPr>
              <a:spcBef>
                <a:spcPts val="400"/>
              </a:spcBef>
              <a:defRPr sz="1333"/>
            </a:lvl3pPr>
            <a:lvl4pPr>
              <a:spcBef>
                <a:spcPts val="400"/>
              </a:spcBef>
              <a:defRPr sz="1333"/>
            </a:lvl4pPr>
            <a:lvl5pPr>
              <a:spcBef>
                <a:spcPts val="400"/>
              </a:spcBef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25672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93990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47012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15556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8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1" y="4274263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983931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" descr="IBM 8-bar logo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6" y="3087490"/>
            <a:ext cx="1722793" cy="68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7125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;g8fe0520c4a_0_26">
            <a:extLst>
              <a:ext uri="{FF2B5EF4-FFF2-40B4-BE49-F238E27FC236}">
                <a16:creationId xmlns:a16="http://schemas.microsoft.com/office/drawing/2014/main" id="{E89BD5C7-61F2-FA4F-A719-5344D7D1221E}"/>
              </a:ext>
            </a:extLst>
          </p:cNvPr>
          <p:cNvSpPr txBox="1"/>
          <p:nvPr userDrawn="1"/>
        </p:nvSpPr>
        <p:spPr>
          <a:xfrm>
            <a:off x="324307" y="6344463"/>
            <a:ext cx="27432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TechCon 2021</a:t>
            </a:r>
            <a:endParaRPr sz="1000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" name="Google Shape;32;g8fe0520c4a_0_26">
            <a:extLst>
              <a:ext uri="{FF2B5EF4-FFF2-40B4-BE49-F238E27FC236}">
                <a16:creationId xmlns:a16="http://schemas.microsoft.com/office/drawing/2014/main" id="{1C83A5CB-B761-6740-9C9F-A26ADA13B7ED}"/>
              </a:ext>
            </a:extLst>
          </p:cNvPr>
          <p:cNvSpPr txBox="1"/>
          <p:nvPr userDrawn="1"/>
        </p:nvSpPr>
        <p:spPr>
          <a:xfrm>
            <a:off x="11408563" y="6219851"/>
            <a:ext cx="46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" name="Google Shape;31;g8fe0520c4a_0_26">
            <a:extLst>
              <a:ext uri="{FF2B5EF4-FFF2-40B4-BE49-F238E27FC236}">
                <a16:creationId xmlns:a16="http://schemas.microsoft.com/office/drawing/2014/main" id="{760EF01D-DB4D-BF4A-A6AE-D5CE5F5054EB}"/>
              </a:ext>
            </a:extLst>
          </p:cNvPr>
          <p:cNvSpPr txBox="1"/>
          <p:nvPr userDrawn="1"/>
        </p:nvSpPr>
        <p:spPr>
          <a:xfrm>
            <a:off x="9132726" y="6344463"/>
            <a:ext cx="1830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Virtual Experience</a:t>
            </a:r>
            <a:endParaRPr sz="1000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1060232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FE80-B8C4-B24F-BEE9-99DBC05EC03A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A53A-3C20-1F47-B614-C3A68447F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01952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UpText_Cloud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313" y="0"/>
            <a:ext cx="11190816" cy="880533"/>
          </a:xfrm>
        </p:spPr>
        <p:txBody>
          <a:bodyPr/>
          <a:lstStyle>
            <a:lvl1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484718" y="1701801"/>
            <a:ext cx="5408084" cy="1468095"/>
          </a:xfrm>
        </p:spPr>
        <p:txBody>
          <a:bodyPr/>
          <a:lstStyle>
            <a:lvl1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254044" y="1693863"/>
            <a:ext cx="5408085" cy="1468095"/>
          </a:xfrm>
        </p:spPr>
        <p:txBody>
          <a:bodyPr/>
          <a:lstStyle>
            <a:lvl1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A911CF16-7408-C44A-B922-E8473C004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aseline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3FD999D4-B456-9943-89B7-30D56181CE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732BC4B0-7035-EA40-BCAD-3AF24815C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© 2018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609091500"/>
      </p:ext>
    </p:extLst>
  </p:cSld>
  <p:clrMapOvr>
    <a:masterClrMapping/>
  </p:clrMapOvr>
  <p:transition spd="med">
    <p:fade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59265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68" y="610"/>
            <a:ext cx="12178064" cy="685678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10" name="Picture">
            <a:extLst>
              <a:ext uri="{FF2B5EF4-FFF2-40B4-BE49-F238E27FC236}">
                <a16:creationId xmlns:a16="http://schemas.microsoft.com/office/drawing/2014/main" id="{AF27D010-9F2C-E24B-9425-1712E90099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9488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68" y="609"/>
            <a:ext cx="12178064" cy="6856779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F7EA8AAE-0BDE-7D4C-B52A-496FD9C298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4359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0" y="609"/>
            <a:ext cx="12178061" cy="6856779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2F8C8987-724F-6B47-A6B9-8E11DF00B8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22486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0" y="610"/>
            <a:ext cx="12178061" cy="685677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7B48B5CA-5BC1-8844-81E1-24543A8F2C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06104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596131-38DE-3A44-BE82-CDD2A1709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462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648065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6EA217-D975-DE4B-A991-B3A7FEFBAC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916" y="5080"/>
            <a:ext cx="12171208" cy="685292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9FC9FB8B-2D23-D949-963B-B1200DEDE8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71373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0" y="610"/>
            <a:ext cx="12178060" cy="685677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14C6F24E-1E96-144E-A44F-8124FE9D9B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90304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0" y="609"/>
            <a:ext cx="12178060" cy="6856776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BE20C7ED-E83C-DE49-B49C-6FE6E39CB3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18607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73320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93088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58185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660904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2" y="121920"/>
            <a:ext cx="11704229" cy="5872480"/>
          </a:xfrm>
        </p:spPr>
        <p:txBody>
          <a:bodyPr/>
          <a:lstStyle>
            <a:lvl1pPr>
              <a:defRPr sz="128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234190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7416713" cy="5726176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65435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58671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10" y="1658112"/>
            <a:ext cx="5498501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9771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192251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289431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60924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907024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5522885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 dirty="0">
              <a:solidFill>
                <a:schemeClr val="tx1"/>
              </a:solidFill>
              <a:latin typeface="IBM Plex Sans Light" panose="020B0503050203000203" pitchFamily="34" charset="0"/>
              <a:cs typeface="IBM Plex Sans Light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58647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183507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452495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077504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6096000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39245" y="313269"/>
            <a:ext cx="0" cy="2822545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89817" y="3426884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875189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6096000" cy="3431116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6096000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801" y="3422651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89817" y="3422651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41024" y="313269"/>
            <a:ext cx="0" cy="2822545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339951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3048000" y="3722189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096000" y="3722189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44000" y="3722189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304800" y="3429000"/>
            <a:ext cx="115824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08606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897261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048004" cy="342900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00455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6096000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3045025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9141025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923815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963487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294328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79501"/>
            <a:ext cx="2450592" cy="4336288"/>
          </a:xfrm>
        </p:spPr>
        <p:txBody>
          <a:bodyPr/>
          <a:lstStyle>
            <a:lvl1pPr>
              <a:spcBef>
                <a:spcPts val="400"/>
              </a:spcBef>
              <a:defRPr sz="1867">
                <a:solidFill>
                  <a:schemeClr val="tx1"/>
                </a:solidFill>
              </a:defRPr>
            </a:lvl1pPr>
            <a:lvl2pPr>
              <a:spcBef>
                <a:spcPts val="1467"/>
              </a:spcBef>
              <a:defRPr sz="1867">
                <a:solidFill>
                  <a:schemeClr val="tx1"/>
                </a:solidFill>
              </a:defRPr>
            </a:lvl2pPr>
            <a:lvl3pPr>
              <a:spcBef>
                <a:spcPts val="1467"/>
              </a:spcBef>
              <a:defRPr sz="1867">
                <a:solidFill>
                  <a:schemeClr val="tx1"/>
                </a:solidFill>
              </a:defRPr>
            </a:lvl3pPr>
            <a:lvl4pPr>
              <a:spcBef>
                <a:spcPts val="1467"/>
              </a:spcBef>
              <a:defRPr sz="1867">
                <a:solidFill>
                  <a:schemeClr val="tx1"/>
                </a:solidFill>
              </a:defRPr>
            </a:lvl4pPr>
            <a:lvl5pPr>
              <a:spcBef>
                <a:spcPts val="1467"/>
              </a:spcBef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18882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83512"/>
            <a:ext cx="2450592" cy="4336288"/>
          </a:xfrm>
        </p:spPr>
        <p:txBody>
          <a:bodyPr/>
          <a:lstStyle>
            <a:lvl1pPr>
              <a:spcBef>
                <a:spcPts val="400"/>
              </a:spcBef>
              <a:defRPr sz="1333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1333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1333">
                <a:solidFill>
                  <a:schemeClr val="tx1"/>
                </a:solidFill>
              </a:defRPr>
            </a:lvl3pPr>
            <a:lvl4pPr>
              <a:spcBef>
                <a:spcPts val="400"/>
              </a:spcBef>
              <a:defRPr sz="1333">
                <a:solidFill>
                  <a:schemeClr val="tx1"/>
                </a:solidFill>
              </a:defRPr>
            </a:lvl4pPr>
            <a:lvl5pPr>
              <a:spcBef>
                <a:spcPts val="400"/>
              </a:spcBef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617009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57647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225940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158372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1746504"/>
          </a:xfrm>
        </p:spPr>
        <p:txBody>
          <a:bodyPr/>
          <a:lstStyle>
            <a:lvl1pPr>
              <a:spcBef>
                <a:spcPts val="0"/>
              </a:spcBef>
              <a:defRPr sz="1333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2608" y="4279392"/>
            <a:ext cx="8546592" cy="1743456"/>
          </a:xfrm>
        </p:spPr>
        <p:txBody>
          <a:bodyPr anchor="b"/>
          <a:lstStyle>
            <a:lvl1pPr>
              <a:spcBef>
                <a:spcPts val="400"/>
              </a:spcBef>
              <a:defRPr sz="800">
                <a:solidFill>
                  <a:schemeClr val="tx1"/>
                </a:solidFill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635541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0" y="3083847"/>
            <a:ext cx="1730141" cy="6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998358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1" y="3083847"/>
            <a:ext cx="1730139" cy="6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71383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0" y="3083846"/>
            <a:ext cx="1730141" cy="69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34842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91753" y="6273673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68965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68" y="612"/>
            <a:ext cx="12178064" cy="685678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10" name="Picture">
            <a:extLst>
              <a:ext uri="{FF2B5EF4-FFF2-40B4-BE49-F238E27FC236}">
                <a16:creationId xmlns:a16="http://schemas.microsoft.com/office/drawing/2014/main" id="{AF27D010-9F2C-E24B-9425-1712E90099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3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03096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68" y="610"/>
            <a:ext cx="12178064" cy="685677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F7EA8AAE-0BDE-7D4C-B52A-496FD9C298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3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037941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1" y="610"/>
            <a:ext cx="12178061" cy="685677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2F8C8987-724F-6B47-A6B9-8E11DF00B8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3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9290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1" y="612"/>
            <a:ext cx="12178061" cy="685677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7B48B5CA-5BC1-8844-81E1-24543A8F2C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3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22098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596131-38DE-3A44-BE82-CDD2A1709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6462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3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30063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6EA217-D975-DE4B-A991-B3A7FEFBAC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916" y="5080"/>
            <a:ext cx="12171208" cy="685292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9FC9FB8B-2D23-D949-963B-B1200DEDE8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3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4099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1" y="612"/>
            <a:ext cx="12178060" cy="685677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14C6F24E-1E96-144E-A44F-8124FE9D9B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3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07255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1" y="610"/>
            <a:ext cx="12178060" cy="6856776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BE20C7ED-E83C-DE49-B49C-6FE6E39CB3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3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59163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751564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68545" indent="0">
              <a:buNone/>
              <a:defRPr/>
            </a:lvl3pPr>
            <a:lvl4pPr marL="579380" indent="0">
              <a:buNone/>
              <a:defRPr/>
            </a:lvl4pPr>
            <a:lvl5pPr marL="84158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3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68545" indent="0">
              <a:buNone/>
              <a:defRPr/>
            </a:lvl3pPr>
            <a:lvl4pPr marL="579380" indent="0">
              <a:buNone/>
              <a:defRPr/>
            </a:lvl4pPr>
            <a:lvl5pPr marL="84158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70386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787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535728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1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787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43191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3" y="121920"/>
            <a:ext cx="11704229" cy="5872480"/>
          </a:xfrm>
        </p:spPr>
        <p:txBody>
          <a:bodyPr/>
          <a:lstStyle>
            <a:lvl1pPr>
              <a:defRPr sz="12787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774726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0" y="268225"/>
            <a:ext cx="7416713" cy="5726176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455491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687976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11" y="1658113"/>
            <a:ext cx="5498501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449085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197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3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785417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415255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05294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5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89306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9" y="268225"/>
            <a:ext cx="5522885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598" b="0" i="0" dirty="0">
              <a:solidFill>
                <a:schemeClr val="tx1"/>
              </a:solidFill>
              <a:latin typeface="IBM Plex Sans Light" panose="020B0503050203000203" pitchFamily="34" charset="0"/>
              <a:cs typeface="IBM Plex Sans Light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5498592" cy="5726176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81267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956761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7729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89028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6096000" y="313268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39245" y="313270"/>
            <a:ext cx="0" cy="2822545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89818" y="3426884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194775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2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6096000" cy="3431116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6096000" y="313268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802" y="3422651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89818" y="3422651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41024" y="313270"/>
            <a:ext cx="0" cy="2822545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569425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3425950"/>
          </a:xfrm>
          <a:noFill/>
        </p:spPr>
        <p:txBody>
          <a:bodyPr lIns="182880" tIns="164592" rIns="228600" bIns="228600"/>
          <a:lstStyle>
            <a:lvl1pPr>
              <a:defRPr sz="6394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3048000" cy="3431116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6"/>
            <a:ext cx="3048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3048000" y="3722190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096000" y="3722190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44000" y="3722190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304800" y="3429000"/>
            <a:ext cx="115824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35794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504553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2" y="3429000"/>
            <a:ext cx="3048004" cy="342900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332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332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332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332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965031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6096000" y="313268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3045025" y="313268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9141025" y="313268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642750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3"/>
            <a:ext cx="8534400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086643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507226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79501"/>
            <a:ext cx="2450592" cy="4336288"/>
          </a:xfrm>
        </p:spPr>
        <p:txBody>
          <a:bodyPr/>
          <a:lstStyle>
            <a:lvl1pPr>
              <a:spcBef>
                <a:spcPts val="400"/>
              </a:spcBef>
              <a:defRPr sz="1865">
                <a:solidFill>
                  <a:schemeClr val="tx1"/>
                </a:solidFill>
              </a:defRPr>
            </a:lvl1pPr>
            <a:lvl2pPr>
              <a:spcBef>
                <a:spcPts val="1465"/>
              </a:spcBef>
              <a:defRPr sz="1865">
                <a:solidFill>
                  <a:schemeClr val="tx1"/>
                </a:solidFill>
              </a:defRPr>
            </a:lvl2pPr>
            <a:lvl3pPr>
              <a:spcBef>
                <a:spcPts val="1465"/>
              </a:spcBef>
              <a:defRPr sz="1865">
                <a:solidFill>
                  <a:schemeClr val="tx1"/>
                </a:solidFill>
              </a:defRPr>
            </a:lvl3pPr>
            <a:lvl4pPr>
              <a:spcBef>
                <a:spcPts val="1465"/>
              </a:spcBef>
              <a:defRPr sz="1865">
                <a:solidFill>
                  <a:schemeClr val="tx1"/>
                </a:solidFill>
              </a:defRPr>
            </a:lvl4pPr>
            <a:lvl5pPr>
              <a:spcBef>
                <a:spcPts val="1465"/>
              </a:spcBef>
              <a:defRPr sz="186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62019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83512"/>
            <a:ext cx="2450592" cy="4336288"/>
          </a:xfrm>
        </p:spPr>
        <p:txBody>
          <a:bodyPr/>
          <a:lstStyle>
            <a:lvl1pPr>
              <a:spcBef>
                <a:spcPts val="400"/>
              </a:spcBef>
              <a:defRPr sz="1332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1332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1332">
                <a:solidFill>
                  <a:schemeClr val="tx1"/>
                </a:solidFill>
              </a:defRPr>
            </a:lvl3pPr>
            <a:lvl4pPr>
              <a:spcBef>
                <a:spcPts val="400"/>
              </a:spcBef>
              <a:defRPr sz="1332">
                <a:solidFill>
                  <a:schemeClr val="tx1"/>
                </a:solidFill>
              </a:defRPr>
            </a:lvl4pPr>
            <a:lvl5pPr>
              <a:spcBef>
                <a:spcPts val="400"/>
              </a:spcBef>
              <a:defRPr sz="1332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197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6999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5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5"/>
            <a:ext cx="8546501" cy="5726176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576227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128178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099839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1746504"/>
          </a:xfrm>
        </p:spPr>
        <p:txBody>
          <a:bodyPr/>
          <a:lstStyle>
            <a:lvl1pPr>
              <a:spcBef>
                <a:spcPts val="0"/>
              </a:spcBef>
              <a:defRPr sz="1332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68545" indent="0">
              <a:buNone/>
              <a:defRPr/>
            </a:lvl3pPr>
            <a:lvl4pPr marL="579380" indent="0">
              <a:buNone/>
              <a:defRPr/>
            </a:lvl4pPr>
            <a:lvl5pPr marL="84158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2608" y="4279392"/>
            <a:ext cx="8546592" cy="1743456"/>
          </a:xfrm>
        </p:spPr>
        <p:txBody>
          <a:bodyPr anchor="b"/>
          <a:lstStyle>
            <a:lvl1pPr>
              <a:spcBef>
                <a:spcPts val="400"/>
              </a:spcBef>
              <a:defRPr sz="799">
                <a:solidFill>
                  <a:schemeClr val="tx1"/>
                </a:solidFill>
              </a:defRPr>
            </a:lvl1pPr>
            <a:lvl2pPr>
              <a:defRPr sz="799"/>
            </a:lvl2pPr>
            <a:lvl3pPr>
              <a:defRPr sz="799"/>
            </a:lvl3pPr>
            <a:lvl4pPr>
              <a:defRPr sz="799"/>
            </a:lvl4pPr>
            <a:lvl5pPr>
              <a:defRPr sz="799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90999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1" y="3083848"/>
            <a:ext cx="1730141" cy="6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120800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2" y="3083848"/>
            <a:ext cx="1730139" cy="6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12502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1" y="3083847"/>
            <a:ext cx="1730141" cy="69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259582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615955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68" y="610"/>
            <a:ext cx="12178064" cy="685678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pic>
        <p:nvPicPr>
          <p:cNvPr id="10" name="Picture">
            <a:extLst>
              <a:ext uri="{FF2B5EF4-FFF2-40B4-BE49-F238E27FC236}">
                <a16:creationId xmlns:a16="http://schemas.microsoft.com/office/drawing/2014/main" id="{AF27D010-9F2C-E24B-9425-1712E90099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66854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68" y="610"/>
            <a:ext cx="12178064" cy="6856779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F7EA8AAE-0BDE-7D4C-B52A-496FD9C298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824065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1" y="610"/>
            <a:ext cx="12178061" cy="6856779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2F8C8987-724F-6B47-A6B9-8E11DF00B8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42603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1" y="611"/>
            <a:ext cx="12178061" cy="685677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7B48B5CA-5BC1-8844-81E1-24543A8F2C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2723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596131-38DE-3A44-BE82-CDD2A1709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6462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Marketing  / August 2022 / © 2022 IBM Corporation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30986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6EA217-D975-DE4B-A991-B3A7FEFBAC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916" y="5080"/>
            <a:ext cx="12171208" cy="685292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9FC9FB8B-2D23-D949-963B-B1200DEDE8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8529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0" y="611"/>
            <a:ext cx="12178060" cy="685677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14C6F24E-1E96-144E-A44F-8124FE9D9B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16200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0" y="609"/>
            <a:ext cx="12178060" cy="6856776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BE20C7ED-E83C-DE49-B49C-6FE6E39CB3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3" y="6273672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200222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59305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68545" indent="0">
              <a:buNone/>
              <a:defRPr/>
            </a:lvl3pPr>
            <a:lvl4pPr marL="579380" indent="0">
              <a:buNone/>
              <a:defRPr/>
            </a:lvl4pPr>
            <a:lvl5pPr marL="84158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3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68545" indent="0">
              <a:buNone/>
              <a:defRPr/>
            </a:lvl3pPr>
            <a:lvl4pPr marL="579380" indent="0">
              <a:buNone/>
              <a:defRPr/>
            </a:lvl4pPr>
            <a:lvl5pPr marL="84158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62728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787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0838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1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787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09243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3" y="121920"/>
            <a:ext cx="11704229" cy="5872480"/>
          </a:xfrm>
        </p:spPr>
        <p:txBody>
          <a:bodyPr/>
          <a:lstStyle>
            <a:lvl1pPr>
              <a:defRPr sz="12787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791697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9" y="268225"/>
            <a:ext cx="7416713" cy="5726176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264093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727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11" y="1658113"/>
            <a:ext cx="5498501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39145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197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3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08005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47831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17946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5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78069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9" y="268225"/>
            <a:ext cx="5522885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598" b="0" i="0">
              <a:solidFill>
                <a:schemeClr val="tx1"/>
              </a:solidFill>
              <a:latin typeface="IBM Plex Sans Light" panose="020B0503050203000203" pitchFamily="34" charset="0"/>
              <a:cs typeface="IBM Plex Sans Light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5498592" cy="5726176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98880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38777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94167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87742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6096000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39245" y="313269"/>
            <a:ext cx="0" cy="2822545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89818" y="3426884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020317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6096000" cy="3431116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6096000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802" y="3422651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89818" y="3422651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41024" y="313269"/>
            <a:ext cx="0" cy="2822545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005344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394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4"/>
            <a:ext cx="3048000" cy="343111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4"/>
            <a:ext cx="3048000" cy="343111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3048000" y="3722189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096000" y="3722189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44000" y="3722189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304800" y="3429000"/>
            <a:ext cx="115824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41500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10108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048004" cy="342900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332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332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332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332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7212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6096000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3045025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9141025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165220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3"/>
            <a:ext cx="8534400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02979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06472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79501"/>
            <a:ext cx="2450592" cy="4336288"/>
          </a:xfrm>
        </p:spPr>
        <p:txBody>
          <a:bodyPr/>
          <a:lstStyle>
            <a:lvl1pPr>
              <a:spcBef>
                <a:spcPts val="400"/>
              </a:spcBef>
              <a:defRPr sz="1865">
                <a:solidFill>
                  <a:schemeClr val="tx1"/>
                </a:solidFill>
              </a:defRPr>
            </a:lvl1pPr>
            <a:lvl2pPr>
              <a:spcBef>
                <a:spcPts val="1466"/>
              </a:spcBef>
              <a:defRPr sz="1865">
                <a:solidFill>
                  <a:schemeClr val="tx1"/>
                </a:solidFill>
              </a:defRPr>
            </a:lvl2pPr>
            <a:lvl3pPr>
              <a:spcBef>
                <a:spcPts val="1466"/>
              </a:spcBef>
              <a:defRPr sz="1865">
                <a:solidFill>
                  <a:schemeClr val="tx1"/>
                </a:solidFill>
              </a:defRPr>
            </a:lvl3pPr>
            <a:lvl4pPr>
              <a:spcBef>
                <a:spcPts val="1466"/>
              </a:spcBef>
              <a:defRPr sz="1865">
                <a:solidFill>
                  <a:schemeClr val="tx1"/>
                </a:solidFill>
              </a:defRPr>
            </a:lvl4pPr>
            <a:lvl5pPr>
              <a:spcBef>
                <a:spcPts val="1466"/>
              </a:spcBef>
              <a:defRPr sz="186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41876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83512"/>
            <a:ext cx="2450592" cy="4336288"/>
          </a:xfrm>
        </p:spPr>
        <p:txBody>
          <a:bodyPr/>
          <a:lstStyle>
            <a:lvl1pPr>
              <a:spcBef>
                <a:spcPts val="400"/>
              </a:spcBef>
              <a:defRPr sz="1332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1332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1332">
                <a:solidFill>
                  <a:schemeClr val="tx1"/>
                </a:solidFill>
              </a:defRPr>
            </a:lvl3pPr>
            <a:lvl4pPr>
              <a:spcBef>
                <a:spcPts val="400"/>
              </a:spcBef>
              <a:defRPr sz="1332">
                <a:solidFill>
                  <a:schemeClr val="tx1"/>
                </a:solidFill>
              </a:defRPr>
            </a:lvl4pPr>
            <a:lvl5pPr>
              <a:spcBef>
                <a:spcPts val="400"/>
              </a:spcBef>
              <a:defRPr sz="1332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197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70541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5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5"/>
            <a:ext cx="8546501" cy="5726176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14544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58985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0773995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1746504"/>
          </a:xfrm>
        </p:spPr>
        <p:txBody>
          <a:bodyPr/>
          <a:lstStyle>
            <a:lvl1pPr>
              <a:spcBef>
                <a:spcPts val="0"/>
              </a:spcBef>
              <a:defRPr sz="1332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68545" indent="0">
              <a:buNone/>
              <a:defRPr/>
            </a:lvl3pPr>
            <a:lvl4pPr marL="579380" indent="0">
              <a:buNone/>
              <a:defRPr/>
            </a:lvl4pPr>
            <a:lvl5pPr marL="84158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2608" y="4279392"/>
            <a:ext cx="8546592" cy="1743456"/>
          </a:xfrm>
        </p:spPr>
        <p:txBody>
          <a:bodyPr anchor="b"/>
          <a:lstStyle>
            <a:lvl1pPr>
              <a:spcBef>
                <a:spcPts val="400"/>
              </a:spcBef>
              <a:defRPr sz="799">
                <a:solidFill>
                  <a:schemeClr val="tx1"/>
                </a:solidFill>
              </a:defRPr>
            </a:lvl1pPr>
            <a:lvl2pPr>
              <a:defRPr sz="799"/>
            </a:lvl2pPr>
            <a:lvl3pPr>
              <a:defRPr sz="799"/>
            </a:lvl3pPr>
            <a:lvl4pPr>
              <a:defRPr sz="799"/>
            </a:lvl4pPr>
            <a:lvl5pPr>
              <a:defRPr sz="799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70799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1" y="3083848"/>
            <a:ext cx="1730141" cy="6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29100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2" y="3083848"/>
            <a:ext cx="1730139" cy="6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87013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1" y="3083846"/>
            <a:ext cx="1730141" cy="69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97895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ED6F24A-80DA-4900-89E0-12BC46C36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5301" y="6359285"/>
            <a:ext cx="11185589" cy="11682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dirty="0"/>
            </a:lvl1pPr>
          </a:lstStyle>
          <a:p>
            <a:pPr defTabSz="685098">
              <a:lnSpc>
                <a:spcPct val="95000"/>
              </a:lnSpc>
              <a:spcBef>
                <a:spcPts val="1199"/>
              </a:spcBef>
              <a:buClr>
                <a:srgbClr val="3253DC"/>
              </a:buClr>
            </a:pP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1C422A-8C2B-49A3-B3D8-428DA876C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19459"/>
            <a:ext cx="11187112" cy="678783"/>
          </a:xfrm>
        </p:spPr>
        <p:txBody>
          <a:bodyPr/>
          <a:lstStyle>
            <a:lvl1pPr>
              <a:defRPr sz="3996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2E1F43-5EEE-7947-B646-D73F9DEEA055}"/>
              </a:ext>
            </a:extLst>
          </p:cNvPr>
          <p:cNvSpPr txBox="1"/>
          <p:nvPr/>
        </p:nvSpPr>
        <p:spPr>
          <a:xfrm>
            <a:off x="495302" y="6534244"/>
            <a:ext cx="4188647" cy="11682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defTabSz="685800">
              <a:lnSpc>
                <a:spcPct val="95000"/>
              </a:lnSpc>
              <a:spcBef>
                <a:spcPts val="1200"/>
              </a:spcBef>
              <a:buClr>
                <a:srgbClr val="3253DC"/>
              </a:buClr>
              <a:buFont typeface="Arial" panose="020B0604020202020204" pitchFamily="34" charset="0"/>
              <a:buNone/>
              <a:defRPr lang="en-US" sz="8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sz="799" dirty="0">
                <a:solidFill>
                  <a:schemeClr val="tx1">
                    <a:alpha val="50000"/>
                  </a:schemeClr>
                </a:solidFill>
              </a:rPr>
              <a:t>© 2022 Forrester. Reproduction Prohibited.</a:t>
            </a:r>
          </a:p>
        </p:txBody>
      </p:sp>
    </p:spTree>
    <p:extLst>
      <p:ext uri="{BB962C8B-B14F-4D97-AF65-F5344CB8AC3E}">
        <p14:creationId xmlns:p14="http://schemas.microsoft.com/office/powerpoint/2010/main" val="34535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ED6F24A-80DA-4900-89E0-12BC46C36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5300" y="6359285"/>
            <a:ext cx="11185589" cy="11682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dirty="0"/>
            </a:lvl1pPr>
          </a:lstStyle>
          <a:p>
            <a:pPr defTabSz="685114">
              <a:lnSpc>
                <a:spcPct val="95000"/>
              </a:lnSpc>
              <a:spcBef>
                <a:spcPts val="1199"/>
              </a:spcBef>
              <a:buClr>
                <a:srgbClr val="3253DC"/>
              </a:buClr>
            </a:pP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1C422A-8C2B-49A3-B3D8-428DA876C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19457"/>
            <a:ext cx="11187112" cy="678783"/>
          </a:xfrm>
        </p:spPr>
        <p:txBody>
          <a:bodyPr/>
          <a:lstStyle>
            <a:lvl1pPr>
              <a:defRPr sz="3996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2E1F43-5EEE-7947-B646-D73F9DEEA055}"/>
              </a:ext>
            </a:extLst>
          </p:cNvPr>
          <p:cNvSpPr txBox="1"/>
          <p:nvPr userDrawn="1"/>
        </p:nvSpPr>
        <p:spPr>
          <a:xfrm>
            <a:off x="495300" y="6534243"/>
            <a:ext cx="4188646" cy="11682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defTabSz="685800">
              <a:lnSpc>
                <a:spcPct val="95000"/>
              </a:lnSpc>
              <a:spcBef>
                <a:spcPts val="1200"/>
              </a:spcBef>
              <a:buClr>
                <a:srgbClr val="3253DC"/>
              </a:buClr>
              <a:buFont typeface="Arial" panose="020B0604020202020204" pitchFamily="34" charset="0"/>
              <a:buNone/>
              <a:defRPr lang="en-US" sz="8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sz="799" dirty="0">
                <a:solidFill>
                  <a:schemeClr val="tx1">
                    <a:alpha val="50000"/>
                  </a:schemeClr>
                </a:solidFill>
              </a:rPr>
              <a:t>© 2022 Forrester. Reproduction Prohibited.</a:t>
            </a:r>
          </a:p>
        </p:txBody>
      </p:sp>
    </p:spTree>
    <p:extLst>
      <p:ext uri="{BB962C8B-B14F-4D97-AF65-F5344CB8AC3E}">
        <p14:creationId xmlns:p14="http://schemas.microsoft.com/office/powerpoint/2010/main" val="34354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271708"/>
            <a:ext cx="5486401" cy="5972459"/>
          </a:xfrm>
        </p:spPr>
        <p:txBody>
          <a:bodyPr/>
          <a:lstStyle>
            <a:lvl1pPr>
              <a:lnSpc>
                <a:spcPct val="90000"/>
              </a:lnSpc>
              <a:defRPr sz="3197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40DF71-24DA-4281-9679-1F6E43689D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95605" y="6244167"/>
            <a:ext cx="1987296" cy="50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82402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991669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721315315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051294950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48313" algn="dec"/>
              </a:tabLst>
              <a:defRPr/>
            </a:lvl1pPr>
            <a:lvl2pPr marL="230487" indent="-230487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89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59116" algn="r"/>
              </a:tabLst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400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48313" algn="dec"/>
              </a:tabLst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8990" rtl="0" eaLnBrk="1" fontAlgn="auto" latinLnBrk="0" hangingPunct="1">
              <a:lnSpc>
                <a:spcPct val="100000"/>
              </a:lnSpc>
              <a:spcBef>
                <a:spcPts val="1465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59116" algn="r"/>
              </a:tabLst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188250560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15407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787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46633548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15407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787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7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244632419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53569"/>
            <a:ext cx="11582400" cy="5964766"/>
          </a:xfrm>
        </p:spPr>
        <p:txBody>
          <a:bodyPr/>
          <a:lstStyle>
            <a:lvl1pPr>
              <a:lnSpc>
                <a:spcPct val="90000"/>
              </a:lnSpc>
              <a:defRPr sz="12787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829758321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6916616" cy="6027740"/>
          </a:xfrm>
        </p:spPr>
        <p:txBody>
          <a:bodyPr/>
          <a:lstStyle>
            <a:lvl1pPr marL="156477" indent="-156477"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879135816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1"/>
            <a:ext cx="5486400" cy="5770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658369"/>
            <a:ext cx="5486400" cy="5599640"/>
          </a:xfrm>
        </p:spPr>
        <p:txBody>
          <a:bodyPr/>
          <a:lstStyle>
            <a:lvl1pPr>
              <a:spcBef>
                <a:spcPts val="1465"/>
              </a:spcBef>
              <a:spcAft>
                <a:spcPts val="0"/>
              </a:spcAft>
              <a:defRPr/>
            </a:lvl1pPr>
            <a:lvl2pPr>
              <a:spcBef>
                <a:spcPts val="1465"/>
              </a:spcBef>
              <a:defRPr/>
            </a:lvl2pPr>
            <a:lvl3pPr>
              <a:spcBef>
                <a:spcPts val="1465"/>
              </a:spcBef>
              <a:defRPr/>
            </a:lvl3pPr>
            <a:lvl4pPr>
              <a:spcBef>
                <a:spcPts val="1465"/>
              </a:spcBef>
              <a:defRPr/>
            </a:lvl4pPr>
            <a:lvl5pPr>
              <a:spcBef>
                <a:spcPts val="1465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7418"/>
            <a:ext cx="5486400" cy="400050"/>
          </a:xfrm>
        </p:spPr>
        <p:txBody>
          <a:bodyPr/>
          <a:lstStyle>
            <a:lvl1pPr>
              <a:defRPr sz="146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446061751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7"/>
            <a:ext cx="5486400" cy="4781126"/>
          </a:xfrm>
        </p:spPr>
        <p:txBody>
          <a:bodyPr/>
          <a:lstStyle>
            <a:lvl1pPr>
              <a:spcBef>
                <a:spcPts val="0"/>
              </a:spcBef>
              <a:defRPr sz="1865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400800" y="1499617"/>
            <a:ext cx="5486400" cy="4781126"/>
          </a:xfrm>
        </p:spPr>
        <p:txBody>
          <a:bodyPr/>
          <a:lstStyle>
            <a:lvl1pPr>
              <a:spcBef>
                <a:spcPts val="0"/>
              </a:spcBef>
              <a:defRPr sz="1865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875113103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0"/>
            <a:ext cx="5486400" cy="4786208"/>
          </a:xfrm>
        </p:spPr>
        <p:txBody>
          <a:bodyPr/>
          <a:lstStyle>
            <a:lvl1pPr>
              <a:defRPr sz="2131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4"/>
            <a:ext cx="5486400" cy="400050"/>
          </a:xfrm>
        </p:spPr>
        <p:txBody>
          <a:bodyPr/>
          <a:lstStyle>
            <a:lvl1pPr>
              <a:defRPr sz="146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1"/>
            <a:ext cx="5486400" cy="4786207"/>
          </a:xfrm>
        </p:spPr>
        <p:txBody>
          <a:bodyPr/>
          <a:lstStyle>
            <a:lvl1pPr>
              <a:defRPr sz="2131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6544770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04800" y="1327359"/>
            <a:ext cx="5486400" cy="4916809"/>
          </a:xfrm>
        </p:spPr>
        <p:txBody>
          <a:bodyPr/>
          <a:lstStyle>
            <a:lvl1pPr>
              <a:defRPr sz="319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400800" y="1488865"/>
            <a:ext cx="5486400" cy="4755303"/>
          </a:xfrm>
        </p:spPr>
        <p:txBody>
          <a:bodyPr/>
          <a:lstStyle>
            <a:lvl1pPr>
              <a:defRPr sz="1865"/>
            </a:lvl1pPr>
            <a:lvl2pPr>
              <a:defRPr sz="186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779846474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59"/>
            <a:ext cx="2438400" cy="4786207"/>
          </a:xfrm>
        </p:spPr>
        <p:txBody>
          <a:bodyPr/>
          <a:lstStyle>
            <a:lvl1pPr>
              <a:defRPr sz="2131"/>
            </a:lvl1pPr>
            <a:lvl2pPr marL="0" indent="0">
              <a:spcBef>
                <a:spcPts val="1465"/>
              </a:spcBef>
              <a:buFontTx/>
              <a:buNone/>
              <a:defRPr sz="1465"/>
            </a:lvl2pPr>
            <a:lvl3pPr>
              <a:defRPr sz="1465"/>
            </a:lvl3pPr>
            <a:lvl4pPr>
              <a:defRPr sz="1465"/>
            </a:lvl4pPr>
            <a:lvl5pPr>
              <a:defRPr sz="146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4"/>
            <a:ext cx="5486400" cy="400050"/>
          </a:xfrm>
        </p:spPr>
        <p:txBody>
          <a:bodyPr/>
          <a:lstStyle>
            <a:lvl1pPr>
              <a:defRPr sz="146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59"/>
            <a:ext cx="2438400" cy="4786207"/>
          </a:xfrm>
        </p:spPr>
        <p:txBody>
          <a:bodyPr/>
          <a:lstStyle>
            <a:lvl1pPr>
              <a:spcBef>
                <a:spcPts val="1465"/>
              </a:spcBef>
              <a:defRPr sz="2131"/>
            </a:lvl1pPr>
            <a:lvl2pPr marL="0" indent="0">
              <a:spcBef>
                <a:spcPts val="1465"/>
              </a:spcBef>
              <a:buFontTx/>
              <a:buNone/>
              <a:defRPr sz="1465"/>
            </a:lvl2pPr>
            <a:lvl3pPr>
              <a:defRPr sz="1465"/>
            </a:lvl3pPr>
            <a:lvl4pPr>
              <a:defRPr sz="1465"/>
            </a:lvl4pPr>
            <a:lvl5pPr>
              <a:defRPr sz="146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57959"/>
            <a:ext cx="2438400" cy="4786207"/>
          </a:xfrm>
        </p:spPr>
        <p:txBody>
          <a:bodyPr/>
          <a:lstStyle>
            <a:lvl1pPr>
              <a:defRPr sz="2131"/>
            </a:lvl1pPr>
            <a:lvl2pPr marL="0" indent="0">
              <a:spcBef>
                <a:spcPts val="1465"/>
              </a:spcBef>
              <a:buFontTx/>
              <a:buNone/>
              <a:defRPr sz="1465"/>
            </a:lvl2pPr>
            <a:lvl3pPr>
              <a:defRPr sz="1465"/>
            </a:lvl3pPr>
            <a:lvl4pPr>
              <a:defRPr sz="1465"/>
            </a:lvl4pPr>
            <a:lvl5pPr>
              <a:defRPr sz="146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57959"/>
            <a:ext cx="2438400" cy="4786207"/>
          </a:xfrm>
        </p:spPr>
        <p:txBody>
          <a:bodyPr/>
          <a:lstStyle>
            <a:lvl1pPr>
              <a:defRPr sz="2131"/>
            </a:lvl1pPr>
            <a:lvl2pPr marL="0" indent="0">
              <a:spcBef>
                <a:spcPts val="1465"/>
              </a:spcBef>
              <a:buFontTx/>
              <a:buNone/>
              <a:defRPr sz="1465"/>
            </a:lvl2pPr>
            <a:lvl3pPr>
              <a:defRPr sz="1465"/>
            </a:lvl3pPr>
            <a:lvl4pPr>
              <a:defRPr sz="1465"/>
            </a:lvl4pPr>
            <a:lvl5pPr>
              <a:defRPr sz="146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401394136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4"/>
            <a:ext cx="5486400" cy="400050"/>
          </a:xfrm>
        </p:spPr>
        <p:txBody>
          <a:bodyPr/>
          <a:lstStyle>
            <a:lvl1pPr>
              <a:defRPr sz="146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1"/>
            <a:ext cx="5486400" cy="4781126"/>
          </a:xfrm>
        </p:spPr>
        <p:txBody>
          <a:bodyPr/>
          <a:lstStyle>
            <a:lvl1pPr>
              <a:defRPr sz="2131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810198819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0"/>
            <a:ext cx="2438400" cy="4781126"/>
          </a:xfrm>
        </p:spPr>
        <p:txBody>
          <a:bodyPr/>
          <a:lstStyle>
            <a:lvl1pPr>
              <a:spcBef>
                <a:spcPts val="1465"/>
              </a:spcBef>
              <a:defRPr sz="2131"/>
            </a:lvl1pPr>
            <a:lvl2pPr marL="0" indent="0">
              <a:spcBef>
                <a:spcPts val="1465"/>
              </a:spcBef>
              <a:buFontTx/>
              <a:buNone/>
              <a:defRPr sz="1465"/>
            </a:lvl2pPr>
            <a:lvl3pPr>
              <a:defRPr sz="1465"/>
            </a:lvl3pPr>
            <a:lvl4pPr>
              <a:defRPr sz="1465"/>
            </a:lvl4pPr>
            <a:lvl5pPr>
              <a:defRPr sz="146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63040"/>
            <a:ext cx="2438400" cy="4781126"/>
          </a:xfrm>
        </p:spPr>
        <p:txBody>
          <a:bodyPr/>
          <a:lstStyle>
            <a:lvl1pPr>
              <a:defRPr sz="2131"/>
            </a:lvl1pPr>
            <a:lvl2pPr marL="0" indent="0">
              <a:spcBef>
                <a:spcPts val="1465"/>
              </a:spcBef>
              <a:buFontTx/>
              <a:buNone/>
              <a:defRPr sz="1465"/>
            </a:lvl2pPr>
            <a:lvl3pPr>
              <a:defRPr sz="1465"/>
            </a:lvl3pPr>
            <a:lvl4pPr>
              <a:defRPr sz="1465"/>
            </a:lvl4pPr>
            <a:lvl5pPr>
              <a:defRPr sz="146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589467498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63041"/>
            <a:ext cx="2438400" cy="4668593"/>
          </a:xfrm>
        </p:spPr>
        <p:txBody>
          <a:bodyPr/>
          <a:lstStyle>
            <a:lvl1pPr>
              <a:defRPr sz="2131"/>
            </a:lvl1pPr>
            <a:lvl2pPr marL="0" indent="0">
              <a:spcBef>
                <a:spcPts val="1465"/>
              </a:spcBef>
              <a:buFontTx/>
              <a:buNone/>
              <a:defRPr sz="1465"/>
            </a:lvl2pPr>
            <a:lvl3pPr>
              <a:defRPr sz="1465"/>
            </a:lvl3pPr>
            <a:lvl4pPr>
              <a:defRPr sz="1465"/>
            </a:lvl4pPr>
            <a:lvl5pPr>
              <a:defRPr sz="1465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4"/>
            <a:ext cx="5486400" cy="400050"/>
          </a:xfrm>
        </p:spPr>
        <p:txBody>
          <a:bodyPr/>
          <a:lstStyle>
            <a:lvl1pPr>
              <a:defRPr sz="146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63041"/>
            <a:ext cx="2438400" cy="4668593"/>
          </a:xfrm>
        </p:spPr>
        <p:txBody>
          <a:bodyPr/>
          <a:lstStyle>
            <a:lvl1pPr>
              <a:defRPr sz="2131"/>
            </a:lvl1pPr>
            <a:lvl2pPr marL="0" indent="0">
              <a:spcBef>
                <a:spcPts val="1465"/>
              </a:spcBef>
              <a:buFontTx/>
              <a:buNone/>
              <a:defRPr sz="1465"/>
            </a:lvl2pPr>
            <a:lvl3pPr>
              <a:defRPr sz="1465"/>
            </a:lvl3pPr>
            <a:lvl4pPr>
              <a:defRPr sz="1465"/>
            </a:lvl4pPr>
            <a:lvl5pPr>
              <a:defRPr sz="146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377038562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dark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598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81715"/>
            <a:ext cx="5486400" cy="46685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1465"/>
              </a:spcBef>
              <a:buFontTx/>
              <a:buNone/>
              <a:defRPr sz="1465">
                <a:solidFill>
                  <a:schemeClr val="bg2"/>
                </a:solidFill>
              </a:defRPr>
            </a:lvl2pPr>
            <a:lvl3pPr>
              <a:defRPr sz="1465">
                <a:solidFill>
                  <a:schemeClr val="bg2"/>
                </a:solidFill>
              </a:defRPr>
            </a:lvl3pPr>
            <a:lvl4pPr>
              <a:defRPr sz="1465">
                <a:solidFill>
                  <a:schemeClr val="bg2"/>
                </a:solidFill>
              </a:defRPr>
            </a:lvl4pPr>
            <a:lvl5pPr>
              <a:defRPr sz="1465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4"/>
            <a:ext cx="5486400" cy="400050"/>
          </a:xfrm>
        </p:spPr>
        <p:txBody>
          <a:bodyPr/>
          <a:lstStyle>
            <a:lvl1pPr>
              <a:defRPr sz="146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96950085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221635825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190630306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953115616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5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43224"/>
            <a:ext cx="2743200" cy="18288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43840"/>
            <a:ext cx="5486400" cy="400050"/>
          </a:xfrm>
        </p:spPr>
        <p:txBody>
          <a:bodyPr/>
          <a:lstStyle>
            <a:lvl1pPr>
              <a:defRPr sz="213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1"/>
            <a:ext cx="5486400" cy="4651642"/>
          </a:xfrm>
        </p:spPr>
        <p:txBody>
          <a:bodyPr/>
          <a:lstStyle>
            <a:lvl1pPr>
              <a:defRPr sz="2131"/>
            </a:lvl1pPr>
            <a:lvl2pPr>
              <a:defRPr sz="186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5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5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83268247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5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6096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5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5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tx2">
              <a:lumMod val="50000"/>
            </a:schemeClr>
          </a:solidFill>
        </p:spPr>
        <p:txBody>
          <a:bodyPr lIns="228600" tIns="192024" rIns="228600" bIns="228600"/>
          <a:lstStyle>
            <a:lvl1pPr>
              <a:defRPr sz="1865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6095999" cy="3429002"/>
          </a:xfrm>
          <a:solidFill>
            <a:schemeClr val="accent2"/>
          </a:solidFill>
        </p:spPr>
        <p:txBody>
          <a:bodyPr lIns="228600" tIns="201168" rIns="228600" b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418400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3997" y="3429000"/>
            <a:ext cx="3048000" cy="3429000"/>
          </a:xfrm>
          <a:solidFill>
            <a:schemeClr val="accent1"/>
          </a:solidFill>
        </p:spPr>
        <p:txBody>
          <a:bodyPr lIns="228600" tIns="192024" rIns="228600" bIns="228600"/>
          <a:lstStyle>
            <a:lvl1pPr>
              <a:defRPr sz="1865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42900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5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2" y="3429000"/>
            <a:ext cx="3047996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5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5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3429002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 sz="6394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384838935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197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31247173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white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-5" y="-5080"/>
            <a:ext cx="12192005" cy="1725932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598" dirty="0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-4" y="-5080"/>
            <a:ext cx="9448805" cy="1725932"/>
          </a:xfrm>
          <a:noFill/>
        </p:spPr>
        <p:txBody>
          <a:bodyPr vert="horz" lIns="228600" tIns="201168" rIns="228600" bIns="228600" rtlCol="0" anchor="t" anchorCtr="0">
            <a:noAutofit/>
          </a:bodyPr>
          <a:lstStyle>
            <a:lvl1pPr>
              <a:defRPr lang="en-US" sz="3197" dirty="0" smtClean="0">
                <a:solidFill>
                  <a:srgbClr val="3D3D3D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Click to edit Master text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4800" y="6437376"/>
            <a:ext cx="8534400" cy="182880"/>
          </a:xfrm>
        </p:spPr>
        <p:txBody>
          <a:bodyPr/>
          <a:lstStyle>
            <a:lvl1pPr>
              <a:defRPr>
                <a:solidFill>
                  <a:srgbClr val="3D3D3D"/>
                </a:solidFill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1720851"/>
            <a:ext cx="12192000" cy="513714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4356" y="300567"/>
            <a:ext cx="623147" cy="24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37580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3810000"/>
            <a:ext cx="3048000" cy="3048000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>
                <a:solidFill>
                  <a:schemeClr val="bg2"/>
                </a:solidFill>
              </a:defRPr>
            </a:lvl1pPr>
            <a:lvl2pPr>
              <a:defRPr sz="1332">
                <a:solidFill>
                  <a:schemeClr val="bg2"/>
                </a:solidFill>
              </a:defRPr>
            </a:lvl2pPr>
            <a:lvl3pPr>
              <a:defRPr sz="1332">
                <a:solidFill>
                  <a:schemeClr val="bg2"/>
                </a:solidFill>
              </a:defRPr>
            </a:lvl3pPr>
            <a:lvl4pPr>
              <a:defRPr sz="1332">
                <a:solidFill>
                  <a:schemeClr val="bg2"/>
                </a:solidFill>
              </a:defRPr>
            </a:lvl4pPr>
            <a:lvl5pPr>
              <a:defRPr sz="1332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950381130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-1"/>
            <a:ext cx="3048000" cy="6858000"/>
          </a:xfrm>
          <a:solidFill>
            <a:schemeClr val="tx1"/>
          </a:solidFill>
        </p:spPr>
        <p:txBody>
          <a:bodyPr lIns="228600" tIns="182880" rIns="228600" bIns="228600"/>
          <a:lstStyle>
            <a:lvl1pPr>
              <a:defRPr sz="2131">
                <a:solidFill>
                  <a:schemeClr val="bg2"/>
                </a:solidFill>
              </a:defRPr>
            </a:lvl1pPr>
            <a:lvl2pPr>
              <a:defRPr sz="1465">
                <a:solidFill>
                  <a:schemeClr val="bg2"/>
                </a:solidFill>
              </a:defRPr>
            </a:lvl2pPr>
            <a:lvl3pPr>
              <a:defRPr sz="1465">
                <a:solidFill>
                  <a:schemeClr val="bg2"/>
                </a:solidFill>
              </a:defRPr>
            </a:lvl3pPr>
            <a:lvl4pPr>
              <a:defRPr sz="1465">
                <a:solidFill>
                  <a:schemeClr val="bg2"/>
                </a:solidFill>
              </a:defRPr>
            </a:lvl4pPr>
            <a:lvl5pPr>
              <a:defRPr sz="1465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048000" y="0"/>
            <a:ext cx="3048000" cy="6858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5">
                <a:solidFill>
                  <a:schemeClr val="bg2"/>
                </a:solidFill>
              </a:defRPr>
            </a:lvl1pPr>
            <a:lvl2pPr>
              <a:defRPr sz="1465">
                <a:solidFill>
                  <a:schemeClr val="bg2"/>
                </a:solidFill>
              </a:defRPr>
            </a:lvl2pPr>
            <a:lvl3pPr>
              <a:defRPr sz="1465">
                <a:solidFill>
                  <a:schemeClr val="bg2"/>
                </a:solidFill>
              </a:defRPr>
            </a:lvl3pPr>
            <a:lvl4pPr>
              <a:defRPr sz="1465">
                <a:solidFill>
                  <a:schemeClr val="bg2"/>
                </a:solidFill>
              </a:defRPr>
            </a:lvl4pPr>
            <a:lvl5pPr>
              <a:defRPr sz="1465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1"/>
          </p:nvPr>
        </p:nvSpPr>
        <p:spPr>
          <a:xfrm>
            <a:off x="6096000" y="0"/>
            <a:ext cx="3048000" cy="6858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5">
                <a:solidFill>
                  <a:schemeClr val="bg2"/>
                </a:solidFill>
              </a:defRPr>
            </a:lvl1pPr>
            <a:lvl2pPr>
              <a:defRPr sz="1465">
                <a:solidFill>
                  <a:schemeClr val="bg2"/>
                </a:solidFill>
              </a:defRPr>
            </a:lvl2pPr>
            <a:lvl3pPr>
              <a:defRPr sz="1465">
                <a:solidFill>
                  <a:schemeClr val="bg2"/>
                </a:solidFill>
              </a:defRPr>
            </a:lvl3pPr>
            <a:lvl4pPr>
              <a:defRPr sz="1465">
                <a:solidFill>
                  <a:schemeClr val="bg2"/>
                </a:solidFill>
              </a:defRPr>
            </a:lvl4pPr>
            <a:lvl5pPr>
              <a:defRPr sz="1465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2"/>
          </p:nvPr>
        </p:nvSpPr>
        <p:spPr>
          <a:xfrm>
            <a:off x="9144000" y="0"/>
            <a:ext cx="3048000" cy="6858000"/>
          </a:xfrm>
          <a:solidFill>
            <a:schemeClr val="tx2">
              <a:lumMod val="75000"/>
            </a:schemeClr>
          </a:solidFill>
        </p:spPr>
        <p:txBody>
          <a:bodyPr lIns="228600" tIns="192024" rIns="228600" bIns="228600"/>
          <a:lstStyle>
            <a:lvl1pPr>
              <a:defRPr sz="1865">
                <a:solidFill>
                  <a:schemeClr val="bg2"/>
                </a:solidFill>
              </a:defRPr>
            </a:lvl1pPr>
            <a:lvl2pPr>
              <a:defRPr sz="1465">
                <a:solidFill>
                  <a:schemeClr val="bg2"/>
                </a:solidFill>
              </a:defRPr>
            </a:lvl2pPr>
            <a:lvl3pPr>
              <a:defRPr sz="1465">
                <a:solidFill>
                  <a:schemeClr val="bg2"/>
                </a:solidFill>
              </a:defRPr>
            </a:lvl3pPr>
            <a:lvl4pPr>
              <a:defRPr sz="1465">
                <a:solidFill>
                  <a:schemeClr val="bg2"/>
                </a:solidFill>
              </a:defRPr>
            </a:lvl4pPr>
            <a:lvl5pPr>
              <a:defRPr sz="1465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882140397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63041"/>
            <a:ext cx="2438400" cy="4668593"/>
          </a:xfrm>
        </p:spPr>
        <p:txBody>
          <a:bodyPr/>
          <a:lstStyle>
            <a:lvl1pPr>
              <a:defRPr sz="2131"/>
            </a:lvl1pPr>
            <a:lvl2pPr marL="0" indent="0">
              <a:spcBef>
                <a:spcPts val="1465"/>
              </a:spcBef>
              <a:buFontTx/>
              <a:buNone/>
              <a:defRPr sz="1465"/>
            </a:lvl2pPr>
            <a:lvl3pPr>
              <a:defRPr sz="1465"/>
            </a:lvl3pPr>
            <a:lvl4pPr>
              <a:defRPr sz="1465"/>
            </a:lvl4pPr>
            <a:lvl5pPr>
              <a:defRPr sz="1465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379541829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5"/>
            </a:lvl1pPr>
            <a:lvl2pPr>
              <a:defRPr sz="1465"/>
            </a:lvl2pPr>
            <a:lvl3pPr>
              <a:defRPr sz="1465"/>
            </a:lvl3pPr>
            <a:lvl4pPr>
              <a:defRPr sz="1465"/>
            </a:lvl4pPr>
            <a:lvl5pPr>
              <a:defRPr sz="146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52800" y="889000"/>
            <a:ext cx="8534400" cy="50990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179716733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5"/>
            </a:lvl1pPr>
            <a:lvl2pPr>
              <a:defRPr sz="1465"/>
            </a:lvl2pPr>
            <a:lvl3pPr>
              <a:defRPr sz="1465"/>
            </a:lvl3pPr>
            <a:lvl4pPr>
              <a:defRPr sz="1465"/>
            </a:lvl4pPr>
            <a:lvl5pPr>
              <a:defRPr sz="146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693228123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: title, text (2/4), content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1"/>
            </a:lvl1pPr>
            <a:lvl2pPr>
              <a:defRPr sz="1465"/>
            </a:lvl2pPr>
            <a:lvl3pPr>
              <a:defRPr sz="1465"/>
            </a:lvl3pPr>
            <a:lvl4pPr>
              <a:defRPr sz="1465"/>
            </a:lvl4pPr>
            <a:lvl5pPr>
              <a:defRPr sz="1465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7"/>
            <a:ext cx="2438400" cy="4608576"/>
          </a:xfrm>
        </p:spPr>
        <p:txBody>
          <a:bodyPr/>
          <a:lstStyle>
            <a:lvl1pPr>
              <a:defRPr sz="1865"/>
            </a:lvl1pPr>
            <a:lvl2pPr marL="0" indent="0">
              <a:buNone/>
              <a:defRPr sz="1332"/>
            </a:lvl2pPr>
            <a:lvl3pPr>
              <a:defRPr sz="1332"/>
            </a:lvl3pPr>
            <a:lvl4pPr>
              <a:defRPr sz="1332"/>
            </a:lvl4pPr>
            <a:lvl5pPr>
              <a:defRPr sz="1332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</a:p>
        </p:txBody>
      </p:sp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801446375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1"/>
            </a:lvl1pPr>
            <a:lvl2pPr>
              <a:defRPr sz="1465"/>
            </a:lvl2pPr>
            <a:lvl3pPr>
              <a:defRPr sz="1465"/>
            </a:lvl3pPr>
            <a:lvl4pPr>
              <a:defRPr sz="1465"/>
            </a:lvl4pPr>
            <a:lvl5pPr>
              <a:defRPr sz="1465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7"/>
            <a:ext cx="2438400" cy="4608576"/>
          </a:xfrm>
        </p:spPr>
        <p:txBody>
          <a:bodyPr/>
          <a:lstStyle>
            <a:lvl1pPr>
              <a:defRPr sz="1865"/>
            </a:lvl1pPr>
            <a:lvl2pPr marL="0" indent="0">
              <a:buNone/>
              <a:defRPr sz="1332"/>
            </a:lvl2pPr>
            <a:lvl3pPr>
              <a:defRPr sz="1332"/>
            </a:lvl3pPr>
            <a:lvl4pPr>
              <a:defRPr sz="1332"/>
            </a:lvl4pPr>
            <a:lvl5pPr>
              <a:defRPr sz="1332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67189" y="1454615"/>
            <a:ext cx="5620011" cy="4608576"/>
          </a:xfrm>
        </p:spPr>
        <p:txBody>
          <a:bodyPr/>
          <a:lstStyle>
            <a:lvl1pPr marL="156477" indent="-156477">
              <a:tabLst/>
              <a:defRPr sz="3197"/>
            </a:lvl1pPr>
            <a:lvl2pPr marL="0" indent="0">
              <a:buNone/>
              <a:defRPr sz="1465"/>
            </a:lvl2pPr>
            <a:lvl3pPr>
              <a:defRPr sz="1465"/>
            </a:lvl3pPr>
            <a:lvl4pPr>
              <a:defRPr sz="1465"/>
            </a:lvl4pPr>
            <a:lvl5pPr>
              <a:defRPr sz="146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172995129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256033"/>
            <a:ext cx="2438400" cy="5878660"/>
          </a:xfrm>
        </p:spPr>
        <p:txBody>
          <a:bodyPr/>
          <a:lstStyle>
            <a:lvl1pPr>
              <a:defRPr sz="2131"/>
            </a:lvl1pPr>
            <a:lvl2pPr marL="0" indent="0">
              <a:spcBef>
                <a:spcPts val="1465"/>
              </a:spcBef>
              <a:buFontTx/>
              <a:buNone/>
              <a:defRPr sz="1465"/>
            </a:lvl2pPr>
            <a:lvl3pPr>
              <a:defRPr sz="1465"/>
            </a:lvl3pPr>
            <a:lvl4pPr>
              <a:defRPr sz="1465"/>
            </a:lvl4pPr>
            <a:lvl5pPr>
              <a:defRPr sz="146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52800" y="300566"/>
            <a:ext cx="8534400" cy="6129867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6487467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556848779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923476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5240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48313" algn="dec"/>
              </a:tabLst>
              <a:defRPr sz="1465"/>
            </a:lvl1pPr>
            <a:lvl2pPr marL="230487" indent="-230487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89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59116" algn="r"/>
              </a:tabLst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67271048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B31A85-1563-4CE6-A4BA-123463404A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00" y="2176395"/>
            <a:ext cx="6096000" cy="250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930690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826F9A1-9B46-4608-B497-7E101192DDC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16595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31255"/>
      </p:ext>
    </p:extLst>
  </p:cSld>
  <p:clrMapOvr>
    <a:masterClrMapping/>
  </p:clrMapOvr>
  <p:transition spd="med"/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67162"/>
      </p:ext>
    </p:extLst>
  </p:cSld>
  <p:clrMapOvr>
    <a:masterClrMapping/>
  </p:clrMapOvr>
  <p:transition spd="med"/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/>
        </p:nvSpPr>
        <p:spPr bwMode="auto">
          <a:xfrm>
            <a:off x="0" y="0"/>
            <a:ext cx="12192000" cy="600075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12723-D775-EE21-95A9-8E6D8BA4D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75236"/>
      </p:ext>
    </p:extLst>
  </p:cSld>
  <p:clrMapOvr>
    <a:masterClrMapping/>
  </p:clrMapOvr>
  <p:transition spd="med"/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426117"/>
      </p:ext>
    </p:extLst>
  </p:cSld>
  <p:clrMapOvr>
    <a:masterClrMapping/>
  </p:clrMapOvr>
  <p:transition spd="med"/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98" y="6231636"/>
            <a:ext cx="5524575" cy="381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68315"/>
      </p:ext>
    </p:extLst>
  </p:cSld>
  <p:clrMapOvr>
    <a:masterClrMapping/>
  </p:clrMapOvr>
  <p:transition spd="med"/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03923"/>
      </p:ext>
    </p:extLst>
  </p:cSld>
  <p:clrMapOvr>
    <a:masterClrMapping/>
  </p:clrMapOvr>
  <p:transition spd="med"/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41248"/>
            <a:ext cx="5049180" cy="4668838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66805"/>
      </p:ext>
    </p:extLst>
  </p:cSld>
  <p:clrMapOvr>
    <a:masterClrMapping/>
  </p:clrMapOvr>
  <p:transition spd="med"/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42464"/>
      </p:ext>
    </p:extLst>
  </p:cSld>
  <p:clrMapOvr>
    <a:masterClrMapping/>
  </p:clrMapOvr>
  <p:transition spd="med"/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837346"/>
      </p:ext>
    </p:extLst>
  </p:cSld>
  <p:clrMapOvr>
    <a:masterClrMapping/>
  </p:clrMapOvr>
  <p:transition spd="med"/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4095750"/>
          </a:xfrm>
        </p:spPr>
        <p:txBody>
          <a:bodyPr/>
          <a:lstStyle>
            <a:lvl1pPr>
              <a:defRPr sz="8598" b="0" i="0">
                <a:solidFill>
                  <a:schemeClr val="tx2"/>
                </a:solidFill>
                <a:latin typeface="IBM Plex Sans ExtraLigh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32176"/>
      </p:ext>
    </p:extLst>
  </p:cSld>
  <p:clrMapOvr>
    <a:masterClrMapping/>
  </p:clrMapOvr>
  <p:transition spd="med"/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07288"/>
      </p:ext>
    </p:extLst>
  </p:cSld>
  <p:clrMapOvr>
    <a:masterClrMapping/>
  </p:clrMapOvr>
  <p:transition spd="med"/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10312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28840"/>
      </p:ext>
    </p:extLst>
  </p:cSld>
  <p:clrMapOvr>
    <a:masterClrMapping/>
  </p:clrMapOvr>
  <p:transition spd="med"/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98" y="4649724"/>
            <a:ext cx="5524575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raLigh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0919" y="4648200"/>
            <a:ext cx="5523781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raLigh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3809504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288036"/>
            <a:ext cx="3811091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/>
        </p:nvCxnSpPr>
        <p:spPr bwMode="auto">
          <a:xfrm>
            <a:off x="609600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03104"/>
      </p:ext>
    </p:extLst>
  </p:cSld>
  <p:clrMapOvr>
    <a:masterClrMapping/>
  </p:clrMapOvr>
  <p:transition spd="med"/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213241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214827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14884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7327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4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69155"/>
      </p:ext>
    </p:extLst>
  </p:cSld>
  <p:clrMapOvr>
    <a:masterClrMapping/>
  </p:clrMapOvr>
  <p:transition spd="med"/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00" y="201168"/>
            <a:ext cx="2474590" cy="2667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201168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00" y="3238500"/>
            <a:ext cx="2474590" cy="2667000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85614"/>
      </p:ext>
    </p:extLst>
  </p:cSld>
  <p:clrMapOvr>
    <a:masterClrMapping/>
  </p:clrMapOvr>
  <p:transition spd="med"/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05740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1907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862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6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201668"/>
            <a:ext cx="2475383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48673"/>
      </p:ext>
    </p:extLst>
  </p:cSld>
  <p:clrMapOvr>
    <a:masterClrMapping/>
  </p:clrMapOvr>
  <p:transition spd="med"/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95202"/>
      </p:ext>
    </p:extLst>
  </p:cSld>
  <p:clrMapOvr>
    <a:masterClrMapping/>
  </p:clrMapOvr>
  <p:transition spd="med"/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05434"/>
      </p:ext>
    </p:extLst>
  </p:cSld>
  <p:clrMapOvr>
    <a:masterClrMapping/>
  </p:clrMapOvr>
  <p:transition spd="med"/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70102"/>
      </p:ext>
    </p:extLst>
  </p:cSld>
  <p:clrMapOvr>
    <a:masterClrMapping/>
  </p:clrMapOvr>
  <p:transition spd="med"/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185" y="1714500"/>
            <a:ext cx="247073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1714500"/>
            <a:ext cx="2476177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5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70009"/>
      </p:ext>
    </p:extLst>
  </p:cSld>
  <p:clrMapOvr>
    <a:masterClrMapping/>
  </p:clrMapOvr>
  <p:transition spd="med"/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4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97000"/>
      </p:ext>
    </p:extLst>
  </p:cSld>
  <p:clrMapOvr>
    <a:masterClrMapping/>
  </p:clrMapOvr>
  <p:transition spd="med"/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5049180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12752"/>
      </p:ext>
    </p:extLst>
  </p:cSld>
  <p:clrMapOvr>
    <a:masterClrMapping/>
  </p:clrMapOvr>
  <p:transition spd="med"/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2193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66604"/>
      </p:ext>
    </p:extLst>
  </p:cSld>
  <p:clrMapOvr>
    <a:masterClrMapping/>
  </p:clrMapOvr>
  <p:transition spd="med"/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6178" cy="2286794"/>
          </a:xfr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14238"/>
      </p:ext>
    </p:extLst>
  </p:cSld>
  <p:clrMapOvr>
    <a:masterClrMapping/>
  </p:clrMapOvr>
  <p:transition spd="med"/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76412"/>
      </p:ext>
    </p:extLst>
  </p:cSld>
  <p:clrMapOvr>
    <a:masterClrMapping/>
  </p:clrMapOvr>
  <p:transition spd="med"/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4591" cy="2286794"/>
          </a:xfrm>
        </p:spPr>
        <p:txBody>
          <a:bodyPr rIns="0"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1697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59382"/>
      </p:ext>
    </p:extLst>
  </p:cSld>
  <p:clrMapOvr>
    <a:masterClrMapping/>
  </p:clrMapOvr>
  <p:transition spd="med"/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7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2988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591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0919" y="288036"/>
            <a:ext cx="607997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2" y="288036"/>
            <a:ext cx="608843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/>
        </p:nvCxnSpPr>
        <p:spPr bwMode="auto">
          <a:xfrm>
            <a:off x="609368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24672"/>
      </p:ext>
    </p:extLst>
  </p:cSld>
  <p:clrMapOvr>
    <a:masterClrMapping/>
  </p:clrMapOvr>
  <p:transition spd="med"/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23825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20" y="419100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0919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19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/>
        </p:nvCxnSpPr>
        <p:spPr bwMode="auto">
          <a:xfrm>
            <a:off x="6095206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04762"/>
      </p:ext>
    </p:extLst>
  </p:cSld>
  <p:clrMapOvr>
    <a:masterClrMapping/>
  </p:clrMapOvr>
  <p:transition spd="med"/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841248"/>
            <a:ext cx="2857128" cy="1138428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1681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570706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76380"/>
      </p:ext>
    </p:extLst>
  </p:cSld>
  <p:clrMapOvr>
    <a:masterClrMapping/>
  </p:clrMapOvr>
  <p:transition spd="med"/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521401" cy="1138428"/>
          </a:xfrm>
        </p:spPr>
        <p:txBody>
          <a:bodyPr rIns="457200"/>
          <a:lstStyle>
            <a:lvl1pPr>
              <a:lnSpc>
                <a:spcPct val="11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4957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4957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224028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74360"/>
      </p:ext>
    </p:extLst>
  </p:cSld>
  <p:clrMapOvr>
    <a:masterClrMapping/>
  </p:clrMapOvr>
  <p:transition spd="med"/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87123"/>
      </p:ext>
    </p:extLst>
  </p:cSld>
  <p:clrMapOvr>
    <a:masterClrMapping/>
  </p:clrMapOvr>
  <p:transition spd="med"/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362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45190"/>
      </p:ext>
    </p:extLst>
  </p:cSld>
  <p:clrMapOvr>
    <a:masterClrMapping/>
  </p:clrMapOvr>
  <p:transition spd="med"/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554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34141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46038"/>
      </p:ext>
    </p:extLst>
  </p:cSld>
  <p:clrMapOvr>
    <a:masterClrMapping/>
  </p:clrMapOvr>
  <p:transition spd="med"/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66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8523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316" y="3714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0920" y="3714750"/>
            <a:ext cx="2475384" cy="189634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8523" y="3714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0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0920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22920"/>
      </p:ext>
    </p:extLst>
  </p:cSld>
  <p:clrMapOvr>
    <a:masterClrMapping/>
  </p:clrMapOvr>
  <p:transition spd="med"/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8" y="3332988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31261"/>
      </p:ext>
    </p:extLst>
  </p:cSld>
  <p:clrMapOvr>
    <a:masterClrMapping/>
  </p:clrMapOvr>
  <p:transition spd="med"/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0042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95739"/>
      </p:ext>
    </p:extLst>
  </p:cSld>
  <p:clrMapOvr>
    <a:masterClrMapping/>
  </p:clrMapOvr>
  <p:transition spd="med"/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599943646"/>
      </p:ext>
    </p:extLst>
  </p:cSld>
  <p:clrMapOvr>
    <a:masterClrMapping/>
  </p:clrMapOvr>
  <p:transition spd="med"/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286195678"/>
      </p:ext>
    </p:extLst>
  </p:cSld>
  <p:clrMapOvr>
    <a:masterClrMapping/>
  </p:clrMapOvr>
  <p:transition spd="med"/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902791232"/>
      </p:ext>
    </p:extLst>
  </p:cSld>
  <p:clrMapOvr>
    <a:masterClrMapping/>
  </p:clrMapOvr>
  <p:transition spd="med"/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74228463"/>
      </p:ext>
    </p:extLst>
  </p:cSld>
  <p:clrMapOvr>
    <a:masterClrMapping/>
  </p:clrMapOvr>
  <p:transition spd="med"/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126" y="284957"/>
            <a:ext cx="11620574" cy="629046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205167240"/>
      </p:ext>
    </p:extLst>
  </p:cSld>
  <p:clrMapOvr>
    <a:masterClrMapping/>
  </p:clrMapOvr>
  <p:transition spd="med"/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7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999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7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7999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7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77745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6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77745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6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77745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6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17000"/>
      </p:ext>
    </p:extLst>
  </p:cSld>
  <p:clrMapOvr>
    <a:masterClrMapping/>
  </p:clrMapOvr>
  <p:transition spd="med"/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4957"/>
            <a:ext cx="8571384" cy="571579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64841"/>
      </p:ext>
    </p:extLst>
  </p:cSld>
  <p:clrMapOvr>
    <a:masterClrMapping/>
  </p:clrMapOvr>
  <p:transition spd="med"/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1005"/>
      </p:ext>
    </p:extLst>
  </p:cSld>
  <p:clrMapOvr>
    <a:masterClrMapping/>
  </p:clrMapOvr>
  <p:transition spd="med"/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352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2290"/>
      </p:ext>
    </p:extLst>
  </p:cSld>
  <p:clrMapOvr>
    <a:masterClrMapping/>
  </p:clrMapOvr>
  <p:transition spd="med"/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0474" y="640238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59942"/>
      </p:ext>
    </p:extLst>
  </p:cSld>
  <p:clrMapOvr>
    <a:masterClrMapping/>
  </p:clrMapOvr>
  <p:transition spd="med"/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638909"/>
      </p:ext>
    </p:extLst>
  </p:cSld>
  <p:clrMapOvr>
    <a:masterClrMapping/>
  </p:clrMapOvr>
  <p:transition spd="med"/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502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77.xml"/><Relationship Id="rId39" Type="http://schemas.openxmlformats.org/officeDocument/2006/relationships/slideLayout" Target="../slideLayouts/slideLayout90.xml"/><Relationship Id="rId21" Type="http://schemas.openxmlformats.org/officeDocument/2006/relationships/slideLayout" Target="../slideLayouts/slideLayout72.xml"/><Relationship Id="rId34" Type="http://schemas.openxmlformats.org/officeDocument/2006/relationships/slideLayout" Target="../slideLayouts/slideLayout85.xml"/><Relationship Id="rId42" Type="http://schemas.openxmlformats.org/officeDocument/2006/relationships/slideLayout" Target="../slideLayouts/slideLayout93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71.xml"/><Relationship Id="rId29" Type="http://schemas.openxmlformats.org/officeDocument/2006/relationships/slideLayout" Target="../slideLayouts/slideLayout80.xml"/><Relationship Id="rId41" Type="http://schemas.openxmlformats.org/officeDocument/2006/relationships/slideLayout" Target="../slideLayouts/slideLayout92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24" Type="http://schemas.openxmlformats.org/officeDocument/2006/relationships/slideLayout" Target="../slideLayouts/slideLayout75.xml"/><Relationship Id="rId32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8.xml"/><Relationship Id="rId40" Type="http://schemas.openxmlformats.org/officeDocument/2006/relationships/slideLayout" Target="../slideLayouts/slideLayout91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9.xml"/><Relationship Id="rId36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31" Type="http://schemas.openxmlformats.org/officeDocument/2006/relationships/slideLayout" Target="../slideLayouts/slideLayout82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8.xml"/><Relationship Id="rId30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6.xml"/><Relationship Id="rId43" Type="http://schemas.openxmlformats.org/officeDocument/2006/relationships/slideLayout" Target="../slideLayouts/slideLayout94.xml"/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76.xml"/><Relationship Id="rId33" Type="http://schemas.openxmlformats.org/officeDocument/2006/relationships/slideLayout" Target="../slideLayouts/slideLayout84.xml"/><Relationship Id="rId38" Type="http://schemas.openxmlformats.org/officeDocument/2006/relationships/slideLayout" Target="../slideLayouts/slideLayout8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7.xml"/><Relationship Id="rId18" Type="http://schemas.openxmlformats.org/officeDocument/2006/relationships/slideLayout" Target="../slideLayouts/slideLayout112.xml"/><Relationship Id="rId26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115.xml"/><Relationship Id="rId34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11.xml"/><Relationship Id="rId25" Type="http://schemas.openxmlformats.org/officeDocument/2006/relationships/slideLayout" Target="../slideLayouts/slideLayout119.xml"/><Relationship Id="rId33" Type="http://schemas.openxmlformats.org/officeDocument/2006/relationships/slideLayout" Target="../slideLayouts/slideLayout127.xml"/><Relationship Id="rId2" Type="http://schemas.openxmlformats.org/officeDocument/2006/relationships/slideLayout" Target="../slideLayouts/slideLayout96.xml"/><Relationship Id="rId16" Type="http://schemas.openxmlformats.org/officeDocument/2006/relationships/slideLayout" Target="../slideLayouts/slideLayout110.xml"/><Relationship Id="rId20" Type="http://schemas.openxmlformats.org/officeDocument/2006/relationships/slideLayout" Target="../slideLayouts/slideLayout114.xml"/><Relationship Id="rId29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24" Type="http://schemas.openxmlformats.org/officeDocument/2006/relationships/slideLayout" Target="../slideLayouts/slideLayout118.xml"/><Relationship Id="rId32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9.xml"/><Relationship Id="rId23" Type="http://schemas.openxmlformats.org/officeDocument/2006/relationships/slideLayout" Target="../slideLayouts/slideLayout117.xml"/><Relationship Id="rId28" Type="http://schemas.openxmlformats.org/officeDocument/2006/relationships/slideLayout" Target="../slideLayouts/slideLayout122.xml"/><Relationship Id="rId36" Type="http://schemas.openxmlformats.org/officeDocument/2006/relationships/theme" Target="../theme/theme3.xml"/><Relationship Id="rId10" Type="http://schemas.openxmlformats.org/officeDocument/2006/relationships/slideLayout" Target="../slideLayouts/slideLayout104.xml"/><Relationship Id="rId19" Type="http://schemas.openxmlformats.org/officeDocument/2006/relationships/slideLayout" Target="../slideLayouts/slideLayout113.xml"/><Relationship Id="rId31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8.xml"/><Relationship Id="rId22" Type="http://schemas.openxmlformats.org/officeDocument/2006/relationships/slideLayout" Target="../slideLayouts/slideLayout116.xml"/><Relationship Id="rId27" Type="http://schemas.openxmlformats.org/officeDocument/2006/relationships/slideLayout" Target="../slideLayouts/slideLayout121.xml"/><Relationship Id="rId30" Type="http://schemas.openxmlformats.org/officeDocument/2006/relationships/slideLayout" Target="../slideLayouts/slideLayout124.xml"/><Relationship Id="rId35" Type="http://schemas.openxmlformats.org/officeDocument/2006/relationships/slideLayout" Target="../slideLayouts/slideLayout129.xml"/><Relationship Id="rId8" Type="http://schemas.openxmlformats.org/officeDocument/2006/relationships/slideLayout" Target="../slideLayouts/slideLayout102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42.xml"/><Relationship Id="rId18" Type="http://schemas.openxmlformats.org/officeDocument/2006/relationships/slideLayout" Target="../slideLayouts/slideLayout147.xml"/><Relationship Id="rId26" Type="http://schemas.openxmlformats.org/officeDocument/2006/relationships/slideLayout" Target="../slideLayouts/slideLayout155.xml"/><Relationship Id="rId39" Type="http://schemas.openxmlformats.org/officeDocument/2006/relationships/slideLayout" Target="../slideLayouts/slideLayout168.xml"/><Relationship Id="rId21" Type="http://schemas.openxmlformats.org/officeDocument/2006/relationships/slideLayout" Target="../slideLayouts/slideLayout150.xml"/><Relationship Id="rId34" Type="http://schemas.openxmlformats.org/officeDocument/2006/relationships/slideLayout" Target="../slideLayouts/slideLayout163.xml"/><Relationship Id="rId42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31.xml"/><Relationship Id="rId16" Type="http://schemas.openxmlformats.org/officeDocument/2006/relationships/slideLayout" Target="../slideLayouts/slideLayout145.xml"/><Relationship Id="rId20" Type="http://schemas.openxmlformats.org/officeDocument/2006/relationships/slideLayout" Target="../slideLayouts/slideLayout149.xml"/><Relationship Id="rId29" Type="http://schemas.openxmlformats.org/officeDocument/2006/relationships/slideLayout" Target="../slideLayouts/slideLayout158.xml"/><Relationship Id="rId41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140.xml"/><Relationship Id="rId24" Type="http://schemas.openxmlformats.org/officeDocument/2006/relationships/slideLayout" Target="../slideLayouts/slideLayout153.xml"/><Relationship Id="rId32" Type="http://schemas.openxmlformats.org/officeDocument/2006/relationships/slideLayout" Target="../slideLayouts/slideLayout161.xml"/><Relationship Id="rId37" Type="http://schemas.openxmlformats.org/officeDocument/2006/relationships/slideLayout" Target="../slideLayouts/slideLayout166.xml"/><Relationship Id="rId40" Type="http://schemas.openxmlformats.org/officeDocument/2006/relationships/slideLayout" Target="../slideLayouts/slideLayout169.xml"/><Relationship Id="rId5" Type="http://schemas.openxmlformats.org/officeDocument/2006/relationships/slideLayout" Target="../slideLayouts/slideLayout134.xml"/><Relationship Id="rId15" Type="http://schemas.openxmlformats.org/officeDocument/2006/relationships/slideLayout" Target="../slideLayouts/slideLayout144.xml"/><Relationship Id="rId23" Type="http://schemas.openxmlformats.org/officeDocument/2006/relationships/slideLayout" Target="../slideLayouts/slideLayout152.xml"/><Relationship Id="rId28" Type="http://schemas.openxmlformats.org/officeDocument/2006/relationships/slideLayout" Target="../slideLayouts/slideLayout157.xml"/><Relationship Id="rId36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39.xml"/><Relationship Id="rId19" Type="http://schemas.openxmlformats.org/officeDocument/2006/relationships/slideLayout" Target="../slideLayouts/slideLayout148.xml"/><Relationship Id="rId31" Type="http://schemas.openxmlformats.org/officeDocument/2006/relationships/slideLayout" Target="../slideLayouts/slideLayout160.xml"/><Relationship Id="rId4" Type="http://schemas.openxmlformats.org/officeDocument/2006/relationships/slideLayout" Target="../slideLayouts/slideLayout133.xml"/><Relationship Id="rId9" Type="http://schemas.openxmlformats.org/officeDocument/2006/relationships/slideLayout" Target="../slideLayouts/slideLayout138.xml"/><Relationship Id="rId14" Type="http://schemas.openxmlformats.org/officeDocument/2006/relationships/slideLayout" Target="../slideLayouts/slideLayout143.xml"/><Relationship Id="rId22" Type="http://schemas.openxmlformats.org/officeDocument/2006/relationships/slideLayout" Target="../slideLayouts/slideLayout151.xml"/><Relationship Id="rId27" Type="http://schemas.openxmlformats.org/officeDocument/2006/relationships/slideLayout" Target="../slideLayouts/slideLayout156.xml"/><Relationship Id="rId30" Type="http://schemas.openxmlformats.org/officeDocument/2006/relationships/slideLayout" Target="../slideLayouts/slideLayout159.xml"/><Relationship Id="rId35" Type="http://schemas.openxmlformats.org/officeDocument/2006/relationships/slideLayout" Target="../slideLayouts/slideLayout164.xml"/><Relationship Id="rId43" Type="http://schemas.openxmlformats.org/officeDocument/2006/relationships/theme" Target="../theme/theme4.xml"/><Relationship Id="rId8" Type="http://schemas.openxmlformats.org/officeDocument/2006/relationships/slideLayout" Target="../slideLayouts/slideLayout137.xml"/><Relationship Id="rId3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41.xml"/><Relationship Id="rId17" Type="http://schemas.openxmlformats.org/officeDocument/2006/relationships/slideLayout" Target="../slideLayouts/slideLayout146.xml"/><Relationship Id="rId25" Type="http://schemas.openxmlformats.org/officeDocument/2006/relationships/slideLayout" Target="../slideLayouts/slideLayout154.xml"/><Relationship Id="rId33" Type="http://schemas.openxmlformats.org/officeDocument/2006/relationships/slideLayout" Target="../slideLayouts/slideLayout162.xml"/><Relationship Id="rId38" Type="http://schemas.openxmlformats.org/officeDocument/2006/relationships/slideLayout" Target="../slideLayouts/slideLayout167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84.xml"/><Relationship Id="rId18" Type="http://schemas.openxmlformats.org/officeDocument/2006/relationships/slideLayout" Target="../slideLayouts/slideLayout189.xml"/><Relationship Id="rId26" Type="http://schemas.openxmlformats.org/officeDocument/2006/relationships/slideLayout" Target="../slideLayouts/slideLayout197.xml"/><Relationship Id="rId39" Type="http://schemas.openxmlformats.org/officeDocument/2006/relationships/slideLayout" Target="../slideLayouts/slideLayout210.xml"/><Relationship Id="rId21" Type="http://schemas.openxmlformats.org/officeDocument/2006/relationships/slideLayout" Target="../slideLayouts/slideLayout192.xml"/><Relationship Id="rId34" Type="http://schemas.openxmlformats.org/officeDocument/2006/relationships/slideLayout" Target="../slideLayouts/slideLayout205.xml"/><Relationship Id="rId42" Type="http://schemas.openxmlformats.org/officeDocument/2006/relationships/slideLayout" Target="../slideLayouts/slideLayout213.xml"/><Relationship Id="rId7" Type="http://schemas.openxmlformats.org/officeDocument/2006/relationships/slideLayout" Target="../slideLayouts/slideLayout178.xml"/><Relationship Id="rId2" Type="http://schemas.openxmlformats.org/officeDocument/2006/relationships/slideLayout" Target="../slideLayouts/slideLayout173.xml"/><Relationship Id="rId16" Type="http://schemas.openxmlformats.org/officeDocument/2006/relationships/slideLayout" Target="../slideLayouts/slideLayout187.xml"/><Relationship Id="rId20" Type="http://schemas.openxmlformats.org/officeDocument/2006/relationships/slideLayout" Target="../slideLayouts/slideLayout191.xml"/><Relationship Id="rId29" Type="http://schemas.openxmlformats.org/officeDocument/2006/relationships/slideLayout" Target="../slideLayouts/slideLayout200.xml"/><Relationship Id="rId41" Type="http://schemas.openxmlformats.org/officeDocument/2006/relationships/slideLayout" Target="../slideLayouts/slideLayout212.xml"/><Relationship Id="rId1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82.xml"/><Relationship Id="rId24" Type="http://schemas.openxmlformats.org/officeDocument/2006/relationships/slideLayout" Target="../slideLayouts/slideLayout195.xml"/><Relationship Id="rId32" Type="http://schemas.openxmlformats.org/officeDocument/2006/relationships/slideLayout" Target="../slideLayouts/slideLayout203.xml"/><Relationship Id="rId37" Type="http://schemas.openxmlformats.org/officeDocument/2006/relationships/slideLayout" Target="../slideLayouts/slideLayout208.xml"/><Relationship Id="rId40" Type="http://schemas.openxmlformats.org/officeDocument/2006/relationships/slideLayout" Target="../slideLayouts/slideLayout211.xml"/><Relationship Id="rId5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86.xml"/><Relationship Id="rId23" Type="http://schemas.openxmlformats.org/officeDocument/2006/relationships/slideLayout" Target="../slideLayouts/slideLayout194.xml"/><Relationship Id="rId28" Type="http://schemas.openxmlformats.org/officeDocument/2006/relationships/slideLayout" Target="../slideLayouts/slideLayout199.xml"/><Relationship Id="rId36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181.xml"/><Relationship Id="rId19" Type="http://schemas.openxmlformats.org/officeDocument/2006/relationships/slideLayout" Target="../slideLayouts/slideLayout190.xml"/><Relationship Id="rId31" Type="http://schemas.openxmlformats.org/officeDocument/2006/relationships/slideLayout" Target="../slideLayouts/slideLayout202.xml"/><Relationship Id="rId4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80.xml"/><Relationship Id="rId14" Type="http://schemas.openxmlformats.org/officeDocument/2006/relationships/slideLayout" Target="../slideLayouts/slideLayout185.xml"/><Relationship Id="rId22" Type="http://schemas.openxmlformats.org/officeDocument/2006/relationships/slideLayout" Target="../slideLayouts/slideLayout193.xml"/><Relationship Id="rId27" Type="http://schemas.openxmlformats.org/officeDocument/2006/relationships/slideLayout" Target="../slideLayouts/slideLayout198.xml"/><Relationship Id="rId30" Type="http://schemas.openxmlformats.org/officeDocument/2006/relationships/slideLayout" Target="../slideLayouts/slideLayout201.xml"/><Relationship Id="rId35" Type="http://schemas.openxmlformats.org/officeDocument/2006/relationships/slideLayout" Target="../slideLayouts/slideLayout206.xml"/><Relationship Id="rId43" Type="http://schemas.openxmlformats.org/officeDocument/2006/relationships/theme" Target="../theme/theme5.xml"/><Relationship Id="rId8" Type="http://schemas.openxmlformats.org/officeDocument/2006/relationships/slideLayout" Target="../slideLayouts/slideLayout179.xml"/><Relationship Id="rId3" Type="http://schemas.openxmlformats.org/officeDocument/2006/relationships/slideLayout" Target="../slideLayouts/slideLayout174.xml"/><Relationship Id="rId12" Type="http://schemas.openxmlformats.org/officeDocument/2006/relationships/slideLayout" Target="../slideLayouts/slideLayout183.xml"/><Relationship Id="rId17" Type="http://schemas.openxmlformats.org/officeDocument/2006/relationships/slideLayout" Target="../slideLayouts/slideLayout188.xml"/><Relationship Id="rId25" Type="http://schemas.openxmlformats.org/officeDocument/2006/relationships/slideLayout" Target="../slideLayouts/slideLayout196.xml"/><Relationship Id="rId33" Type="http://schemas.openxmlformats.org/officeDocument/2006/relationships/slideLayout" Target="../slideLayouts/slideLayout204.xml"/><Relationship Id="rId38" Type="http://schemas.openxmlformats.org/officeDocument/2006/relationships/slideLayout" Target="../slideLayouts/slideLayout209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26.xml"/><Relationship Id="rId18" Type="http://schemas.openxmlformats.org/officeDocument/2006/relationships/slideLayout" Target="../slideLayouts/slideLayout231.xml"/><Relationship Id="rId26" Type="http://schemas.openxmlformats.org/officeDocument/2006/relationships/slideLayout" Target="../slideLayouts/slideLayout239.xml"/><Relationship Id="rId39" Type="http://schemas.openxmlformats.org/officeDocument/2006/relationships/slideLayout" Target="../slideLayouts/slideLayout252.xml"/><Relationship Id="rId21" Type="http://schemas.openxmlformats.org/officeDocument/2006/relationships/slideLayout" Target="../slideLayouts/slideLayout234.xml"/><Relationship Id="rId34" Type="http://schemas.openxmlformats.org/officeDocument/2006/relationships/slideLayout" Target="../slideLayouts/slideLayout247.xml"/><Relationship Id="rId42" Type="http://schemas.openxmlformats.org/officeDocument/2006/relationships/slideLayout" Target="../slideLayouts/slideLayout255.xml"/><Relationship Id="rId7" Type="http://schemas.openxmlformats.org/officeDocument/2006/relationships/slideLayout" Target="../slideLayouts/slideLayout220.xml"/><Relationship Id="rId2" Type="http://schemas.openxmlformats.org/officeDocument/2006/relationships/slideLayout" Target="../slideLayouts/slideLayout215.xml"/><Relationship Id="rId16" Type="http://schemas.openxmlformats.org/officeDocument/2006/relationships/slideLayout" Target="../slideLayouts/slideLayout229.xml"/><Relationship Id="rId29" Type="http://schemas.openxmlformats.org/officeDocument/2006/relationships/slideLayout" Target="../slideLayouts/slideLayout242.xml"/><Relationship Id="rId1" Type="http://schemas.openxmlformats.org/officeDocument/2006/relationships/slideLayout" Target="../slideLayouts/slideLayout214.xml"/><Relationship Id="rId6" Type="http://schemas.openxmlformats.org/officeDocument/2006/relationships/slideLayout" Target="../slideLayouts/slideLayout219.xml"/><Relationship Id="rId11" Type="http://schemas.openxmlformats.org/officeDocument/2006/relationships/slideLayout" Target="../slideLayouts/slideLayout224.xml"/><Relationship Id="rId24" Type="http://schemas.openxmlformats.org/officeDocument/2006/relationships/slideLayout" Target="../slideLayouts/slideLayout237.xml"/><Relationship Id="rId32" Type="http://schemas.openxmlformats.org/officeDocument/2006/relationships/slideLayout" Target="../slideLayouts/slideLayout245.xml"/><Relationship Id="rId37" Type="http://schemas.openxmlformats.org/officeDocument/2006/relationships/slideLayout" Target="../slideLayouts/slideLayout250.xml"/><Relationship Id="rId40" Type="http://schemas.openxmlformats.org/officeDocument/2006/relationships/slideLayout" Target="../slideLayouts/slideLayout253.xml"/><Relationship Id="rId45" Type="http://schemas.openxmlformats.org/officeDocument/2006/relationships/theme" Target="../theme/theme6.xml"/><Relationship Id="rId5" Type="http://schemas.openxmlformats.org/officeDocument/2006/relationships/slideLayout" Target="../slideLayouts/slideLayout218.xml"/><Relationship Id="rId15" Type="http://schemas.openxmlformats.org/officeDocument/2006/relationships/slideLayout" Target="../slideLayouts/slideLayout228.xml"/><Relationship Id="rId23" Type="http://schemas.openxmlformats.org/officeDocument/2006/relationships/slideLayout" Target="../slideLayouts/slideLayout236.xml"/><Relationship Id="rId28" Type="http://schemas.openxmlformats.org/officeDocument/2006/relationships/slideLayout" Target="../slideLayouts/slideLayout241.xml"/><Relationship Id="rId36" Type="http://schemas.openxmlformats.org/officeDocument/2006/relationships/slideLayout" Target="../slideLayouts/slideLayout249.xml"/><Relationship Id="rId10" Type="http://schemas.openxmlformats.org/officeDocument/2006/relationships/slideLayout" Target="../slideLayouts/slideLayout223.xml"/><Relationship Id="rId19" Type="http://schemas.openxmlformats.org/officeDocument/2006/relationships/slideLayout" Target="../slideLayouts/slideLayout232.xml"/><Relationship Id="rId31" Type="http://schemas.openxmlformats.org/officeDocument/2006/relationships/slideLayout" Target="../slideLayouts/slideLayout244.xml"/><Relationship Id="rId44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17.xml"/><Relationship Id="rId9" Type="http://schemas.openxmlformats.org/officeDocument/2006/relationships/slideLayout" Target="../slideLayouts/slideLayout222.xml"/><Relationship Id="rId14" Type="http://schemas.openxmlformats.org/officeDocument/2006/relationships/slideLayout" Target="../slideLayouts/slideLayout227.xml"/><Relationship Id="rId22" Type="http://schemas.openxmlformats.org/officeDocument/2006/relationships/slideLayout" Target="../slideLayouts/slideLayout235.xml"/><Relationship Id="rId27" Type="http://schemas.openxmlformats.org/officeDocument/2006/relationships/slideLayout" Target="../slideLayouts/slideLayout240.xml"/><Relationship Id="rId30" Type="http://schemas.openxmlformats.org/officeDocument/2006/relationships/slideLayout" Target="../slideLayouts/slideLayout243.xml"/><Relationship Id="rId35" Type="http://schemas.openxmlformats.org/officeDocument/2006/relationships/slideLayout" Target="../slideLayouts/slideLayout248.xml"/><Relationship Id="rId43" Type="http://schemas.openxmlformats.org/officeDocument/2006/relationships/slideLayout" Target="../slideLayouts/slideLayout256.xml"/><Relationship Id="rId8" Type="http://schemas.openxmlformats.org/officeDocument/2006/relationships/slideLayout" Target="../slideLayouts/slideLayout221.xml"/><Relationship Id="rId3" Type="http://schemas.openxmlformats.org/officeDocument/2006/relationships/slideLayout" Target="../slideLayouts/slideLayout216.xml"/><Relationship Id="rId12" Type="http://schemas.openxmlformats.org/officeDocument/2006/relationships/slideLayout" Target="../slideLayouts/slideLayout225.xml"/><Relationship Id="rId17" Type="http://schemas.openxmlformats.org/officeDocument/2006/relationships/slideLayout" Target="../slideLayouts/slideLayout230.xml"/><Relationship Id="rId25" Type="http://schemas.openxmlformats.org/officeDocument/2006/relationships/slideLayout" Target="../slideLayouts/slideLayout238.xml"/><Relationship Id="rId33" Type="http://schemas.openxmlformats.org/officeDocument/2006/relationships/slideLayout" Target="../slideLayouts/slideLayout246.xml"/><Relationship Id="rId38" Type="http://schemas.openxmlformats.org/officeDocument/2006/relationships/slideLayout" Target="../slideLayouts/slideLayout251.xml"/><Relationship Id="rId20" Type="http://schemas.openxmlformats.org/officeDocument/2006/relationships/slideLayout" Target="../slideLayouts/slideLayout233.xml"/><Relationship Id="rId41" Type="http://schemas.openxmlformats.org/officeDocument/2006/relationships/slideLayout" Target="../slideLayouts/slideLayout254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0.xml"/><Relationship Id="rId18" Type="http://schemas.openxmlformats.org/officeDocument/2006/relationships/slideLayout" Target="../slideLayouts/slideLayout275.xml"/><Relationship Id="rId26" Type="http://schemas.openxmlformats.org/officeDocument/2006/relationships/slideLayout" Target="../slideLayouts/slideLayout283.xml"/><Relationship Id="rId39" Type="http://schemas.openxmlformats.org/officeDocument/2006/relationships/slideLayout" Target="../slideLayouts/slideLayout296.xml"/><Relationship Id="rId21" Type="http://schemas.openxmlformats.org/officeDocument/2006/relationships/slideLayout" Target="../slideLayouts/slideLayout278.xml"/><Relationship Id="rId34" Type="http://schemas.openxmlformats.org/officeDocument/2006/relationships/slideLayout" Target="../slideLayouts/slideLayout291.xml"/><Relationship Id="rId7" Type="http://schemas.openxmlformats.org/officeDocument/2006/relationships/slideLayout" Target="../slideLayouts/slideLayout264.xml"/><Relationship Id="rId2" Type="http://schemas.openxmlformats.org/officeDocument/2006/relationships/slideLayout" Target="../slideLayouts/slideLayout259.xml"/><Relationship Id="rId16" Type="http://schemas.openxmlformats.org/officeDocument/2006/relationships/slideLayout" Target="../slideLayouts/slideLayout273.xml"/><Relationship Id="rId20" Type="http://schemas.openxmlformats.org/officeDocument/2006/relationships/slideLayout" Target="../slideLayouts/slideLayout277.xml"/><Relationship Id="rId29" Type="http://schemas.openxmlformats.org/officeDocument/2006/relationships/slideLayout" Target="../slideLayouts/slideLayout286.xml"/><Relationship Id="rId41" Type="http://schemas.openxmlformats.org/officeDocument/2006/relationships/image" Target="../media/image13.png"/><Relationship Id="rId1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8.xml"/><Relationship Id="rId24" Type="http://schemas.openxmlformats.org/officeDocument/2006/relationships/slideLayout" Target="../slideLayouts/slideLayout281.xml"/><Relationship Id="rId32" Type="http://schemas.openxmlformats.org/officeDocument/2006/relationships/slideLayout" Target="../slideLayouts/slideLayout289.xml"/><Relationship Id="rId37" Type="http://schemas.openxmlformats.org/officeDocument/2006/relationships/slideLayout" Target="../slideLayouts/slideLayout294.xml"/><Relationship Id="rId40" Type="http://schemas.openxmlformats.org/officeDocument/2006/relationships/theme" Target="../theme/theme7.xml"/><Relationship Id="rId5" Type="http://schemas.openxmlformats.org/officeDocument/2006/relationships/slideLayout" Target="../slideLayouts/slideLayout262.xml"/><Relationship Id="rId15" Type="http://schemas.openxmlformats.org/officeDocument/2006/relationships/slideLayout" Target="../slideLayouts/slideLayout272.xml"/><Relationship Id="rId23" Type="http://schemas.openxmlformats.org/officeDocument/2006/relationships/slideLayout" Target="../slideLayouts/slideLayout280.xml"/><Relationship Id="rId28" Type="http://schemas.openxmlformats.org/officeDocument/2006/relationships/slideLayout" Target="../slideLayouts/slideLayout285.xml"/><Relationship Id="rId36" Type="http://schemas.openxmlformats.org/officeDocument/2006/relationships/slideLayout" Target="../slideLayouts/slideLayout293.xml"/><Relationship Id="rId10" Type="http://schemas.openxmlformats.org/officeDocument/2006/relationships/slideLayout" Target="../slideLayouts/slideLayout267.xml"/><Relationship Id="rId19" Type="http://schemas.openxmlformats.org/officeDocument/2006/relationships/slideLayout" Target="../slideLayouts/slideLayout276.xml"/><Relationship Id="rId31" Type="http://schemas.openxmlformats.org/officeDocument/2006/relationships/slideLayout" Target="../slideLayouts/slideLayout288.xml"/><Relationship Id="rId4" Type="http://schemas.openxmlformats.org/officeDocument/2006/relationships/slideLayout" Target="../slideLayouts/slideLayout261.xml"/><Relationship Id="rId9" Type="http://schemas.openxmlformats.org/officeDocument/2006/relationships/slideLayout" Target="../slideLayouts/slideLayout266.xml"/><Relationship Id="rId14" Type="http://schemas.openxmlformats.org/officeDocument/2006/relationships/slideLayout" Target="../slideLayouts/slideLayout271.xml"/><Relationship Id="rId22" Type="http://schemas.openxmlformats.org/officeDocument/2006/relationships/slideLayout" Target="../slideLayouts/slideLayout279.xml"/><Relationship Id="rId27" Type="http://schemas.openxmlformats.org/officeDocument/2006/relationships/slideLayout" Target="../slideLayouts/slideLayout284.xml"/><Relationship Id="rId30" Type="http://schemas.openxmlformats.org/officeDocument/2006/relationships/slideLayout" Target="../slideLayouts/slideLayout287.xml"/><Relationship Id="rId35" Type="http://schemas.openxmlformats.org/officeDocument/2006/relationships/slideLayout" Target="../slideLayouts/slideLayout292.xml"/><Relationship Id="rId8" Type="http://schemas.openxmlformats.org/officeDocument/2006/relationships/slideLayout" Target="../slideLayouts/slideLayout265.xml"/><Relationship Id="rId3" Type="http://schemas.openxmlformats.org/officeDocument/2006/relationships/slideLayout" Target="../slideLayouts/slideLayout260.xml"/><Relationship Id="rId12" Type="http://schemas.openxmlformats.org/officeDocument/2006/relationships/slideLayout" Target="../slideLayouts/slideLayout269.xml"/><Relationship Id="rId17" Type="http://schemas.openxmlformats.org/officeDocument/2006/relationships/slideLayout" Target="../slideLayouts/slideLayout274.xml"/><Relationship Id="rId25" Type="http://schemas.openxmlformats.org/officeDocument/2006/relationships/slideLayout" Target="../slideLayouts/slideLayout282.xml"/><Relationship Id="rId33" Type="http://schemas.openxmlformats.org/officeDocument/2006/relationships/slideLayout" Target="../slideLayouts/slideLayout290.xml"/><Relationship Id="rId38" Type="http://schemas.openxmlformats.org/officeDocument/2006/relationships/slideLayout" Target="../slideLayouts/slideLayout295.xml"/></Relationships>
</file>

<file path=ppt/slideMasters/_rels/slideMaster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09.xml"/><Relationship Id="rId18" Type="http://schemas.openxmlformats.org/officeDocument/2006/relationships/slideLayout" Target="../slideLayouts/slideLayout314.xml"/><Relationship Id="rId26" Type="http://schemas.openxmlformats.org/officeDocument/2006/relationships/slideLayout" Target="../slideLayouts/slideLayout322.xml"/><Relationship Id="rId39" Type="http://schemas.openxmlformats.org/officeDocument/2006/relationships/slideLayout" Target="../slideLayouts/slideLayout335.xml"/><Relationship Id="rId21" Type="http://schemas.openxmlformats.org/officeDocument/2006/relationships/slideLayout" Target="../slideLayouts/slideLayout317.xml"/><Relationship Id="rId34" Type="http://schemas.openxmlformats.org/officeDocument/2006/relationships/slideLayout" Target="../slideLayouts/slideLayout330.xml"/><Relationship Id="rId42" Type="http://schemas.openxmlformats.org/officeDocument/2006/relationships/slideLayout" Target="../slideLayouts/slideLayout338.xml"/><Relationship Id="rId47" Type="http://schemas.openxmlformats.org/officeDocument/2006/relationships/slideLayout" Target="../slideLayouts/slideLayout343.xml"/><Relationship Id="rId7" Type="http://schemas.openxmlformats.org/officeDocument/2006/relationships/slideLayout" Target="../slideLayouts/slideLayout303.xml"/><Relationship Id="rId2" Type="http://schemas.openxmlformats.org/officeDocument/2006/relationships/slideLayout" Target="../slideLayouts/slideLayout298.xml"/><Relationship Id="rId16" Type="http://schemas.openxmlformats.org/officeDocument/2006/relationships/slideLayout" Target="../slideLayouts/slideLayout312.xml"/><Relationship Id="rId29" Type="http://schemas.openxmlformats.org/officeDocument/2006/relationships/slideLayout" Target="../slideLayouts/slideLayout325.xml"/><Relationship Id="rId1" Type="http://schemas.openxmlformats.org/officeDocument/2006/relationships/slideLayout" Target="../slideLayouts/slideLayout297.xml"/><Relationship Id="rId6" Type="http://schemas.openxmlformats.org/officeDocument/2006/relationships/slideLayout" Target="../slideLayouts/slideLayout302.xml"/><Relationship Id="rId11" Type="http://schemas.openxmlformats.org/officeDocument/2006/relationships/slideLayout" Target="../slideLayouts/slideLayout307.xml"/><Relationship Id="rId24" Type="http://schemas.openxmlformats.org/officeDocument/2006/relationships/slideLayout" Target="../slideLayouts/slideLayout320.xml"/><Relationship Id="rId32" Type="http://schemas.openxmlformats.org/officeDocument/2006/relationships/slideLayout" Target="../slideLayouts/slideLayout328.xml"/><Relationship Id="rId37" Type="http://schemas.openxmlformats.org/officeDocument/2006/relationships/slideLayout" Target="../slideLayouts/slideLayout333.xml"/><Relationship Id="rId40" Type="http://schemas.openxmlformats.org/officeDocument/2006/relationships/slideLayout" Target="../slideLayouts/slideLayout336.xml"/><Relationship Id="rId45" Type="http://schemas.openxmlformats.org/officeDocument/2006/relationships/slideLayout" Target="../slideLayouts/slideLayout341.xml"/><Relationship Id="rId5" Type="http://schemas.openxmlformats.org/officeDocument/2006/relationships/slideLayout" Target="../slideLayouts/slideLayout301.xml"/><Relationship Id="rId15" Type="http://schemas.openxmlformats.org/officeDocument/2006/relationships/slideLayout" Target="../slideLayouts/slideLayout311.xml"/><Relationship Id="rId23" Type="http://schemas.openxmlformats.org/officeDocument/2006/relationships/slideLayout" Target="../slideLayouts/slideLayout319.xml"/><Relationship Id="rId28" Type="http://schemas.openxmlformats.org/officeDocument/2006/relationships/slideLayout" Target="../slideLayouts/slideLayout324.xml"/><Relationship Id="rId36" Type="http://schemas.openxmlformats.org/officeDocument/2006/relationships/slideLayout" Target="../slideLayouts/slideLayout332.xml"/><Relationship Id="rId10" Type="http://schemas.openxmlformats.org/officeDocument/2006/relationships/slideLayout" Target="../slideLayouts/slideLayout306.xml"/><Relationship Id="rId19" Type="http://schemas.openxmlformats.org/officeDocument/2006/relationships/slideLayout" Target="../slideLayouts/slideLayout315.xml"/><Relationship Id="rId31" Type="http://schemas.openxmlformats.org/officeDocument/2006/relationships/slideLayout" Target="../slideLayouts/slideLayout327.xml"/><Relationship Id="rId44" Type="http://schemas.openxmlformats.org/officeDocument/2006/relationships/slideLayout" Target="../slideLayouts/slideLayout340.xml"/><Relationship Id="rId4" Type="http://schemas.openxmlformats.org/officeDocument/2006/relationships/slideLayout" Target="../slideLayouts/slideLayout300.xml"/><Relationship Id="rId9" Type="http://schemas.openxmlformats.org/officeDocument/2006/relationships/slideLayout" Target="../slideLayouts/slideLayout305.xml"/><Relationship Id="rId14" Type="http://schemas.openxmlformats.org/officeDocument/2006/relationships/slideLayout" Target="../slideLayouts/slideLayout310.xml"/><Relationship Id="rId22" Type="http://schemas.openxmlformats.org/officeDocument/2006/relationships/slideLayout" Target="../slideLayouts/slideLayout318.xml"/><Relationship Id="rId27" Type="http://schemas.openxmlformats.org/officeDocument/2006/relationships/slideLayout" Target="../slideLayouts/slideLayout323.xml"/><Relationship Id="rId30" Type="http://schemas.openxmlformats.org/officeDocument/2006/relationships/slideLayout" Target="../slideLayouts/slideLayout326.xml"/><Relationship Id="rId35" Type="http://schemas.openxmlformats.org/officeDocument/2006/relationships/slideLayout" Target="../slideLayouts/slideLayout331.xml"/><Relationship Id="rId43" Type="http://schemas.openxmlformats.org/officeDocument/2006/relationships/slideLayout" Target="../slideLayouts/slideLayout339.xml"/><Relationship Id="rId48" Type="http://schemas.openxmlformats.org/officeDocument/2006/relationships/theme" Target="../theme/theme8.xml"/><Relationship Id="rId8" Type="http://schemas.openxmlformats.org/officeDocument/2006/relationships/slideLayout" Target="../slideLayouts/slideLayout304.xml"/><Relationship Id="rId3" Type="http://schemas.openxmlformats.org/officeDocument/2006/relationships/slideLayout" Target="../slideLayouts/slideLayout299.xml"/><Relationship Id="rId12" Type="http://schemas.openxmlformats.org/officeDocument/2006/relationships/slideLayout" Target="../slideLayouts/slideLayout308.xml"/><Relationship Id="rId17" Type="http://schemas.openxmlformats.org/officeDocument/2006/relationships/slideLayout" Target="../slideLayouts/slideLayout313.xml"/><Relationship Id="rId25" Type="http://schemas.openxmlformats.org/officeDocument/2006/relationships/slideLayout" Target="../slideLayouts/slideLayout321.xml"/><Relationship Id="rId33" Type="http://schemas.openxmlformats.org/officeDocument/2006/relationships/slideLayout" Target="../slideLayouts/slideLayout329.xml"/><Relationship Id="rId38" Type="http://schemas.openxmlformats.org/officeDocument/2006/relationships/slideLayout" Target="../slideLayouts/slideLayout334.xml"/><Relationship Id="rId46" Type="http://schemas.openxmlformats.org/officeDocument/2006/relationships/slideLayout" Target="../slideLayouts/slideLayout342.xml"/><Relationship Id="rId20" Type="http://schemas.openxmlformats.org/officeDocument/2006/relationships/slideLayout" Target="../slideLayouts/slideLayout316.xml"/><Relationship Id="rId41" Type="http://schemas.openxmlformats.org/officeDocument/2006/relationships/slideLayout" Target="../slideLayouts/slideLayout3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50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8360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  <p:sldLayoutId id="2147483752" r:id="rId43"/>
    <p:sldLayoutId id="2147483753" r:id="rId44"/>
    <p:sldLayoutId id="2147483754" r:id="rId45"/>
    <p:sldLayoutId id="2147483755" r:id="rId46"/>
    <p:sldLayoutId id="2147484063" r:id="rId47"/>
    <p:sldLayoutId id="2147484064" r:id="rId48"/>
    <p:sldLayoutId id="2147484065" r:id="rId49"/>
    <p:sldLayoutId id="2147484066" r:id="rId50"/>
    <p:sldLayoutId id="2147484067" r:id="rId51"/>
  </p:sldLayoutIdLst>
  <p:transition spd="med"/>
  <p:hf hd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56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89" y="6400801"/>
            <a:ext cx="5486313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Data Fabric / March,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2" y="6400801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955704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5pPr>
      <a:lvl6pPr marL="48341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6pPr>
      <a:lvl7pPr marL="96682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7pPr>
      <a:lvl8pPr marL="14502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8pPr>
      <a:lvl9pPr marL="193365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marL="228597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2pPr>
      <a:lvl3pPr marL="457195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3pPr>
      <a:lvl4pPr marL="83819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67" b="0" i="0" baseline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4pPr>
      <a:lvl5pPr marL="107102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5pPr>
      <a:lvl6pPr marL="2111575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6pPr>
      <a:lvl7pPr marL="2594990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7pPr>
      <a:lvl8pPr marL="3078403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8pPr>
      <a:lvl9pPr marL="3561818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12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2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4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5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6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79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9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306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94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9" name="Group 1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12552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  <p:sldLayoutId id="2147483820" r:id="rId18"/>
    <p:sldLayoutId id="2147483821" r:id="rId19"/>
    <p:sldLayoutId id="2147483822" r:id="rId20"/>
    <p:sldLayoutId id="2147483823" r:id="rId21"/>
    <p:sldLayoutId id="2147483824" r:id="rId22"/>
    <p:sldLayoutId id="2147483825" r:id="rId23"/>
    <p:sldLayoutId id="2147483826" r:id="rId24"/>
    <p:sldLayoutId id="2147483827" r:id="rId25"/>
    <p:sldLayoutId id="2147483828" r:id="rId26"/>
    <p:sldLayoutId id="2147483829" r:id="rId27"/>
    <p:sldLayoutId id="2147483830" r:id="rId28"/>
    <p:sldLayoutId id="2147483831" r:id="rId29"/>
    <p:sldLayoutId id="2147483832" r:id="rId30"/>
    <p:sldLayoutId id="2147483833" r:id="rId31"/>
    <p:sldLayoutId id="2147483834" r:id="rId32"/>
    <p:sldLayoutId id="2147483835" r:id="rId33"/>
    <p:sldLayoutId id="2147483836" r:id="rId34"/>
    <p:sldLayoutId id="2147483837" r:id="rId35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 i="0">
          <a:solidFill>
            <a:schemeClr val="bg1"/>
          </a:solidFill>
          <a:latin typeface="+mj-lt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5pPr>
      <a:lvl6pPr marL="48341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6pPr>
      <a:lvl7pPr marL="96682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7pPr>
      <a:lvl8pPr marL="14502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8pPr>
      <a:lvl9pPr marL="193365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IBM Plex Sans" pitchFamily="2" charset="2"/>
        <a:buNone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1pPr>
      <a:lvl2pPr marL="228597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2pPr>
      <a:lvl3pPr marL="457195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3pPr>
      <a:lvl4pPr marL="838190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 b="0" i="0" baseline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4pPr>
      <a:lvl5pPr marL="1071020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Font typeface="Arial" panose="020B0604020202020204" pitchFamily="34" charset="0"/>
        <a:buChar char="•"/>
        <a:tabLst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5pPr>
      <a:lvl6pPr marL="2111575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6pPr>
      <a:lvl7pPr marL="2594990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7pPr>
      <a:lvl8pPr marL="3078403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8pPr>
      <a:lvl9pPr marL="3561818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9pPr>
    </p:bodyStyle>
    <p:otherStyle>
      <a:defPPr>
        <a:defRPr lang="en-US"/>
      </a:defPPr>
      <a:lvl1pPr marL="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12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2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4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5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6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79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9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306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89" y="6400801"/>
            <a:ext cx="5486313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2" y="6400801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67214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  <p:sldLayoutId id="2147483856" r:id="rId18"/>
    <p:sldLayoutId id="2147483857" r:id="rId19"/>
    <p:sldLayoutId id="2147483858" r:id="rId20"/>
    <p:sldLayoutId id="2147483859" r:id="rId21"/>
    <p:sldLayoutId id="2147483860" r:id="rId22"/>
    <p:sldLayoutId id="2147483861" r:id="rId23"/>
    <p:sldLayoutId id="2147483862" r:id="rId24"/>
    <p:sldLayoutId id="2147483863" r:id="rId25"/>
    <p:sldLayoutId id="2147483864" r:id="rId26"/>
    <p:sldLayoutId id="2147483865" r:id="rId27"/>
    <p:sldLayoutId id="2147483866" r:id="rId28"/>
    <p:sldLayoutId id="2147483867" r:id="rId29"/>
    <p:sldLayoutId id="2147483868" r:id="rId30"/>
    <p:sldLayoutId id="2147483869" r:id="rId31"/>
    <p:sldLayoutId id="2147483870" r:id="rId32"/>
    <p:sldLayoutId id="2147483871" r:id="rId33"/>
    <p:sldLayoutId id="2147483872" r:id="rId34"/>
    <p:sldLayoutId id="2147483873" r:id="rId35"/>
    <p:sldLayoutId id="2147483874" r:id="rId36"/>
    <p:sldLayoutId id="2147483875" r:id="rId37"/>
    <p:sldLayoutId id="2147483876" r:id="rId38"/>
    <p:sldLayoutId id="2147483877" r:id="rId39"/>
    <p:sldLayoutId id="2147483878" r:id="rId40"/>
    <p:sldLayoutId id="2147483879" r:id="rId41"/>
    <p:sldLayoutId id="2147483880" r:id="rId4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5pPr>
      <a:lvl6pPr marL="48341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6pPr>
      <a:lvl7pPr marL="96682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7pPr>
      <a:lvl8pPr marL="14502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8pPr>
      <a:lvl9pPr marL="193365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marL="228597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2pPr>
      <a:lvl3pPr marL="457195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3pPr>
      <a:lvl4pPr marL="83819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67" b="0" i="0" baseline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4pPr>
      <a:lvl5pPr marL="107102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5pPr>
      <a:lvl6pPr marL="2111575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6pPr>
      <a:lvl7pPr marL="2594990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7pPr>
      <a:lvl8pPr marL="3078403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8pPr>
      <a:lvl9pPr marL="3561818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12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2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4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5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6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79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9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306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94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5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90" y="6400802"/>
            <a:ext cx="5486313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37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9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3" y="6400802"/>
            <a:ext cx="243830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99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228404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  <p:sldLayoutId id="2147483895" r:id="rId14"/>
    <p:sldLayoutId id="2147483896" r:id="rId15"/>
    <p:sldLayoutId id="2147483897" r:id="rId16"/>
    <p:sldLayoutId id="2147483898" r:id="rId17"/>
    <p:sldLayoutId id="2147483899" r:id="rId18"/>
    <p:sldLayoutId id="2147483900" r:id="rId19"/>
    <p:sldLayoutId id="2147483901" r:id="rId20"/>
    <p:sldLayoutId id="2147483902" r:id="rId21"/>
    <p:sldLayoutId id="2147483903" r:id="rId22"/>
    <p:sldLayoutId id="2147483904" r:id="rId23"/>
    <p:sldLayoutId id="2147483905" r:id="rId24"/>
    <p:sldLayoutId id="2147483906" r:id="rId25"/>
    <p:sldLayoutId id="2147483907" r:id="rId26"/>
    <p:sldLayoutId id="2147483908" r:id="rId27"/>
    <p:sldLayoutId id="2147483909" r:id="rId28"/>
    <p:sldLayoutId id="2147483910" r:id="rId29"/>
    <p:sldLayoutId id="2147483911" r:id="rId30"/>
    <p:sldLayoutId id="2147483912" r:id="rId31"/>
    <p:sldLayoutId id="2147483913" r:id="rId32"/>
    <p:sldLayoutId id="2147483914" r:id="rId33"/>
    <p:sldLayoutId id="2147483915" r:id="rId34"/>
    <p:sldLayoutId id="2147483916" r:id="rId35"/>
    <p:sldLayoutId id="2147483917" r:id="rId36"/>
    <p:sldLayoutId id="2147483918" r:id="rId37"/>
    <p:sldLayoutId id="2147483919" r:id="rId38"/>
    <p:sldLayoutId id="2147483920" r:id="rId39"/>
    <p:sldLayoutId id="2147483921" r:id="rId40"/>
    <p:sldLayoutId id="2147483922" r:id="rId41"/>
    <p:sldLayoutId id="2147483923" r:id="rId4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5pPr>
      <a:lvl6pPr marL="48292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6pPr>
      <a:lvl7pPr marL="96586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7pPr>
      <a:lvl8pPr marL="144879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8pPr>
      <a:lvl9pPr marL="193172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865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marL="228369" indent="-231411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65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2pPr>
      <a:lvl3pPr marL="456737" indent="-231411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865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3pPr>
      <a:lvl4pPr marL="837352" indent="-231411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65" b="0" i="0" baseline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4pPr>
      <a:lvl5pPr marL="1069949" indent="-231411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865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5pPr>
      <a:lvl6pPr marL="2109463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0">
          <a:solidFill>
            <a:schemeClr val="bg1"/>
          </a:solidFill>
          <a:latin typeface="IBM Plex Sans Light" charset="0"/>
        </a:defRPr>
      </a:lvl6pPr>
      <a:lvl7pPr marL="2592396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0">
          <a:solidFill>
            <a:schemeClr val="bg1"/>
          </a:solidFill>
          <a:latin typeface="IBM Plex Sans Light" charset="0"/>
        </a:defRPr>
      </a:lvl7pPr>
      <a:lvl8pPr marL="3075324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0">
          <a:solidFill>
            <a:schemeClr val="bg1"/>
          </a:solidFill>
          <a:latin typeface="IBM Plex Sans Light" charset="0"/>
        </a:defRPr>
      </a:lvl8pPr>
      <a:lvl9pPr marL="3558257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0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1pPr>
      <a:lvl2pPr marL="482929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2pPr>
      <a:lvl3pPr marL="965861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3pPr>
      <a:lvl4pPr marL="1448790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4pPr>
      <a:lvl5pPr marL="1931720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5pPr>
      <a:lvl6pPr marL="2414651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6pPr>
      <a:lvl7pPr marL="2897578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7pPr>
      <a:lvl8pPr marL="3380509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8pPr>
      <a:lvl9pPr marL="3863439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94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5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90" y="6400801"/>
            <a:ext cx="5486313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37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9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IBM Marketing  / August 2022 / © 2022 IBM Corporation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3" y="6400801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99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46306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78927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  <p:sldLayoutId id="2147483940" r:id="rId16"/>
    <p:sldLayoutId id="2147483941" r:id="rId17"/>
    <p:sldLayoutId id="2147483942" r:id="rId18"/>
    <p:sldLayoutId id="2147483943" r:id="rId19"/>
    <p:sldLayoutId id="2147483944" r:id="rId20"/>
    <p:sldLayoutId id="2147483945" r:id="rId21"/>
    <p:sldLayoutId id="2147483946" r:id="rId22"/>
    <p:sldLayoutId id="2147483947" r:id="rId23"/>
    <p:sldLayoutId id="2147483948" r:id="rId24"/>
    <p:sldLayoutId id="2147483949" r:id="rId25"/>
    <p:sldLayoutId id="2147483950" r:id="rId26"/>
    <p:sldLayoutId id="2147483951" r:id="rId27"/>
    <p:sldLayoutId id="2147483952" r:id="rId28"/>
    <p:sldLayoutId id="2147483953" r:id="rId29"/>
    <p:sldLayoutId id="2147483954" r:id="rId30"/>
    <p:sldLayoutId id="2147483955" r:id="rId31"/>
    <p:sldLayoutId id="2147483956" r:id="rId32"/>
    <p:sldLayoutId id="2147483957" r:id="rId33"/>
    <p:sldLayoutId id="2147483958" r:id="rId34"/>
    <p:sldLayoutId id="2147483959" r:id="rId35"/>
    <p:sldLayoutId id="2147483960" r:id="rId36"/>
    <p:sldLayoutId id="2147483961" r:id="rId37"/>
    <p:sldLayoutId id="2147483962" r:id="rId38"/>
    <p:sldLayoutId id="2147483963" r:id="rId39"/>
    <p:sldLayoutId id="2147483964" r:id="rId40"/>
    <p:sldLayoutId id="2147483965" r:id="rId41"/>
    <p:sldLayoutId id="2147483966" r:id="rId42"/>
    <p:sldLayoutId id="2147483967" r:id="rId43"/>
    <p:sldLayoutId id="2147483969" r:id="rId44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5pPr>
      <a:lvl6pPr marL="48292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6pPr>
      <a:lvl7pPr marL="96586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7pPr>
      <a:lvl8pPr marL="144879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8pPr>
      <a:lvl9pPr marL="193172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6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865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marL="228369" indent="-231410" algn="l" rtl="0" eaLnBrk="1" fontAlgn="base" hangingPunct="1">
        <a:lnSpc>
          <a:spcPct val="100000"/>
        </a:lnSpc>
        <a:spcBef>
          <a:spcPts val="1466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65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2pPr>
      <a:lvl3pPr marL="456738" indent="-231410" algn="l" rtl="0" eaLnBrk="1" fontAlgn="base" hangingPunct="1">
        <a:lnSpc>
          <a:spcPct val="100000"/>
        </a:lnSpc>
        <a:spcBef>
          <a:spcPts val="1466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865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3pPr>
      <a:lvl4pPr marL="837352" indent="-231410" algn="l" rtl="0" eaLnBrk="1" fontAlgn="base" hangingPunct="1">
        <a:lnSpc>
          <a:spcPct val="100000"/>
        </a:lnSpc>
        <a:spcBef>
          <a:spcPts val="1466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65" b="0" i="0" baseline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4pPr>
      <a:lvl5pPr marL="1069949" indent="-231410" algn="l" rtl="0" eaLnBrk="1" fontAlgn="base" hangingPunct="1">
        <a:lnSpc>
          <a:spcPct val="100000"/>
        </a:lnSpc>
        <a:spcBef>
          <a:spcPts val="1466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865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5pPr>
      <a:lvl6pPr marL="2109464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0">
          <a:solidFill>
            <a:schemeClr val="bg1"/>
          </a:solidFill>
          <a:latin typeface="IBM Plex Sans Light" charset="0"/>
        </a:defRPr>
      </a:lvl6pPr>
      <a:lvl7pPr marL="2592395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0">
          <a:solidFill>
            <a:schemeClr val="bg1"/>
          </a:solidFill>
          <a:latin typeface="IBM Plex Sans Light" charset="0"/>
        </a:defRPr>
      </a:lvl7pPr>
      <a:lvl8pPr marL="3075325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0">
          <a:solidFill>
            <a:schemeClr val="bg1"/>
          </a:solidFill>
          <a:latin typeface="IBM Plex Sans Light" charset="0"/>
        </a:defRPr>
      </a:lvl8pPr>
      <a:lvl9pPr marL="3558256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0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1pPr>
      <a:lvl2pPr marL="482929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2pPr>
      <a:lvl3pPr marL="965861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3pPr>
      <a:lvl4pPr marL="1448790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4pPr>
      <a:lvl5pPr marL="1931720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5pPr>
      <a:lvl6pPr marL="2414651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6pPr>
      <a:lvl7pPr marL="2897579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7pPr>
      <a:lvl8pPr marL="3380509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8pPr>
      <a:lvl9pPr marL="3863439" algn="l" defTabSz="965861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94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988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0" y="256032"/>
            <a:ext cx="5486400" cy="6000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IBM Sterling  / © 2019 IBM Corporation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4356" y="300567"/>
            <a:ext cx="623147" cy="24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870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  <p:sldLayoutId id="2147483982" r:id="rId12"/>
    <p:sldLayoutId id="2147483983" r:id="rId13"/>
    <p:sldLayoutId id="2147483984" r:id="rId14"/>
    <p:sldLayoutId id="2147483985" r:id="rId15"/>
    <p:sldLayoutId id="2147483986" r:id="rId16"/>
    <p:sldLayoutId id="2147483987" r:id="rId17"/>
    <p:sldLayoutId id="2147483988" r:id="rId18"/>
    <p:sldLayoutId id="2147483989" r:id="rId19"/>
    <p:sldLayoutId id="2147483990" r:id="rId20"/>
    <p:sldLayoutId id="2147483991" r:id="rId21"/>
    <p:sldLayoutId id="2147483992" r:id="rId22"/>
    <p:sldLayoutId id="2147483993" r:id="rId23"/>
    <p:sldLayoutId id="2147483994" r:id="rId24"/>
    <p:sldLayoutId id="2147483995" r:id="rId25"/>
    <p:sldLayoutId id="2147483996" r:id="rId26"/>
    <p:sldLayoutId id="2147483997" r:id="rId27"/>
    <p:sldLayoutId id="2147483998" r:id="rId28"/>
    <p:sldLayoutId id="2147483999" r:id="rId29"/>
    <p:sldLayoutId id="2147484000" r:id="rId30"/>
    <p:sldLayoutId id="2147484001" r:id="rId31"/>
    <p:sldLayoutId id="2147484002" r:id="rId32"/>
    <p:sldLayoutId id="2147484003" r:id="rId33"/>
    <p:sldLayoutId id="2147484004" r:id="rId34"/>
    <p:sldLayoutId id="2147484005" r:id="rId35"/>
    <p:sldLayoutId id="2147484006" r:id="rId36"/>
    <p:sldLayoutId id="2147484007" r:id="rId37"/>
    <p:sldLayoutId id="2147484008" r:id="rId38"/>
    <p:sldLayoutId id="2147484009" r:id="rId39"/>
  </p:sldLayoutIdLst>
  <p:hf sldNum="0" hdr="0" dt="0"/>
  <p:txStyles>
    <p:titleStyle>
      <a:lvl1pPr algn="l" defTabSz="608990" rtl="0" eaLnBrk="1" latinLnBrk="0" hangingPunct="1">
        <a:lnSpc>
          <a:spcPct val="90000"/>
        </a:lnSpc>
        <a:spcBef>
          <a:spcPct val="0"/>
        </a:spcBef>
        <a:buNone/>
        <a:defRPr sz="3197" kern="1200">
          <a:solidFill>
            <a:schemeClr val="tx1"/>
          </a:solidFill>
          <a:latin typeface="+mj-lt"/>
          <a:ea typeface="Arial" charset="0"/>
          <a:cs typeface="Arial" charset="0"/>
        </a:defRPr>
      </a:lvl1pPr>
    </p:titleStyle>
    <p:bodyStyle>
      <a:lvl1pPr marL="0" indent="0" algn="l" defTabSz="608990" rtl="0" eaLnBrk="1" latinLnBrk="0" hangingPunct="1">
        <a:lnSpc>
          <a:spcPct val="100000"/>
        </a:lnSpc>
        <a:spcBef>
          <a:spcPts val="1465"/>
        </a:spcBef>
        <a:buFont typeface="Arial"/>
        <a:buNone/>
        <a:defRPr sz="1865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230487" indent="-230487" algn="l" defTabSz="608990" rtl="0" eaLnBrk="1" latinLnBrk="0" hangingPunct="1">
        <a:lnSpc>
          <a:spcPct val="100000"/>
        </a:lnSpc>
        <a:spcBef>
          <a:spcPts val="1465"/>
        </a:spcBef>
        <a:spcAft>
          <a:spcPts val="0"/>
        </a:spcAft>
        <a:buFont typeface="Arial"/>
        <a:buChar char="–"/>
        <a:defRPr sz="1865" kern="1200">
          <a:solidFill>
            <a:schemeClr val="tx1"/>
          </a:solidFill>
          <a:latin typeface="+mn-lt"/>
          <a:ea typeface="Arial" charset="0"/>
          <a:cs typeface="Arial" charset="0"/>
        </a:defRPr>
      </a:lvl2pPr>
      <a:lvl3pPr marL="528638" indent="-230487" algn="l" defTabSz="608990" rtl="0" eaLnBrk="1" latinLnBrk="0" hangingPunct="1">
        <a:lnSpc>
          <a:spcPct val="100000"/>
        </a:lnSpc>
        <a:spcBef>
          <a:spcPts val="1465"/>
        </a:spcBef>
        <a:spcAft>
          <a:spcPts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833133" indent="-224142" algn="l" defTabSz="608990" rtl="0" eaLnBrk="1" latinLnBrk="0" hangingPunct="1">
        <a:lnSpc>
          <a:spcPct val="100000"/>
        </a:lnSpc>
        <a:spcBef>
          <a:spcPts val="1465"/>
        </a:spcBef>
        <a:spcAft>
          <a:spcPts val="0"/>
        </a:spcAft>
        <a:buFont typeface="Arial"/>
        <a:buChar char="–"/>
        <a:defRPr sz="1865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1069962" indent="-230487" algn="l" defTabSz="608990" rtl="0" eaLnBrk="1" latinLnBrk="0" hangingPunct="1">
        <a:lnSpc>
          <a:spcPct val="100000"/>
        </a:lnSpc>
        <a:spcBef>
          <a:spcPts val="1465"/>
        </a:spcBef>
        <a:spcAft>
          <a:spcPts val="0"/>
        </a:spcAft>
        <a:buFont typeface="Arial"/>
        <a:buChar char="»"/>
        <a:defRPr sz="1865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3349447" indent="-304495" algn="l" defTabSz="608990" rtl="0" eaLnBrk="1" latinLnBrk="0" hangingPunct="1">
        <a:spcBef>
          <a:spcPct val="20000"/>
        </a:spcBef>
        <a:buFont typeface="Arial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6pPr>
      <a:lvl7pPr marL="3958438" indent="-304495" algn="l" defTabSz="608990" rtl="0" eaLnBrk="1" latinLnBrk="0" hangingPunct="1">
        <a:spcBef>
          <a:spcPct val="20000"/>
        </a:spcBef>
        <a:buFont typeface="Arial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7pPr>
      <a:lvl8pPr marL="4567428" indent="-304495" algn="l" defTabSz="608990" rtl="0" eaLnBrk="1" latinLnBrk="0" hangingPunct="1">
        <a:spcBef>
          <a:spcPct val="20000"/>
        </a:spcBef>
        <a:buFont typeface="Arial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8pPr>
      <a:lvl9pPr marL="5176418" indent="-304495" algn="l" defTabSz="608990" rtl="0" eaLnBrk="1" latinLnBrk="0" hangingPunct="1">
        <a:spcBef>
          <a:spcPct val="20000"/>
        </a:spcBef>
        <a:buFont typeface="Arial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990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8990" algn="l" defTabSz="608990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7981" algn="l" defTabSz="608990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6971" algn="l" defTabSz="608990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5962" algn="l" defTabSz="608990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4952" algn="l" defTabSz="608990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3942" algn="l" defTabSz="608990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2933" algn="l" defTabSz="608990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1923" algn="l" defTabSz="608990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96">
          <p15:clr>
            <a:srgbClr val="F26B43"/>
          </p15:clr>
        </p15:guide>
        <p15:guide id="2" orient="horz" pos="1619">
          <p15:clr>
            <a:srgbClr val="F26B43"/>
          </p15:clr>
        </p15:guide>
        <p15:guide id="3" orient="horz" pos="1216">
          <p15:clr>
            <a:srgbClr val="F26B43"/>
          </p15:clr>
        </p15:guide>
        <p15:guide id="5" orient="horz" pos="813">
          <p15:clr>
            <a:srgbClr val="F26B43"/>
          </p15:clr>
        </p15:guide>
        <p15:guide id="7" orient="horz" pos="2022">
          <p15:clr>
            <a:srgbClr val="F26B43"/>
          </p15:clr>
        </p15:guide>
        <p15:guide id="8" orient="horz" pos="2426">
          <p15:clr>
            <a:srgbClr val="F26B43"/>
          </p15:clr>
        </p15:guide>
        <p15:guide id="9" orient="horz" pos="2829">
          <p15:clr>
            <a:srgbClr val="F26B43"/>
          </p15:clr>
        </p15:guide>
        <p15:guide id="11" pos="2880">
          <p15:clr>
            <a:srgbClr val="F26B43"/>
          </p15:clr>
        </p15:guide>
        <p15:guide id="13" pos="2736">
          <p15:clr>
            <a:srgbClr val="F26B43"/>
          </p15:clr>
        </p15:guide>
        <p15:guide id="15" pos="1584">
          <p15:clr>
            <a:srgbClr val="F26B43"/>
          </p15:clr>
        </p15:guide>
        <p15:guide id="17" pos="1440">
          <p15:clr>
            <a:srgbClr val="F26B43"/>
          </p15:clr>
        </p15:guide>
        <p15:guide id="20" pos="3024">
          <p15:clr>
            <a:srgbClr val="F26B43"/>
          </p15:clr>
        </p15:guide>
        <p15:guide id="22" pos="4320">
          <p15:clr>
            <a:srgbClr val="F26B43"/>
          </p15:clr>
        </p15:guide>
        <p15:guide id="24" pos="144">
          <p15:clr>
            <a:srgbClr val="F26B43"/>
          </p15:clr>
        </p15:guide>
        <p15:guide id="26" pos="5616">
          <p15:clr>
            <a:srgbClr val="F26B43"/>
          </p15:clr>
        </p15:guide>
        <p15:guide id="27" orient="horz" pos="142">
          <p15:clr>
            <a:srgbClr val="F26B43"/>
          </p15:clr>
        </p15:guide>
        <p15:guide id="31" pos="4176">
          <p15:clr>
            <a:srgbClr val="F26B43"/>
          </p15:clr>
        </p15:guide>
        <p15:guide id="32" pos="4464">
          <p15:clr>
            <a:srgbClr val="F26B43"/>
          </p15:clr>
        </p15:guide>
        <p15:guide id="34" orient="horz" pos="3098">
          <p15:clr>
            <a:srgbClr val="F26B43"/>
          </p15:clr>
        </p15:guide>
        <p15:guide id="35" orient="horz" pos="420">
          <p15:clr>
            <a:srgbClr val="F26B43"/>
          </p15:clr>
        </p15:guide>
        <p15:guide id="36" orient="horz" pos="732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50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F7F4DA5A-EF00-6C49-B522-FBA71390A8D2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472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  <p:sldLayoutId id="2147484027" r:id="rId12"/>
    <p:sldLayoutId id="2147484028" r:id="rId13"/>
    <p:sldLayoutId id="2147484029" r:id="rId14"/>
    <p:sldLayoutId id="2147484030" r:id="rId15"/>
    <p:sldLayoutId id="2147484031" r:id="rId16"/>
    <p:sldLayoutId id="2147484032" r:id="rId17"/>
    <p:sldLayoutId id="2147484033" r:id="rId18"/>
    <p:sldLayoutId id="2147484034" r:id="rId19"/>
    <p:sldLayoutId id="2147484035" r:id="rId20"/>
    <p:sldLayoutId id="2147484036" r:id="rId21"/>
    <p:sldLayoutId id="2147484037" r:id="rId22"/>
    <p:sldLayoutId id="2147484038" r:id="rId23"/>
    <p:sldLayoutId id="2147484039" r:id="rId24"/>
    <p:sldLayoutId id="2147484040" r:id="rId25"/>
    <p:sldLayoutId id="2147484041" r:id="rId26"/>
    <p:sldLayoutId id="2147484042" r:id="rId27"/>
    <p:sldLayoutId id="2147484043" r:id="rId28"/>
    <p:sldLayoutId id="2147484044" r:id="rId29"/>
    <p:sldLayoutId id="2147484045" r:id="rId30"/>
    <p:sldLayoutId id="2147484046" r:id="rId31"/>
    <p:sldLayoutId id="2147484047" r:id="rId32"/>
    <p:sldLayoutId id="2147484048" r:id="rId33"/>
    <p:sldLayoutId id="2147484049" r:id="rId34"/>
    <p:sldLayoutId id="2147484050" r:id="rId35"/>
    <p:sldLayoutId id="2147484051" r:id="rId36"/>
    <p:sldLayoutId id="2147484052" r:id="rId37"/>
    <p:sldLayoutId id="2147484053" r:id="rId38"/>
    <p:sldLayoutId id="2147484054" r:id="rId39"/>
    <p:sldLayoutId id="2147484055" r:id="rId40"/>
    <p:sldLayoutId id="2147484056" r:id="rId41"/>
    <p:sldLayoutId id="2147484057" r:id="rId42"/>
    <p:sldLayoutId id="2147484058" r:id="rId43"/>
    <p:sldLayoutId id="2147484059" r:id="rId44"/>
    <p:sldLayoutId id="2147484060" r:id="rId45"/>
    <p:sldLayoutId id="2147484061" r:id="rId46"/>
    <p:sldLayoutId id="2147484062" r:id="rId47"/>
  </p:sldLayoutIdLst>
  <p:transition spd="med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56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stepzen.com/why-stepzen" TargetMode="External"/><Relationship Id="rId1" Type="http://schemas.openxmlformats.org/officeDocument/2006/relationships/slideLayout" Target="../slideLayouts/slideLayout5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ibm.seismic.com/Link/Content/DCgDbjhWR3HF78mPVHW7RT67Q7Vd" TargetMode="External"/><Relationship Id="rId1" Type="http://schemas.openxmlformats.org/officeDocument/2006/relationships/slideLayout" Target="../slideLayouts/slideLayout5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ibm.seismic.com/Link/Content/DChKPVZoSYh0OSWJSDF9j19w" TargetMode="External"/><Relationship Id="rId2" Type="http://schemas.openxmlformats.org/officeDocument/2006/relationships/hyperlink" Target="https://ibm.seismic.com/Link/Content/DC9g3bhVWfTpCG7HcJg2FJh6Gq6V" TargetMode="External"/><Relationship Id="rId1" Type="http://schemas.openxmlformats.org/officeDocument/2006/relationships/slideLayout" Target="../slideLayouts/slideLayout5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ibm.biz/try-stepzen" TargetMode="External"/><Relationship Id="rId1" Type="http://schemas.openxmlformats.org/officeDocument/2006/relationships/slideLayout" Target="../slideLayouts/slideLayout4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ibm-cloud.slack.com/archives/C053J4UHF89" TargetMode="External"/><Relationship Id="rId1" Type="http://schemas.openxmlformats.org/officeDocument/2006/relationships/slideLayout" Target="../slideLayouts/slideLayout51.xml"/><Relationship Id="rId6" Type="http://schemas.openxmlformats.org/officeDocument/2006/relationships/hyperlink" Target="https://ibm.box.com/s/19c3l7h297noue94owoieyboygxdxubh" TargetMode="Externa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AEEA-5D4C-1E14-8D74-5ACD379B0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446"/>
            <a:ext cx="7347835" cy="2286496"/>
          </a:xfrm>
        </p:spPr>
        <p:txBody>
          <a:bodyPr lIns="0" tIns="0" rIns="0" bIns="0" anchor="t"/>
          <a:lstStyle/>
          <a:p>
            <a:r>
              <a:rPr lang="en-US" sz="4250" dirty="0">
                <a:solidFill>
                  <a:schemeClr val="accent1"/>
                </a:solidFill>
              </a:rPr>
              <a:t>IBM </a:t>
            </a:r>
            <a:r>
              <a:rPr lang="en-US" sz="4250" noProof="1">
                <a:solidFill>
                  <a:schemeClr val="accent1"/>
                </a:solidFill>
              </a:rPr>
              <a:t>StepZen</a:t>
            </a:r>
            <a:r>
              <a:rPr lang="en-US" sz="4250" dirty="0">
                <a:solidFill>
                  <a:schemeClr val="accent1"/>
                </a:solidFill>
              </a:rPr>
              <a:t> Graph Server </a:t>
            </a:r>
            <a:r>
              <a:rPr lang="en-US" sz="4250" dirty="0">
                <a:solidFill>
                  <a:srgbClr val="000000"/>
                </a:solidFill>
              </a:rPr>
              <a:t>Integration Talk</a:t>
            </a:r>
            <a:r>
              <a:rPr lang="en-US" sz="4250" dirty="0"/>
              <a:t> Tuesday</a:t>
            </a:r>
            <a:br>
              <a:rPr lang="en-US" sz="4250" dirty="0"/>
            </a:br>
            <a:br>
              <a:rPr lang="en-US" sz="4250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E61AA-81A7-E8F7-439F-2B630E2DEA0E}"/>
              </a:ext>
            </a:extLst>
          </p:cNvPr>
          <p:cNvSpPr txBox="1"/>
          <p:nvPr/>
        </p:nvSpPr>
        <p:spPr>
          <a:xfrm>
            <a:off x="357352" y="639029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30 May 2023</a:t>
            </a:r>
          </a:p>
        </p:txBody>
      </p:sp>
    </p:spTree>
    <p:extLst>
      <p:ext uri="{BB962C8B-B14F-4D97-AF65-F5344CB8AC3E}">
        <p14:creationId xmlns:p14="http://schemas.microsoft.com/office/powerpoint/2010/main" val="78546081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65E13-A1C4-870D-0BC6-EF956A1B5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267112"/>
            <a:ext cx="1457674" cy="48489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Agenda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DE9767-21B1-BCE8-F2D8-BF6020146BD2}"/>
              </a:ext>
            </a:extLst>
          </p:cNvPr>
          <p:cNvSpPr txBox="1"/>
          <p:nvPr/>
        </p:nvSpPr>
        <p:spPr>
          <a:xfrm>
            <a:off x="574759" y="996907"/>
            <a:ext cx="8557365" cy="381642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Intro/context (recap from last, why is </a:t>
            </a:r>
            <a:r>
              <a:rPr lang="en-US" dirty="0" err="1"/>
              <a:t>GraphQL</a:t>
            </a:r>
            <a:r>
              <a:rPr lang="en-US" dirty="0"/>
              <a:t> important?)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Use Cases (Why is this relevant to you?)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Personas (How do you know you’re talking to the right person?)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Prospecting (of my 100 accounts, who do I start with?)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Deeper Dive into what </a:t>
            </a:r>
            <a:r>
              <a:rPr lang="en-US" err="1"/>
              <a:t>StepZen</a:t>
            </a:r>
            <a:r>
              <a:rPr lang="en-US" dirty="0"/>
              <a:t> Does 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Competition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Pricing , licensing terminology and Sizing 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How to request help 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Upcoming Enablement</a:t>
            </a:r>
          </a:p>
        </p:txBody>
      </p:sp>
    </p:spTree>
    <p:extLst>
      <p:ext uri="{BB962C8B-B14F-4D97-AF65-F5344CB8AC3E}">
        <p14:creationId xmlns:p14="http://schemas.microsoft.com/office/powerpoint/2010/main" val="270461501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95152B-A654-A30A-EC8B-3C05987D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10519245" cy="4095750"/>
          </a:xfrm>
        </p:spPr>
        <p:txBody>
          <a:bodyPr/>
          <a:lstStyle/>
          <a:p>
            <a:r>
              <a:rPr lang="en-US" sz="6000" dirty="0">
                <a:solidFill>
                  <a:schemeClr val="accent1"/>
                </a:solidFill>
              </a:rPr>
              <a:t>Context</a:t>
            </a:r>
            <a:br>
              <a:rPr lang="en-US" sz="6000" dirty="0">
                <a:solidFill>
                  <a:schemeClr val="accent1"/>
                </a:solidFill>
              </a:rPr>
            </a:br>
            <a:r>
              <a:rPr lang="en-US" sz="6000" dirty="0">
                <a:solidFill>
                  <a:schemeClr val="accent1"/>
                </a:solidFill>
              </a:rPr>
              <a:t>Why does this matter?</a:t>
            </a:r>
            <a:br>
              <a:rPr lang="en-US" sz="6000" dirty="0">
                <a:solidFill>
                  <a:schemeClr val="accent1"/>
                </a:solidFill>
              </a:rPr>
            </a:br>
            <a:r>
              <a:rPr lang="en-US" sz="6000" dirty="0">
                <a:solidFill>
                  <a:schemeClr val="accent1"/>
                </a:solidFill>
              </a:rPr>
              <a:t>-Brian</a:t>
            </a:r>
            <a:br>
              <a:rPr lang="en-US" sz="6000" dirty="0">
                <a:solidFill>
                  <a:schemeClr val="accent1"/>
                </a:solidFill>
              </a:rPr>
            </a:br>
            <a:endParaRPr lang="en-US" sz="6000" dirty="0">
              <a:solidFill>
                <a:schemeClr val="accent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9AF32-5247-BF06-A8C3-F4EE7119F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4505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6BEF21-EB12-24F6-0805-8387DD2E8F39}"/>
              </a:ext>
            </a:extLst>
          </p:cNvPr>
          <p:cNvSpPr/>
          <p:nvPr/>
        </p:nvSpPr>
        <p:spPr bwMode="auto">
          <a:xfrm>
            <a:off x="5978397" y="447"/>
            <a:ext cx="6212809" cy="6857107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28" tIns="91428" rIns="91428" bIns="91428" numCol="1" rtlCol="0" anchor="t" anchorCtr="0" compatLnSpc="1">
            <a:prstTxWarp prst="textNoShape">
              <a:avLst/>
            </a:prstTxWarp>
          </a:bodyPr>
          <a:lstStyle/>
          <a:p>
            <a:pPr defTabSz="914217"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A1A5ED-2001-3C2F-7BE5-373656C4B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42993" y="6469024"/>
            <a:ext cx="61707" cy="123094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AC821B-0409-89BF-57E4-040753939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57" y="210731"/>
            <a:ext cx="3476725" cy="1511413"/>
          </a:xfrm>
        </p:spPr>
        <p:txBody>
          <a:bodyPr/>
          <a:lstStyle/>
          <a:p>
            <a:r>
              <a:rPr lang="en-US" sz="4799" dirty="0"/>
              <a:t>Opportunity:</a:t>
            </a:r>
            <a:br>
              <a:rPr lang="en-US" sz="4799" dirty="0"/>
            </a:br>
            <a:r>
              <a:rPr lang="en-US" sz="4799" dirty="0"/>
              <a:t>GraphQL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09CB81-FFF3-F985-7644-D0CC1B1CAAB7}"/>
              </a:ext>
            </a:extLst>
          </p:cNvPr>
          <p:cNvSpPr txBox="1"/>
          <p:nvPr/>
        </p:nvSpPr>
        <p:spPr>
          <a:xfrm>
            <a:off x="6127631" y="4113783"/>
            <a:ext cx="5927059" cy="1585043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4" tIns="22857" rIns="45714" bIns="22857" anchor="t">
            <a:spAutoFit/>
          </a:bodyPr>
          <a:lstStyle/>
          <a:p>
            <a:pPr marL="87295" defTabSz="685569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</a:pPr>
            <a:r>
              <a:rPr lang="en-US" dirty="0">
                <a:latin typeface="IBM Plex Sans Light"/>
                <a:cs typeface="Arial"/>
              </a:rPr>
              <a:t>GraphQL does not fall into an existing, established market but sits at intersection of 3 related markets: </a:t>
            </a:r>
            <a:endParaRPr lang="en-US" dirty="0">
              <a:latin typeface="IBM Plex Sans Light" panose="020B0403050203000203" pitchFamily="34" charset="0"/>
              <a:cs typeface="Arial" panose="020B0604020202020204" pitchFamily="34" charset="0"/>
            </a:endParaRPr>
          </a:p>
          <a:p>
            <a:pPr marL="372988" indent="-285693" defTabSz="685569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  <a:buFont typeface="Arial"/>
              <a:buChar char="•"/>
            </a:pPr>
            <a:r>
              <a:rPr lang="en-US" dirty="0">
                <a:latin typeface="IBM Plex Sans Light"/>
                <a:cs typeface="Arial"/>
              </a:rPr>
              <a:t>API Management $2.2B in ‘22 (16.7% CAGR)</a:t>
            </a:r>
          </a:p>
          <a:p>
            <a:pPr marL="372988" indent="-285693" defTabSz="685569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  <a:buFont typeface="Arial"/>
              <a:buChar char="•"/>
            </a:pPr>
            <a:r>
              <a:rPr lang="en-US" dirty="0">
                <a:latin typeface="IBM Plex Sans Light"/>
                <a:cs typeface="Arial"/>
              </a:rPr>
              <a:t>Data Integration $8.4B in ‘22 (8.5% CAGR)</a:t>
            </a:r>
          </a:p>
          <a:p>
            <a:pPr marL="372988" indent="-285693" defTabSz="685569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  <a:buFont typeface="Arial"/>
              <a:buChar char="•"/>
            </a:pPr>
            <a:r>
              <a:rPr lang="en-US" dirty="0">
                <a:latin typeface="IBM Plex Sans Light"/>
                <a:cs typeface="Arial"/>
              </a:rPr>
              <a:t>App Dev $8.9B in ‘22 (7.2% CAGR,).</a:t>
            </a:r>
            <a:r>
              <a:rPr lang="en-US" baseline="30000" dirty="0">
                <a:latin typeface="IBM Plex Sans Light"/>
                <a:cs typeface="Arial"/>
              </a:rPr>
              <a:t>3</a:t>
            </a:r>
            <a:endParaRPr lang="en-US" dirty="0">
              <a:latin typeface="IBM Plex Sans Light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B3D09E-DB32-44B8-4F42-EF0B746949F9}"/>
              </a:ext>
            </a:extLst>
          </p:cNvPr>
          <p:cNvSpPr txBox="1"/>
          <p:nvPr/>
        </p:nvSpPr>
        <p:spPr>
          <a:xfrm>
            <a:off x="0" y="6066059"/>
            <a:ext cx="6138743" cy="81047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pPr marL="117452" lvl="1" defTabSz="685569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  <a:defRPr/>
            </a:pPr>
            <a:r>
              <a:rPr lang="en-US" sz="800" dirty="0">
                <a:solidFill>
                  <a:srgbClr val="272727"/>
                </a:solidFill>
                <a:latin typeface="IBM Plex Sans Light" panose="020B0403050203000203" pitchFamily="34" charset="0"/>
                <a:cs typeface="Arial" panose="020B0604020202020204" pitchFamily="34" charset="0"/>
              </a:rPr>
              <a:t>Sources: </a:t>
            </a:r>
          </a:p>
          <a:p>
            <a:pPr marL="117452" lvl="1" defTabSz="685569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  <a:defRPr/>
            </a:pPr>
            <a:r>
              <a:rPr lang="en-US" sz="800" dirty="0">
                <a:solidFill>
                  <a:srgbClr val="272727"/>
                </a:solidFill>
                <a:latin typeface="IBM Plex Sans Light" panose="020B0403050203000203" pitchFamily="34" charset="0"/>
                <a:cs typeface="Arial" panose="020B0604020202020204" pitchFamily="34" charset="0"/>
              </a:rPr>
              <a:t>1. Gartner Predicts 2022: APIs Demand Improved Security and </a:t>
            </a:r>
            <a:r>
              <a:rPr lang="en-US" sz="800" dirty="0" err="1">
                <a:solidFill>
                  <a:srgbClr val="272727"/>
                </a:solidFill>
                <a:latin typeface="IBM Plex Sans Light" panose="020B0403050203000203" pitchFamily="34" charset="0"/>
                <a:cs typeface="Arial" panose="020B0604020202020204" pitchFamily="34" charset="0"/>
              </a:rPr>
              <a:t>Management,December</a:t>
            </a:r>
            <a:r>
              <a:rPr lang="en-US" sz="800" dirty="0">
                <a:solidFill>
                  <a:srgbClr val="272727"/>
                </a:solidFill>
                <a:latin typeface="IBM Plex Sans Light" panose="020B0403050203000203" pitchFamily="34" charset="0"/>
                <a:cs typeface="Arial" panose="020B0604020202020204" pitchFamily="34" charset="0"/>
              </a:rPr>
              <a:t> 2021;</a:t>
            </a:r>
            <a:br>
              <a:rPr lang="en-US" sz="800" dirty="0">
                <a:solidFill>
                  <a:srgbClr val="272727"/>
                </a:solidFill>
                <a:latin typeface="IBM Plex Sans Light" panose="020B0403050203000203" pitchFamily="34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rgbClr val="272727"/>
                </a:solidFill>
                <a:latin typeface="IBM Plex Sans Light" panose="020B0403050203000203" pitchFamily="34" charset="0"/>
                <a:cs typeface="Arial" panose="020B0604020202020204" pitchFamily="34" charset="0"/>
              </a:rPr>
              <a:t>2. Choosing an API Format: REST Using OpenAPI Specification, GraphQL, </a:t>
            </a:r>
            <a:r>
              <a:rPr lang="en-US" sz="800" dirty="0" err="1">
                <a:solidFill>
                  <a:srgbClr val="272727"/>
                </a:solidFill>
                <a:latin typeface="IBM Plex Sans Light" panose="020B0403050203000203" pitchFamily="34" charset="0"/>
                <a:cs typeface="Arial" panose="020B0604020202020204" pitchFamily="34" charset="0"/>
              </a:rPr>
              <a:t>gRPC</a:t>
            </a:r>
            <a:r>
              <a:rPr lang="en-US" sz="800" dirty="0">
                <a:solidFill>
                  <a:srgbClr val="272727"/>
                </a:solidFill>
                <a:latin typeface="IBM Plex Sans Light" panose="020B0403050203000203" pitchFamily="34" charset="0"/>
                <a:cs typeface="Arial" panose="020B0604020202020204" pitchFamily="34" charset="0"/>
              </a:rPr>
              <a:t> or AsyncAPI</a:t>
            </a:r>
          </a:p>
          <a:p>
            <a:pPr marL="117452" lvl="1" defTabSz="685569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  <a:defRPr/>
            </a:pPr>
            <a:r>
              <a:rPr lang="en-US" sz="800" dirty="0">
                <a:solidFill>
                  <a:srgbClr val="000000"/>
                </a:solidFill>
                <a:latin typeface="IBM Plex Sans Light" panose="020B0403050203000203" pitchFamily="34" charset="0"/>
              </a:rPr>
              <a:t>3. IDC Software Forecaster, Nov 2022 (Data Integration &amp; Intelligence, API Management and Gateways, Application Development)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D0E433-16C4-0830-F309-BA5A6EC20674}"/>
              </a:ext>
            </a:extLst>
          </p:cNvPr>
          <p:cNvSpPr txBox="1"/>
          <p:nvPr/>
        </p:nvSpPr>
        <p:spPr>
          <a:xfrm>
            <a:off x="6119693" y="600420"/>
            <a:ext cx="5934997" cy="2918742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4" tIns="22857" rIns="45714" bIns="22857" anchor="t">
            <a:spAutoFit/>
          </a:bodyPr>
          <a:lstStyle/>
          <a:p>
            <a:pPr marL="87930" defTabSz="685569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</a:pPr>
            <a:r>
              <a:rPr lang="en-US" dirty="0">
                <a:cs typeface="Arial"/>
              </a:rPr>
              <a:t>GraphQL usage is growing fast and is a good fit for connecting mobile and web user interfaces. Its use cases are also expanding to include data publication and</a:t>
            </a:r>
            <a:r>
              <a:rPr lang="en-US" b="1" dirty="0">
                <a:cs typeface="Arial"/>
              </a:rPr>
              <a:t> </a:t>
            </a:r>
            <a:r>
              <a:rPr lang="en-US" dirty="0">
                <a:cs typeface="Arial"/>
              </a:rPr>
              <a:t>normalization of diverse back-end APIs.</a:t>
            </a:r>
            <a:r>
              <a:rPr lang="en-US" baseline="30000" dirty="0">
                <a:cs typeface="Arial"/>
              </a:rPr>
              <a:t>2</a:t>
            </a:r>
            <a:endParaRPr lang="en-US" dirty="0">
              <a:cs typeface="Arial"/>
            </a:endParaRPr>
          </a:p>
          <a:p>
            <a:pPr marL="88086" defTabSz="685569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</a:pPr>
            <a:endParaRPr lang="en-US" dirty="0">
              <a:cs typeface="Arial" panose="020B0604020202020204" pitchFamily="34" charset="0"/>
            </a:endParaRPr>
          </a:p>
          <a:p>
            <a:pPr marL="87930" defTabSz="685569">
              <a:spcBef>
                <a:spcPts val="200"/>
              </a:spcBef>
              <a:spcAft>
                <a:spcPts val="200"/>
              </a:spcAft>
              <a:buClr>
                <a:srgbClr val="272727"/>
              </a:buClr>
            </a:pPr>
            <a:r>
              <a:rPr lang="en-US" dirty="0">
                <a:cs typeface="Arial"/>
              </a:rPr>
              <a:t>GraphQL APIs will also expand into data sharing and integration-centric use cases, driving demand for better native GraphQL support from business intelligence (BI), self-service analytics, integration platforms and low-code application platforms (LCAPs). 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951FD-B611-9338-70E0-0D01CB5C9D25}"/>
              </a:ext>
            </a:extLst>
          </p:cNvPr>
          <p:cNvSpPr txBox="1"/>
          <p:nvPr/>
        </p:nvSpPr>
        <p:spPr>
          <a:xfrm>
            <a:off x="-410751" y="2547372"/>
            <a:ext cx="914281" cy="914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r" defTabSz="914217" fontAlgn="base">
              <a:spcBef>
                <a:spcPct val="0"/>
              </a:spcBef>
              <a:spcAft>
                <a:spcPct val="0"/>
              </a:spcAft>
            </a:pPr>
            <a:endParaRPr lang="en-US" sz="900" dirty="0"/>
          </a:p>
          <a:p>
            <a:pPr algn="r" defTabSz="914217" fontAlgn="base">
              <a:spcBef>
                <a:spcPct val="0"/>
              </a:spcBef>
              <a:spcAft>
                <a:spcPct val="0"/>
              </a:spcAft>
            </a:pPr>
            <a:endParaRPr lang="en-US" sz="900" dirty="0"/>
          </a:p>
          <a:p>
            <a:pPr algn="r" defTabSz="914217" fontAlgn="base">
              <a:spcBef>
                <a:spcPct val="0"/>
              </a:spcBef>
              <a:spcAft>
                <a:spcPct val="0"/>
              </a:spcAft>
            </a:pPr>
            <a:endParaRPr lang="en-US" sz="900" dirty="0"/>
          </a:p>
          <a:p>
            <a:pPr algn="r" defTabSz="914217" fontAlgn="base">
              <a:spcBef>
                <a:spcPct val="0"/>
              </a:spcBef>
              <a:spcAft>
                <a:spcPct val="0"/>
              </a:spcAft>
            </a:pPr>
            <a:endParaRPr lang="en-US" sz="900" dirty="0"/>
          </a:p>
          <a:p>
            <a:pPr marL="444376" indent="-446660" defTabSz="2437912">
              <a:spcBef>
                <a:spcPts val="2899"/>
              </a:spcBef>
              <a:buSzPct val="100000"/>
              <a:buFontTx/>
              <a:buChar char="–"/>
            </a:pPr>
            <a:endParaRPr lang="en-US" sz="3599" kern="0" dirty="0">
              <a:ea typeface="+mj-ea"/>
              <a:cs typeface="+mj-cs"/>
              <a:sym typeface="IBM Plex Sans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37E60-4E51-4543-7094-C6FEBB4F0C2F}"/>
              </a:ext>
            </a:extLst>
          </p:cNvPr>
          <p:cNvSpPr txBox="1"/>
          <p:nvPr/>
        </p:nvSpPr>
        <p:spPr>
          <a:xfrm>
            <a:off x="395834" y="2263849"/>
            <a:ext cx="4546431" cy="2046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defTabSz="2437912">
              <a:spcBef>
                <a:spcPts val="2899"/>
              </a:spcBef>
              <a:buSzPct val="100000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By 2025, Gartner forecasts that more </a:t>
            </a:r>
          </a:p>
          <a:p>
            <a:pPr defTabSz="2437912">
              <a:spcBef>
                <a:spcPts val="2899"/>
              </a:spcBef>
              <a:buSzPct val="100000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than 50% of enterprises </a:t>
            </a:r>
          </a:p>
          <a:p>
            <a:pPr defTabSz="2437912">
              <a:spcBef>
                <a:spcPts val="2899"/>
              </a:spcBef>
              <a:buSzPct val="100000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will use GraphQL in production</a:t>
            </a:r>
            <a:r>
              <a:rPr lang="en-US" sz="1600" kern="0" baseline="3000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1</a:t>
            </a: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979702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287999" y="193022"/>
            <a:ext cx="10416998" cy="4857911"/>
          </a:xfrm>
          <a:prstGeom prst="rect">
            <a:avLst/>
          </a:prstGeom>
        </p:spPr>
        <p:txBody>
          <a:bodyPr spcFirstLastPara="1" wrap="square" lIns="121884" tIns="121884" rIns="121884" bIns="121884" anchor="ctr" anchorCtr="0">
            <a:normAutofit/>
          </a:bodyPr>
          <a:lstStyle/>
          <a:p>
            <a:r>
              <a:rPr lang="en" b="1" dirty="0">
                <a:latin typeface="IBM Plex Sans Light"/>
              </a:rPr>
              <a:t>Core Problem: </a:t>
            </a:r>
            <a:br>
              <a:rPr lang="en" b="1" dirty="0">
                <a:latin typeface="IBM Plex Sans Light"/>
              </a:rPr>
            </a:br>
            <a:r>
              <a:rPr lang="en" dirty="0">
                <a:latin typeface="IBM Plex Sans Light"/>
              </a:rPr>
              <a:t>Speed of app development is hindered by </a:t>
            </a:r>
            <a:r>
              <a:rPr lang="en" b="1" dirty="0">
                <a:solidFill>
                  <a:schemeClr val="accent1"/>
                </a:solidFill>
                <a:latin typeface="IBM Plex Sans Light"/>
              </a:rPr>
              <a:t>complicated service &amp; data silos</a:t>
            </a:r>
            <a:endParaRPr b="1" dirty="0">
              <a:solidFill>
                <a:schemeClr val="accent1"/>
              </a:solidFill>
              <a:latin typeface="IBM Plex Sans Light"/>
            </a:endParaRPr>
          </a:p>
        </p:txBody>
      </p:sp>
      <p:sp>
        <p:nvSpPr>
          <p:cNvPr id="63" name="Google Shape;63;p21"/>
          <p:cNvSpPr txBox="1"/>
          <p:nvPr/>
        </p:nvSpPr>
        <p:spPr>
          <a:xfrm>
            <a:off x="829619" y="4524359"/>
            <a:ext cx="7517021" cy="2092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84" tIns="121884" rIns="121884" bIns="121884" anchor="t" anchorCtr="0">
            <a:spAutoFit/>
          </a:bodyPr>
          <a:lstStyle/>
          <a:p>
            <a:r>
              <a:rPr lang="en" sz="2400" i="1" dirty="0">
                <a:ea typeface="+mn-lt"/>
                <a:cs typeface="+mn-lt"/>
              </a:rPr>
              <a:t>“Our data is scattered in multiple SAP and Oracle systems, slowing down applications that need longitudinal view of our customers.”:</a:t>
            </a:r>
            <a:r>
              <a:rPr lang="en" sz="2400" dirty="0">
                <a:ea typeface="+mn-lt"/>
                <a:cs typeface="+mn-lt"/>
              </a:rPr>
              <a:t> </a:t>
            </a:r>
            <a:r>
              <a:rPr lang="en" sz="2400" b="1" dirty="0">
                <a:ea typeface="+mn-lt"/>
                <a:cs typeface="+mn-lt"/>
              </a:rPr>
              <a:t>CTO, Fortune 500 Enterprise Cloud Company</a:t>
            </a:r>
          </a:p>
          <a:p>
            <a:endParaRPr lang="en" sz="2400" b="1" dirty="0">
              <a:latin typeface="Inter"/>
              <a:ea typeface="Inter"/>
              <a:cs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89191241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5A89-31D3-C769-71AD-38E9ADC2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446"/>
            <a:ext cx="11679287" cy="72228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How to access </a:t>
            </a:r>
            <a:r>
              <a:rPr lang="en-US" dirty="0"/>
              <a:t>diverse, complicated silos?</a:t>
            </a:r>
          </a:p>
        </p:txBody>
      </p:sp>
      <p:pic>
        <p:nvPicPr>
          <p:cNvPr id="8" name="Google Shape;81;p21">
            <a:extLst>
              <a:ext uri="{FF2B5EF4-FFF2-40B4-BE49-F238E27FC236}">
                <a16:creationId xmlns:a16="http://schemas.microsoft.com/office/drawing/2014/main" id="{FFCA7E24-C083-4691-9E17-3A1B03248A4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2668" y="944891"/>
            <a:ext cx="8246666" cy="645076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82;p21">
            <a:extLst>
              <a:ext uri="{FF2B5EF4-FFF2-40B4-BE49-F238E27FC236}">
                <a16:creationId xmlns:a16="http://schemas.microsoft.com/office/drawing/2014/main" id="{77E9EF52-359A-FFA2-3F88-A076B7542BA4}"/>
              </a:ext>
            </a:extLst>
          </p:cNvPr>
          <p:cNvSpPr/>
          <p:nvPr/>
        </p:nvSpPr>
        <p:spPr>
          <a:xfrm>
            <a:off x="4696335" y="2261620"/>
            <a:ext cx="3009747" cy="791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45707" tIns="45707" rIns="45707" bIns="45707" anchor="ctr" anchorCtr="0">
            <a:noAutofit/>
          </a:bodyPr>
          <a:lstStyle/>
          <a:p>
            <a:pPr algn="ctr"/>
            <a:r>
              <a:rPr lang="en" sz="3299" b="1" dirty="0"/>
              <a:t>?</a:t>
            </a:r>
            <a:endParaRPr sz="3299" b="1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D83B56E6-2983-FEB0-D5DB-A5ED56396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140" y="6309270"/>
            <a:ext cx="437932" cy="43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EF4C5E22-71AF-34C2-0FA7-51636660D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494" y="6309269"/>
            <a:ext cx="437933" cy="43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3F3F64-1F93-0A22-8861-EC6F4ACDD8AA}"/>
              </a:ext>
            </a:extLst>
          </p:cNvPr>
          <p:cNvSpPr txBox="1"/>
          <p:nvPr/>
        </p:nvSpPr>
        <p:spPr>
          <a:xfrm>
            <a:off x="8923009" y="4584887"/>
            <a:ext cx="621242" cy="175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ctr" defTabSz="1218956">
              <a:buSzPct val="100000"/>
            </a:pPr>
            <a:r>
              <a:rPr lang="en-US" sz="700" b="1" dirty="0">
                <a:cs typeface="Arial" panose="020B0604020202020204" pitchFamily="34" charset="0"/>
              </a:rPr>
              <a:t>GraphQL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C70B785B-E32B-2DF1-3A4E-E85138E55F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5323" y="6227637"/>
            <a:ext cx="857146" cy="43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5496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884" tIns="121884" rIns="121884" bIns="121884" anchor="ctr" anchorCtr="0">
            <a:normAutofit/>
          </a:bodyPr>
          <a:lstStyle/>
          <a:p>
            <a:r>
              <a:rPr lang="en" b="1" dirty="0">
                <a:latin typeface="IBM Plex Sans Light"/>
              </a:rPr>
              <a:t>Solution: </a:t>
            </a:r>
            <a:br>
              <a:rPr lang="en" dirty="0">
                <a:latin typeface="IBM Plex Sans Light"/>
              </a:rPr>
            </a:br>
            <a:r>
              <a:rPr lang="en" dirty="0">
                <a:latin typeface="IBM Plex Sans Light"/>
              </a:rPr>
              <a:t>A </a:t>
            </a:r>
            <a:r>
              <a:rPr lang="en" b="1" dirty="0" err="1">
                <a:solidFill>
                  <a:schemeClr val="accent1"/>
                </a:solidFill>
                <a:latin typeface="IBM Plex Sans Light"/>
              </a:rPr>
              <a:t>GraphQL</a:t>
            </a:r>
            <a:r>
              <a:rPr lang="en" b="1" dirty="0">
                <a:solidFill>
                  <a:schemeClr val="accent1"/>
                </a:solidFill>
                <a:latin typeface="IBM Plex Sans Light"/>
              </a:rPr>
              <a:t> API</a:t>
            </a:r>
            <a:r>
              <a:rPr lang="en" dirty="0">
                <a:latin typeface="IBM Plex Sans Light"/>
              </a:rPr>
              <a:t> that abstracts the backends away</a:t>
            </a:r>
            <a:endParaRPr dirty="0">
              <a:latin typeface="IBM Plex Sans Light"/>
            </a:endParaRPr>
          </a:p>
        </p:txBody>
      </p:sp>
      <p:sp>
        <p:nvSpPr>
          <p:cNvPr id="69" name="Google Shape;69;p22"/>
          <p:cNvSpPr txBox="1"/>
          <p:nvPr/>
        </p:nvSpPr>
        <p:spPr>
          <a:xfrm>
            <a:off x="829619" y="4524358"/>
            <a:ext cx="7517021" cy="1723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84" tIns="121884" rIns="121884" bIns="121884" anchor="t" anchorCtr="0">
            <a:spAutoFit/>
          </a:bodyPr>
          <a:lstStyle/>
          <a:p>
            <a:r>
              <a:rPr lang="en" sz="2400" i="1" dirty="0">
                <a:ea typeface="+mn-lt"/>
                <a:cs typeface="+mn-lt"/>
                <a:sym typeface="Inter"/>
              </a:rPr>
              <a:t>“A single GraphQL API that covers our Postgres, Salesforce and CMS systems and delivers an integrated view is what we need”</a:t>
            </a:r>
            <a:r>
              <a:rPr lang="en" sz="2200" i="1" dirty="0"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" sz="2200" dirty="0">
                <a:latin typeface="Inter"/>
                <a:ea typeface="Inter"/>
                <a:cs typeface="Inter"/>
                <a:sym typeface="Inter"/>
              </a:rPr>
              <a:t> </a:t>
            </a:r>
            <a:r>
              <a:rPr lang="en" sz="2400" b="1" dirty="0">
                <a:ea typeface="+mn-lt"/>
                <a:cs typeface="+mn-lt"/>
                <a:sym typeface="Inter"/>
              </a:rPr>
              <a:t>Development Lead, Industrial Manufacturing Company</a:t>
            </a:r>
            <a:endParaRPr lang="en-US" sz="24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463742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5A89-31D3-C769-71AD-38E9ADC2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446"/>
            <a:ext cx="12038468" cy="722282"/>
          </a:xfrm>
        </p:spPr>
        <p:txBody>
          <a:bodyPr lIns="0" tIns="0" rIns="228570" bIns="0" anchor="t"/>
          <a:lstStyle/>
          <a:p>
            <a:r>
              <a:rPr lang="en-US" dirty="0">
                <a:latin typeface="IBM Plex Sans Light"/>
              </a:rPr>
              <a:t>GraphQL APIs enable access to diverse sources</a:t>
            </a:r>
          </a:p>
        </p:txBody>
      </p:sp>
      <p:pic>
        <p:nvPicPr>
          <p:cNvPr id="8" name="Google Shape;81;p21">
            <a:extLst>
              <a:ext uri="{FF2B5EF4-FFF2-40B4-BE49-F238E27FC236}">
                <a16:creationId xmlns:a16="http://schemas.microsoft.com/office/drawing/2014/main" id="{FFCA7E24-C083-4691-9E17-3A1B03248A4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2668" y="944891"/>
            <a:ext cx="8246666" cy="645076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82;p21">
            <a:extLst>
              <a:ext uri="{FF2B5EF4-FFF2-40B4-BE49-F238E27FC236}">
                <a16:creationId xmlns:a16="http://schemas.microsoft.com/office/drawing/2014/main" id="{77E9EF52-359A-FFA2-3F88-A076B7542BA4}"/>
              </a:ext>
            </a:extLst>
          </p:cNvPr>
          <p:cNvSpPr/>
          <p:nvPr/>
        </p:nvSpPr>
        <p:spPr>
          <a:xfrm>
            <a:off x="4696335" y="2253749"/>
            <a:ext cx="3009747" cy="791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45707" tIns="45707" rIns="45707" bIns="45707" anchor="ctr" anchorCtr="0">
            <a:noAutofit/>
          </a:bodyPr>
          <a:lstStyle/>
          <a:p>
            <a:pPr algn="ctr"/>
            <a:endParaRPr sz="3299" b="1" dirty="0"/>
          </a:p>
        </p:txBody>
      </p:sp>
      <p:pic>
        <p:nvPicPr>
          <p:cNvPr id="3" name="Google Shape;93;p22">
            <a:extLst>
              <a:ext uri="{FF2B5EF4-FFF2-40B4-BE49-F238E27FC236}">
                <a16:creationId xmlns:a16="http://schemas.microsoft.com/office/drawing/2014/main" id="{DF92BF54-0E88-4145-072D-3850B394B3E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7901" y="2462978"/>
            <a:ext cx="744574" cy="6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4;p22">
            <a:extLst>
              <a:ext uri="{FF2B5EF4-FFF2-40B4-BE49-F238E27FC236}">
                <a16:creationId xmlns:a16="http://schemas.microsoft.com/office/drawing/2014/main" id="{1B4C538F-005B-1A71-495C-EA656EA2CF40}"/>
              </a:ext>
            </a:extLst>
          </p:cNvPr>
          <p:cNvSpPr txBox="1"/>
          <p:nvPr/>
        </p:nvSpPr>
        <p:spPr>
          <a:xfrm>
            <a:off x="369156" y="1392102"/>
            <a:ext cx="3627853" cy="83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7" tIns="45707" rIns="45707" bIns="45707" anchor="t" anchorCtr="0">
            <a:spAutoFit/>
          </a:bodyPr>
          <a:lstStyle/>
          <a:p>
            <a:r>
              <a:rPr lang="en" sz="1600" b="1" dirty="0">
                <a:solidFill>
                  <a:schemeClr val="accent1"/>
                </a:solidFill>
                <a:latin typeface="IBM Plex Sans Light" panose="020B0403050203000203" pitchFamily="34" charset="0"/>
                <a:ea typeface="Inter"/>
                <a:cs typeface="Inter"/>
                <a:sym typeface="Inter"/>
              </a:rPr>
              <a:t>Frontend developers love </a:t>
            </a:r>
            <a:r>
              <a:rPr lang="en" sz="1600" b="1" dirty="0" err="1">
                <a:solidFill>
                  <a:schemeClr val="accent1"/>
                </a:solidFill>
                <a:latin typeface="IBM Plex Sans Light" panose="020B0403050203000203" pitchFamily="34" charset="0"/>
                <a:ea typeface="Inter"/>
                <a:cs typeface="Inter"/>
                <a:sym typeface="Inter"/>
              </a:rPr>
              <a:t>GraphQL</a:t>
            </a:r>
            <a:r>
              <a:rPr lang="en" sz="1600" b="1" dirty="0">
                <a:latin typeface="IBM Plex Sans Light" panose="020B0403050203000203" pitchFamily="34" charset="0"/>
                <a:ea typeface="Inter"/>
                <a:cs typeface="Inter"/>
                <a:sym typeface="Inter"/>
              </a:rPr>
              <a:t>:</a:t>
            </a:r>
            <a:br>
              <a:rPr lang="en" sz="1600" dirty="0">
                <a:latin typeface="IBM Plex Sans Light" panose="020B0403050203000203" pitchFamily="34" charset="0"/>
                <a:ea typeface="Inter"/>
                <a:cs typeface="Inter"/>
                <a:sym typeface="Inter"/>
              </a:rPr>
            </a:br>
            <a:r>
              <a:rPr lang="en" sz="1600" dirty="0">
                <a:latin typeface="IBM Plex Sans Light" panose="020B0403050203000203" pitchFamily="34" charset="0"/>
                <a:ea typeface="Inter"/>
                <a:cs typeface="Inter"/>
                <a:sym typeface="Inter"/>
              </a:rPr>
              <a:t>- Very easy to consume</a:t>
            </a:r>
            <a:endParaRPr sz="1600" dirty="0">
              <a:latin typeface="IBM Plex Sans Light" panose="020B0403050203000203" pitchFamily="34" charset="0"/>
              <a:ea typeface="Inter"/>
              <a:cs typeface="Inter"/>
              <a:sym typeface="Inter"/>
            </a:endParaRPr>
          </a:p>
          <a:p>
            <a:r>
              <a:rPr lang="en" sz="1600" dirty="0">
                <a:latin typeface="IBM Plex Sans Light" panose="020B0403050203000203" pitchFamily="34" charset="0"/>
                <a:ea typeface="Inter"/>
                <a:cs typeface="Inter"/>
                <a:sym typeface="Inter"/>
              </a:rPr>
              <a:t>- All backends get abstracted away</a:t>
            </a:r>
            <a:endParaRPr sz="1600" dirty="0">
              <a:latin typeface="IBM Plex Sans Light" panose="020B0403050203000203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AC3DF2A5-8092-8655-8BB7-D48F75555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140" y="6309270"/>
            <a:ext cx="437932" cy="43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327ECF-74F6-D9E2-45FB-79C219C46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494" y="6309269"/>
            <a:ext cx="437933" cy="43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93B58B-6137-B0AF-0756-528BE40C893A}"/>
              </a:ext>
            </a:extLst>
          </p:cNvPr>
          <p:cNvSpPr txBox="1"/>
          <p:nvPr/>
        </p:nvSpPr>
        <p:spPr>
          <a:xfrm>
            <a:off x="5939567" y="2287154"/>
            <a:ext cx="621242" cy="175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ctr" defTabSz="1218956">
              <a:buSzPct val="100000"/>
            </a:pPr>
            <a:r>
              <a:rPr lang="en-US" sz="1200" b="1" dirty="0">
                <a:cs typeface="Arial" panose="020B0604020202020204" pitchFamily="34" charset="0"/>
              </a:rPr>
              <a:t>GraphQL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8FEE8A-1CC9-1C0F-79A7-845F530E430B}"/>
              </a:ext>
            </a:extLst>
          </p:cNvPr>
          <p:cNvSpPr txBox="1"/>
          <p:nvPr/>
        </p:nvSpPr>
        <p:spPr>
          <a:xfrm>
            <a:off x="8923009" y="4584887"/>
            <a:ext cx="621242" cy="175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ctr" defTabSz="1218956">
              <a:buSzPct val="100000"/>
            </a:pPr>
            <a:r>
              <a:rPr lang="en-US" sz="700" b="1" dirty="0">
                <a:cs typeface="Arial" panose="020B0604020202020204" pitchFamily="34" charset="0"/>
              </a:rPr>
              <a:t>GraphQL</a:t>
            </a:r>
          </a:p>
        </p:txBody>
      </p:sp>
      <p:sp>
        <p:nvSpPr>
          <p:cNvPr id="12" name="Google Shape;94;p22">
            <a:extLst>
              <a:ext uri="{FF2B5EF4-FFF2-40B4-BE49-F238E27FC236}">
                <a16:creationId xmlns:a16="http://schemas.microsoft.com/office/drawing/2014/main" id="{78256DA8-2BF0-7820-3620-90F0C8CD7E20}"/>
              </a:ext>
            </a:extLst>
          </p:cNvPr>
          <p:cNvSpPr txBox="1"/>
          <p:nvPr/>
        </p:nvSpPr>
        <p:spPr>
          <a:xfrm>
            <a:off x="8494105" y="1390291"/>
            <a:ext cx="3627853" cy="132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7" tIns="45707" rIns="45707" bIns="45707" anchor="t" anchorCtr="0">
            <a:spAutoFit/>
          </a:bodyPr>
          <a:lstStyle/>
          <a:p>
            <a:pPr lvl="0"/>
            <a:r>
              <a:rPr lang="en-US" sz="1600" b="1" dirty="0">
                <a:solidFill>
                  <a:schemeClr val="accent1"/>
                </a:solidFill>
                <a:latin typeface="IBM Plex Sans Light"/>
                <a:ea typeface="Inter"/>
                <a:cs typeface="Inter"/>
                <a:sym typeface="Inter"/>
              </a:rPr>
              <a:t>Backend developers like GraphQL</a:t>
            </a:r>
            <a:r>
              <a:rPr lang="en" sz="1600" b="1" dirty="0">
                <a:latin typeface="IBM Plex Sans Light"/>
                <a:ea typeface="Inter"/>
                <a:cs typeface="Inter"/>
                <a:sym typeface="Inter"/>
              </a:rPr>
              <a:t>:</a:t>
            </a:r>
            <a:br>
              <a:rPr lang="en" sz="1600" dirty="0">
                <a:latin typeface="IBM Plex Sans Light" panose="020B0403050203000203" pitchFamily="34" charset="0"/>
                <a:ea typeface="Inter"/>
                <a:cs typeface="Inter"/>
              </a:rPr>
            </a:br>
            <a:r>
              <a:rPr lang="en" sz="1600" dirty="0">
                <a:latin typeface="IBM Plex Sans Light"/>
                <a:ea typeface="Inter"/>
                <a:cs typeface="Inter"/>
                <a:sym typeface="Inter"/>
              </a:rPr>
              <a:t>- Lets everyone move faster</a:t>
            </a:r>
          </a:p>
          <a:p>
            <a:pPr lvl="0"/>
            <a:r>
              <a:rPr lang="en" sz="1600" dirty="0">
                <a:latin typeface="IBM Plex Sans Light" panose="020B0403050203000203" pitchFamily="34" charset="0"/>
                <a:ea typeface="Inter"/>
                <a:cs typeface="Inter"/>
                <a:sym typeface="Inter"/>
              </a:rPr>
              <a:t>- </a:t>
            </a:r>
            <a:r>
              <a:rPr lang="en" sz="1600" b="1" dirty="0">
                <a:solidFill>
                  <a:schemeClr val="accent1"/>
                </a:solidFill>
                <a:latin typeface="IBM Plex Sans Light" panose="020B0403050203000203" pitchFamily="34" charset="0"/>
                <a:ea typeface="Inter"/>
                <a:cs typeface="Inter"/>
                <a:sym typeface="Inter"/>
              </a:rPr>
              <a:t>But struggle with success:</a:t>
            </a:r>
          </a:p>
          <a:p>
            <a:pPr lvl="0"/>
            <a:r>
              <a:rPr lang="en" sz="1600" dirty="0">
                <a:latin typeface="IBM Plex Sans Light" panose="020B0403050203000203" pitchFamily="34" charset="0"/>
                <a:ea typeface="Inter"/>
                <a:cs typeface="Inter"/>
                <a:sym typeface="Inter"/>
              </a:rPr>
              <a:t>   - skills</a:t>
            </a:r>
          </a:p>
          <a:p>
            <a:pPr lvl="0"/>
            <a:r>
              <a:rPr lang="en" sz="1600" dirty="0">
                <a:latin typeface="IBM Plex Sans Light" panose="020B0403050203000203" pitchFamily="34" charset="0"/>
                <a:ea typeface="Inter"/>
                <a:cs typeface="Inter"/>
                <a:sym typeface="Inter"/>
              </a:rPr>
              <a:t>   - scale, support and maintenance</a:t>
            </a:r>
            <a:endParaRPr sz="1600" dirty="0">
              <a:latin typeface="IBM Plex Sans Light" panose="020B0403050203000203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D01A3E55-78F8-2AD6-A247-AF46970DC7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4432" y="6122378"/>
            <a:ext cx="977718" cy="54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247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Placeholder 1">
            <a:extLst>
              <a:ext uri="{FF2B5EF4-FFF2-40B4-BE49-F238E27FC236}">
                <a16:creationId xmlns:a16="http://schemas.microsoft.com/office/drawing/2014/main" id="{D6574622-0AB1-A226-ED0F-F9C949BFB3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288037"/>
            <a:ext cx="5049180" cy="285751"/>
          </a:xfrm>
        </p:spPr>
        <p:txBody>
          <a:bodyPr/>
          <a:lstStyle/>
          <a:p>
            <a:endParaRPr lang="en-US"/>
          </a:p>
        </p:txBody>
      </p:sp>
      <p:sp>
        <p:nvSpPr>
          <p:cNvPr id="228" name="Google Shape;228;p50"/>
          <p:cNvSpPr txBox="1">
            <a:spLocks noGrp="1"/>
          </p:cNvSpPr>
          <p:nvPr>
            <p:ph type="title"/>
          </p:nvPr>
        </p:nvSpPr>
        <p:spPr>
          <a:xfrm>
            <a:off x="287999" y="763524"/>
            <a:ext cx="5049180" cy="4668837"/>
          </a:xfrm>
        </p:spPr>
        <p:txBody>
          <a:bodyPr spcFirstLastPara="1" lIns="121900" tIns="121900" rIns="121900" bIns="121900" anchorCtr="0">
            <a:normAutofit/>
          </a:bodyPr>
          <a:lstStyle/>
          <a:p>
            <a:r>
              <a:rPr lang="en"/>
              <a:t>Use Cases</a:t>
            </a:r>
            <a:endParaRPr lang="en-US"/>
          </a:p>
        </p:txBody>
      </p:sp>
      <p:pic>
        <p:nvPicPr>
          <p:cNvPr id="3" name="Picture Placeholder 2" descr="A picture containing screenshot, colorfulness, blue, electric blue&#10;&#10;Description automatically generated">
            <a:extLst>
              <a:ext uri="{FF2B5EF4-FFF2-40B4-BE49-F238E27FC236}">
                <a16:creationId xmlns:a16="http://schemas.microsoft.com/office/drawing/2014/main" id="{8FF74C04-5D3C-D8CF-FA27-26B1345B4FF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6077" r="6077"/>
          <a:stretch>
            <a:fillRect/>
          </a:stretch>
        </p:blipFill>
        <p:spPr>
          <a:xfrm>
            <a:off x="6381751" y="285751"/>
            <a:ext cx="5522383" cy="6286500"/>
          </a:xfr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5CB06-4745-98AB-E78D-0A5364E25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General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26644-21E7-DD26-B8FB-D84F22B8C3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Anywhere a web API and JSON might be used, GraphQL can be used.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D77C59-4239-3B47-87C0-28B8ED7160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However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F2BD92-225C-DEBF-C02F-3F837CFA5A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JSON and web APIs are not the best choice for everything.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9AF32-5247-BF06-A8C3-F4EE7119F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7597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machine in a room">
            <a:extLst>
              <a:ext uri="{FF2B5EF4-FFF2-40B4-BE49-F238E27FC236}">
                <a16:creationId xmlns:a16="http://schemas.microsoft.com/office/drawing/2014/main" id="{72CA1FF5-6177-6677-D5B9-35807F141EC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3054" r="9092" b="3"/>
          <a:stretch/>
        </p:blipFill>
        <p:spPr>
          <a:xfrm>
            <a:off x="296098" y="284958"/>
            <a:ext cx="5523781" cy="6287293"/>
          </a:xfr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01239E5-B253-E892-F5C0-0EA6422E9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9415" y="192023"/>
            <a:ext cx="5049879" cy="5624343"/>
          </a:xfrm>
        </p:spPr>
        <p:txBody>
          <a:bodyPr/>
          <a:lstStyle/>
          <a:p>
            <a:r>
              <a:rPr lang="en-US" sz="3733" dirty="0"/>
              <a:t>Technology Equipment Manufacturer</a:t>
            </a:r>
            <a:br>
              <a:rPr lang="en-US" sz="3733" dirty="0"/>
            </a:br>
            <a:br>
              <a:rPr lang="en-US" sz="2133" dirty="0"/>
            </a:br>
            <a:r>
              <a:rPr lang="en-US" sz="2133" dirty="0"/>
              <a:t>- GraphQL on Cloud Database to combine with GraphQL CMS for web content delivery</a:t>
            </a:r>
            <a:br>
              <a:rPr lang="en-US" sz="2133" dirty="0"/>
            </a:br>
            <a:br>
              <a:rPr lang="en-US" sz="2133" dirty="0"/>
            </a:br>
            <a:r>
              <a:rPr lang="en-US" sz="2133" dirty="0"/>
              <a:t>- Rapid development and success lead to adding CRM data to the API</a:t>
            </a:r>
            <a:br>
              <a:rPr lang="en-US" sz="2133" dirty="0"/>
            </a:br>
            <a:br>
              <a:rPr lang="en-US" sz="2133" dirty="0"/>
            </a:br>
            <a:r>
              <a:rPr lang="en-US" sz="2133" dirty="0"/>
              <a:t>- “Curation” of third party GraphQL APIs to improve usability and product fit with their GraphQL API design patterns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9DEF52-B45B-2467-91BD-2DD4591BA292}"/>
              </a:ext>
            </a:extLst>
          </p:cNvPr>
          <p:cNvSpPr txBox="1"/>
          <p:nvPr/>
        </p:nvSpPr>
        <p:spPr>
          <a:xfrm>
            <a:off x="287300" y="1420535"/>
            <a:ext cx="5523781" cy="4049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592605" indent="-595650" defTabSz="3251119">
              <a:spcBef>
                <a:spcPts val="3867"/>
              </a:spcBef>
              <a:buSzPct val="100000"/>
              <a:buFontTx/>
              <a:buChar char="–"/>
            </a:pPr>
            <a:endParaRPr lang="en-US" sz="24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33135931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01239E5-B253-E892-F5C0-0EA6422E9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3"/>
            <a:ext cx="5049879" cy="5624343"/>
          </a:xfrm>
        </p:spPr>
        <p:txBody>
          <a:bodyPr/>
          <a:lstStyle/>
          <a:p>
            <a:r>
              <a:rPr lang="en-US" sz="3733" dirty="0"/>
              <a:t>Technology Provider</a:t>
            </a:r>
            <a:br>
              <a:rPr lang="en-US" sz="3733" dirty="0"/>
            </a:br>
            <a:br>
              <a:rPr lang="en-US" sz="2133" dirty="0"/>
            </a:br>
            <a:r>
              <a:rPr lang="en-US" sz="2133" dirty="0"/>
              <a:t>- Standardized on GraphQL for both external API capability and internal development</a:t>
            </a:r>
            <a:br>
              <a:rPr lang="en-US" sz="2133" dirty="0"/>
            </a:br>
            <a:br>
              <a:rPr lang="en-US" sz="2133" dirty="0"/>
            </a:br>
            <a:r>
              <a:rPr lang="en-US" sz="2133" dirty="0"/>
              <a:t>- Multiple enterprise systems including SAP</a:t>
            </a:r>
            <a:br>
              <a:rPr lang="en-US" sz="2133" dirty="0"/>
            </a:br>
            <a:br>
              <a:rPr lang="en-US" sz="2133" dirty="0"/>
            </a:br>
            <a:r>
              <a:rPr lang="en-US" sz="2133" dirty="0"/>
              <a:t>- Improved usability of APIs along with simplifying the cross-domain view of the company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2CA1FF5-6177-6677-D5B9-35807F141EC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6072" r="6072"/>
          <a:stretch/>
        </p:blipFill>
        <p:spPr>
          <a:xfrm>
            <a:off x="6380919" y="284958"/>
            <a:ext cx="5523781" cy="6287293"/>
          </a:xfr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9DEF52-B45B-2467-91BD-2DD4591BA292}"/>
              </a:ext>
            </a:extLst>
          </p:cNvPr>
          <p:cNvSpPr txBox="1"/>
          <p:nvPr/>
        </p:nvSpPr>
        <p:spPr>
          <a:xfrm>
            <a:off x="287300" y="1420535"/>
            <a:ext cx="5523781" cy="4049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592605" indent="-595650" defTabSz="3251119">
              <a:spcBef>
                <a:spcPts val="3867"/>
              </a:spcBef>
              <a:buSzPct val="100000"/>
              <a:buFontTx/>
              <a:buChar char="–"/>
            </a:pPr>
            <a:endParaRPr lang="en-US" sz="24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4940531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01239E5-B253-E892-F5C0-0EA6422E9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5191" y="192023"/>
            <a:ext cx="5049879" cy="5624343"/>
          </a:xfrm>
        </p:spPr>
        <p:txBody>
          <a:bodyPr/>
          <a:lstStyle/>
          <a:p>
            <a:r>
              <a:rPr lang="en-US" sz="3733" dirty="0"/>
              <a:t>IT Services Company</a:t>
            </a:r>
            <a:br>
              <a:rPr lang="en-US" sz="3733" dirty="0"/>
            </a:br>
            <a:br>
              <a:rPr lang="en-US" sz="2133" dirty="0"/>
            </a:br>
            <a:r>
              <a:rPr lang="en-US" sz="2133" dirty="0"/>
              <a:t>- GraphQL on Data Warehouse knowledge</a:t>
            </a:r>
            <a:br>
              <a:rPr lang="en-US" sz="2133" dirty="0"/>
            </a:br>
            <a:br>
              <a:rPr lang="en-US" sz="2133" dirty="0"/>
            </a:br>
            <a:r>
              <a:rPr lang="en-US" sz="2133" dirty="0"/>
              <a:t>- Combined with CRM and other revenue recognition systems</a:t>
            </a:r>
            <a:br>
              <a:rPr lang="en-US" sz="2133" dirty="0"/>
            </a:br>
            <a:br>
              <a:rPr lang="en-US" sz="2133" dirty="0"/>
            </a:br>
            <a:r>
              <a:rPr lang="en-US" sz="2133" dirty="0"/>
              <a:t>- GraphQL API made web development easy without requiring deep knowledge of back end systems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2CA1FF5-6177-6677-D5B9-35807F141EC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6072" r="6072"/>
          <a:stretch/>
        </p:blipFill>
        <p:spPr>
          <a:xfrm>
            <a:off x="284912" y="284958"/>
            <a:ext cx="5523781" cy="6287293"/>
          </a:xfr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9DEF52-B45B-2467-91BD-2DD4591BA292}"/>
              </a:ext>
            </a:extLst>
          </p:cNvPr>
          <p:cNvSpPr txBox="1"/>
          <p:nvPr/>
        </p:nvSpPr>
        <p:spPr>
          <a:xfrm>
            <a:off x="287300" y="1420535"/>
            <a:ext cx="5523781" cy="4049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592605" indent="-595650" defTabSz="3251119">
              <a:spcBef>
                <a:spcPts val="3867"/>
              </a:spcBef>
              <a:buSzPct val="100000"/>
              <a:buFontTx/>
              <a:buChar char="–"/>
            </a:pPr>
            <a:endParaRPr lang="en-US" sz="24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5543309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01239E5-B253-E892-F5C0-0EA6422E9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3"/>
            <a:ext cx="5049879" cy="5624343"/>
          </a:xfrm>
        </p:spPr>
        <p:txBody>
          <a:bodyPr/>
          <a:lstStyle/>
          <a:p>
            <a:r>
              <a:rPr lang="en-US" sz="3733" dirty="0"/>
              <a:t>Digital Marketing Agency</a:t>
            </a:r>
            <a:br>
              <a:rPr lang="en-US" sz="3733" dirty="0"/>
            </a:br>
            <a:br>
              <a:rPr lang="en-US" sz="2133" dirty="0"/>
            </a:br>
            <a:r>
              <a:rPr lang="en-US" sz="2133" dirty="0"/>
              <a:t>- GraphQL on Third party REST API</a:t>
            </a:r>
            <a:br>
              <a:rPr lang="en-US" sz="2133" dirty="0"/>
            </a:br>
            <a:br>
              <a:rPr lang="en-US" sz="2133" dirty="0"/>
            </a:br>
            <a:r>
              <a:rPr lang="en-US" sz="2133" dirty="0"/>
              <a:t>- Backend-for-Frontend (BFF) pattern for internal applications</a:t>
            </a:r>
            <a:br>
              <a:rPr lang="en-US" sz="2133" dirty="0"/>
            </a:br>
            <a:br>
              <a:rPr lang="en-US" sz="2133" dirty="0"/>
            </a:br>
            <a:r>
              <a:rPr lang="en-US" sz="2133" dirty="0"/>
              <a:t>- Simplified a complex API and ensured only necessary data was available</a:t>
            </a:r>
            <a:br>
              <a:rPr lang="en-US" sz="2133" dirty="0"/>
            </a:br>
            <a:br>
              <a:rPr lang="en-US" sz="2133" dirty="0"/>
            </a:br>
            <a:r>
              <a:rPr lang="en-US" sz="2133" dirty="0"/>
              <a:t>- Migrated third party providers without API disruption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2CA1FF5-6177-6677-D5B9-35807F141EC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6072" r="6072"/>
          <a:stretch/>
        </p:blipFill>
        <p:spPr>
          <a:xfrm>
            <a:off x="6380919" y="284958"/>
            <a:ext cx="5523781" cy="6287293"/>
          </a:xfr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9DEF52-B45B-2467-91BD-2DD4591BA292}"/>
              </a:ext>
            </a:extLst>
          </p:cNvPr>
          <p:cNvSpPr txBox="1"/>
          <p:nvPr/>
        </p:nvSpPr>
        <p:spPr>
          <a:xfrm>
            <a:off x="287300" y="1420535"/>
            <a:ext cx="5523781" cy="4049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592605" indent="-595650" defTabSz="3251119">
              <a:spcBef>
                <a:spcPts val="3867"/>
              </a:spcBef>
              <a:buSzPct val="100000"/>
              <a:buFontTx/>
              <a:buChar char="–"/>
            </a:pPr>
            <a:endParaRPr lang="en-US" sz="24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9589940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95152B-A654-A30A-EC8B-3C05987D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10519245" cy="4095750"/>
          </a:xfrm>
        </p:spPr>
        <p:txBody>
          <a:bodyPr/>
          <a:lstStyle/>
          <a:p>
            <a:r>
              <a:rPr lang="en-US" sz="6000" dirty="0">
                <a:solidFill>
                  <a:schemeClr val="accent1"/>
                </a:solidFill>
              </a:rPr>
              <a:t>Personas</a:t>
            </a:r>
            <a:br>
              <a:rPr lang="en-US" sz="6000" dirty="0">
                <a:solidFill>
                  <a:schemeClr val="accent1"/>
                </a:solidFill>
              </a:rPr>
            </a:br>
            <a:r>
              <a:rPr lang="en-US" sz="6000" dirty="0">
                <a:solidFill>
                  <a:schemeClr val="accent1"/>
                </a:solidFill>
              </a:rPr>
              <a:t> - Carlos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9AF32-5247-BF06-A8C3-F4EE7119F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79328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F9B4-37B4-2710-89F6-001B0457A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1776984"/>
          </a:xfrm>
        </p:spPr>
        <p:txBody>
          <a:bodyPr/>
          <a:lstStyle/>
          <a:p>
            <a:r>
              <a:rPr lang="en-US" sz="6000" dirty="0"/>
              <a:t>Am I talking to the right person?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0148DB-B712-8405-361A-8F8F50179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B4F23C-F32D-EB55-D7B5-AF7AFC86FE7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17C147-7B45-5D01-B806-C4BC438361B0}"/>
              </a:ext>
            </a:extLst>
          </p:cNvPr>
          <p:cNvSpPr txBox="1"/>
          <p:nvPr/>
        </p:nvSpPr>
        <p:spPr>
          <a:xfrm>
            <a:off x="390144" y="2840736"/>
            <a:ext cx="4267200" cy="304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The </a:t>
            </a:r>
            <a:r>
              <a:rPr lang="en-US" sz="2000" b="1" u="sng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decision maker </a:t>
            </a: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will be either:</a:t>
            </a:r>
          </a:p>
          <a:p>
            <a:pPr marL="342900" indent="-342900" algn="l" defTabSz="2438400">
              <a:spcBef>
                <a:spcPts val="2900"/>
              </a:spcBef>
              <a:buSzPct val="100000"/>
              <a:buAutoNum type="arabicPeriod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At the intersection of multiple departments and struggling with that complexity or</a:t>
            </a:r>
          </a:p>
          <a:p>
            <a:pPr marL="342900" indent="-342900" algn="l" defTabSz="2438400">
              <a:spcBef>
                <a:spcPts val="2900"/>
              </a:spcBef>
              <a:buSzPct val="100000"/>
              <a:buAutoNum type="arabicPeriod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Feel pain right now from </a:t>
            </a:r>
            <a:r>
              <a:rPr lang="en-US" sz="2000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change requests </a:t>
            </a: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and</a:t>
            </a:r>
            <a:r>
              <a:rPr lang="en-US" sz="2000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development speed</a:t>
            </a:r>
          </a:p>
          <a:p>
            <a:pPr algn="l" defTabSz="2438400">
              <a:spcBef>
                <a:spcPts val="2900"/>
              </a:spcBef>
              <a:buSzPct val="100000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CTO, VP of Digital, VP of Mobile, lead on Integration or API, Head of Enterprise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50B75-E2FD-26B5-0302-F3D7CC55ADAF}"/>
              </a:ext>
            </a:extLst>
          </p:cNvPr>
          <p:cNvSpPr txBox="1"/>
          <p:nvPr/>
        </p:nvSpPr>
        <p:spPr>
          <a:xfrm>
            <a:off x="2377440" y="297484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91328898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F9B4-37B4-2710-89F6-001B0457A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1776984"/>
          </a:xfrm>
        </p:spPr>
        <p:txBody>
          <a:bodyPr/>
          <a:lstStyle/>
          <a:p>
            <a:r>
              <a:rPr lang="en-US" sz="6000" dirty="0"/>
              <a:t>Am I talking to the right person?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0148DB-B712-8405-361A-8F8F50179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B4F23C-F32D-EB55-D7B5-AF7AFC86FE7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17C147-7B45-5D01-B806-C4BC438361B0}"/>
              </a:ext>
            </a:extLst>
          </p:cNvPr>
          <p:cNvSpPr txBox="1"/>
          <p:nvPr/>
        </p:nvSpPr>
        <p:spPr>
          <a:xfrm>
            <a:off x="390144" y="2840736"/>
            <a:ext cx="4267200" cy="304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The </a:t>
            </a:r>
            <a:r>
              <a:rPr lang="en-US" sz="2000" b="1" u="sng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trusted advisor </a:t>
            </a: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will be:</a:t>
            </a:r>
          </a:p>
          <a:p>
            <a:pPr marL="342900" indent="-342900" algn="l" defTabSz="2438400">
              <a:spcBef>
                <a:spcPts val="2900"/>
              </a:spcBef>
              <a:buSzPct val="100000"/>
              <a:buAutoNum type="arabicPeriod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API teams</a:t>
            </a:r>
          </a:p>
          <a:p>
            <a:pPr marL="342900" indent="-342900" algn="l" defTabSz="2438400">
              <a:spcBef>
                <a:spcPts val="2900"/>
              </a:spcBef>
              <a:buSzPct val="100000"/>
              <a:buAutoNum type="arabicPeriod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Data teams</a:t>
            </a:r>
          </a:p>
          <a:p>
            <a:pPr marL="342900" indent="-342900" algn="l" defTabSz="2438400">
              <a:spcBef>
                <a:spcPts val="2900"/>
              </a:spcBef>
              <a:buSzPct val="100000"/>
              <a:buAutoNum type="arabicPeriod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Architecture groups</a:t>
            </a:r>
          </a:p>
          <a:p>
            <a:pPr algn="l" defTabSz="2438400">
              <a:spcBef>
                <a:spcPts val="2900"/>
              </a:spcBef>
              <a:buSzPct val="100000"/>
            </a:pPr>
            <a:endParaRPr lang="en-US" sz="2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50B75-E2FD-26B5-0302-F3D7CC55ADAF}"/>
              </a:ext>
            </a:extLst>
          </p:cNvPr>
          <p:cNvSpPr txBox="1"/>
          <p:nvPr/>
        </p:nvSpPr>
        <p:spPr>
          <a:xfrm>
            <a:off x="2377440" y="297484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15432238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F9B4-37B4-2710-89F6-001B0457A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1776984"/>
          </a:xfrm>
        </p:spPr>
        <p:txBody>
          <a:bodyPr/>
          <a:lstStyle/>
          <a:p>
            <a:r>
              <a:rPr lang="en-US" sz="6000" dirty="0"/>
              <a:t>Am I talking to the right person?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0148DB-B712-8405-361A-8F8F50179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B4F23C-F32D-EB55-D7B5-AF7AFC86FE7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17C147-7B45-5D01-B806-C4BC438361B0}"/>
              </a:ext>
            </a:extLst>
          </p:cNvPr>
          <p:cNvSpPr txBox="1"/>
          <p:nvPr/>
        </p:nvSpPr>
        <p:spPr>
          <a:xfrm>
            <a:off x="390144" y="2840736"/>
            <a:ext cx="4267200" cy="304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The </a:t>
            </a:r>
            <a:r>
              <a:rPr lang="en-US" sz="2000" b="1" u="sng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verticals </a:t>
            </a: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most ready:</a:t>
            </a:r>
          </a:p>
          <a:p>
            <a:pPr marL="342900" indent="-342900" algn="l" defTabSz="2438400">
              <a:spcBef>
                <a:spcPts val="2900"/>
              </a:spcBef>
              <a:buSzPct val="100000"/>
              <a:buAutoNum type="arabicPeriod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Banking/Finance</a:t>
            </a:r>
          </a:p>
          <a:p>
            <a:pPr marL="342900" indent="-342900" algn="l" defTabSz="2438400">
              <a:spcBef>
                <a:spcPts val="2900"/>
              </a:spcBef>
              <a:buSzPct val="100000"/>
              <a:buAutoNum type="arabicPeriod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Retail</a:t>
            </a:r>
          </a:p>
          <a:p>
            <a:pPr marL="342900" indent="-342900" algn="l" defTabSz="2438400">
              <a:spcBef>
                <a:spcPts val="2900"/>
              </a:spcBef>
              <a:buSzPct val="100000"/>
              <a:buAutoNum type="arabicPeriod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Logistics</a:t>
            </a:r>
          </a:p>
          <a:p>
            <a:pPr marL="342900" indent="-342900" algn="l" defTabSz="2438400">
              <a:spcBef>
                <a:spcPts val="2900"/>
              </a:spcBef>
              <a:buSzPct val="100000"/>
              <a:buAutoNum type="arabicPeriod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Any company</a:t>
            </a:r>
          </a:p>
          <a:p>
            <a:pPr algn="l" defTabSz="2438400">
              <a:spcBef>
                <a:spcPts val="2900"/>
              </a:spcBef>
              <a:buSzPct val="100000"/>
            </a:pPr>
            <a:endParaRPr lang="en-US" sz="2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50B75-E2FD-26B5-0302-F3D7CC55ADAF}"/>
              </a:ext>
            </a:extLst>
          </p:cNvPr>
          <p:cNvSpPr txBox="1"/>
          <p:nvPr/>
        </p:nvSpPr>
        <p:spPr>
          <a:xfrm>
            <a:off x="2377440" y="297484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0405387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4A3C3-C44C-8D6B-2B30-35796193E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3021"/>
            <a:ext cx="6020540" cy="953170"/>
          </a:xfrm>
        </p:spPr>
        <p:txBody>
          <a:bodyPr/>
          <a:lstStyle/>
          <a:p>
            <a:r>
              <a:rPr lang="en-US" dirty="0"/>
              <a:t>Finding Opportunities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C8DF5-8D81-E881-ECCA-01549122F34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What to listen for</a:t>
            </a:r>
          </a:p>
          <a:p>
            <a:endParaRPr lang="en-US" dirty="0"/>
          </a:p>
          <a:p>
            <a:pPr marL="285693" indent="-285693">
              <a:buFontTx/>
              <a:buChar char="-"/>
            </a:pPr>
            <a:r>
              <a:rPr lang="en-US" dirty="0"/>
              <a:t>Application modernization</a:t>
            </a:r>
          </a:p>
          <a:p>
            <a:pPr marL="285693" indent="-285693">
              <a:buFontTx/>
              <a:buChar char="-"/>
            </a:pPr>
            <a:r>
              <a:rPr lang="en-US" dirty="0"/>
              <a:t>API modernization</a:t>
            </a:r>
          </a:p>
          <a:p>
            <a:pPr marL="285693" indent="-285693">
              <a:buFontTx/>
              <a:buChar char="-"/>
            </a:pPr>
            <a:r>
              <a:rPr lang="en-US" dirty="0"/>
              <a:t>“Backend for Frontend”</a:t>
            </a:r>
          </a:p>
          <a:p>
            <a:pPr marL="285693" indent="-285693">
              <a:buFontTx/>
              <a:buChar char="-"/>
            </a:pPr>
            <a:endParaRPr lang="en-US" dirty="0"/>
          </a:p>
          <a:p>
            <a:pPr marL="285693" indent="-285693">
              <a:buFontTx/>
              <a:buChar char="-"/>
            </a:pPr>
            <a:r>
              <a:rPr lang="en-US" dirty="0"/>
              <a:t>Data modernization</a:t>
            </a:r>
          </a:p>
          <a:p>
            <a:pPr marL="285693" indent="-285693">
              <a:buFontTx/>
              <a:buChar char="-"/>
            </a:pPr>
            <a:r>
              <a:rPr lang="en-US" dirty="0"/>
              <a:t>“Data for all”</a:t>
            </a:r>
          </a:p>
          <a:p>
            <a:pPr marL="285693" indent="-285693">
              <a:buFontTx/>
              <a:buChar char="-"/>
            </a:pPr>
            <a:r>
              <a:rPr lang="en-US" dirty="0"/>
              <a:t>Democratize access to data</a:t>
            </a:r>
          </a:p>
          <a:p>
            <a:pPr marL="285693" indent="-285693">
              <a:buFontTx/>
              <a:buChar char="-"/>
            </a:pPr>
            <a:endParaRPr lang="en-US" dirty="0"/>
          </a:p>
          <a:p>
            <a:pPr marL="285693" indent="-285693">
              <a:buFontTx/>
              <a:buChar char="-"/>
            </a:pPr>
            <a:r>
              <a:rPr lang="en-US" dirty="0"/>
              <a:t>Enterprise Graph</a:t>
            </a:r>
          </a:p>
          <a:p>
            <a:pPr marL="285693" indent="-285693">
              <a:buFontTx/>
              <a:buChar char="-"/>
            </a:pPr>
            <a:r>
              <a:rPr lang="en-US" dirty="0"/>
              <a:t>Federation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B92F9-A200-E699-A3F0-FD77FBEFA11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1328615"/>
            <a:ext cx="5091258" cy="4881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Who</a:t>
            </a:r>
          </a:p>
          <a:p>
            <a:pPr marL="0" indent="0">
              <a:buNone/>
            </a:pPr>
            <a:r>
              <a:rPr lang="en-US" dirty="0"/>
              <a:t>CTO, Lead Engineer, Lead Architect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Verticals</a:t>
            </a:r>
          </a:p>
          <a:p>
            <a:pPr marL="0" indent="0">
              <a:buNone/>
            </a:pPr>
            <a:r>
              <a:rPr lang="en-US" dirty="0"/>
              <a:t>Banking/Finance, Retail, Logistics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Groups</a:t>
            </a:r>
          </a:p>
          <a:p>
            <a:r>
              <a:rPr lang="en-US" dirty="0"/>
              <a:t>API Management</a:t>
            </a:r>
          </a:p>
          <a:p>
            <a:pPr lvl="1"/>
            <a:r>
              <a:rPr lang="en-US" dirty="0"/>
              <a:t>Already using GraphQL</a:t>
            </a:r>
          </a:p>
          <a:p>
            <a:pPr lvl="1"/>
            <a:r>
              <a:rPr lang="en-US" dirty="0"/>
              <a:t>Sharing GraphQL APIs with customers and partners</a:t>
            </a:r>
          </a:p>
          <a:p>
            <a:r>
              <a:rPr lang="en-US" dirty="0"/>
              <a:t>Enterprise Architecture</a:t>
            </a:r>
          </a:p>
          <a:p>
            <a:pPr lvl="1"/>
            <a:r>
              <a:rPr lang="en-US" dirty="0"/>
              <a:t>Standardizing on GraphQL</a:t>
            </a:r>
          </a:p>
          <a:p>
            <a:pPr lvl="1"/>
            <a:r>
              <a:rPr lang="en-US" dirty="0"/>
              <a:t>GraphQL used with some teams in org</a:t>
            </a:r>
          </a:p>
          <a:p>
            <a:pPr lvl="1"/>
            <a:r>
              <a:rPr lang="en-US" dirty="0"/>
              <a:t>Creating an “enterprise graph”</a:t>
            </a:r>
          </a:p>
          <a:p>
            <a:r>
              <a:rPr lang="en-US" dirty="0"/>
              <a:t>Data Teams</a:t>
            </a:r>
          </a:p>
          <a:p>
            <a:pPr lvl="1"/>
            <a:r>
              <a:rPr lang="en-US" dirty="0"/>
              <a:t>Enabling application developers</a:t>
            </a:r>
          </a:p>
        </p:txBody>
      </p:sp>
    </p:spTree>
    <p:extLst>
      <p:ext uri="{BB962C8B-B14F-4D97-AF65-F5344CB8AC3E}">
        <p14:creationId xmlns:p14="http://schemas.microsoft.com/office/powerpoint/2010/main" val="357082633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95152B-A654-A30A-EC8B-3C05987D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10519245" cy="4095750"/>
          </a:xfrm>
        </p:spPr>
        <p:txBody>
          <a:bodyPr/>
          <a:lstStyle/>
          <a:p>
            <a:r>
              <a:rPr lang="en-US" sz="6000" dirty="0">
                <a:solidFill>
                  <a:schemeClr val="accent1"/>
                </a:solidFill>
              </a:rPr>
              <a:t>Prospecting</a:t>
            </a:r>
            <a:br>
              <a:rPr lang="en-US" sz="6000" dirty="0">
                <a:solidFill>
                  <a:schemeClr val="accent1"/>
                </a:solidFill>
              </a:rPr>
            </a:br>
            <a:r>
              <a:rPr lang="en-US" sz="6000" dirty="0">
                <a:solidFill>
                  <a:schemeClr val="accent1"/>
                </a:solidFill>
              </a:rPr>
              <a:t> - Newton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9AF32-5247-BF06-A8C3-F4EE7119F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213323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FA5B32-0CAC-8D36-2472-6FBA86E4963F}"/>
              </a:ext>
            </a:extLst>
          </p:cNvPr>
          <p:cNvSpPr/>
          <p:nvPr/>
        </p:nvSpPr>
        <p:spPr bwMode="auto">
          <a:xfrm>
            <a:off x="2788921" y="0"/>
            <a:ext cx="9403079" cy="685800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stem Font Regular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737B3-A3F4-7BA0-E55E-7494C5384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9" y="268224"/>
            <a:ext cx="2508502" cy="5726176"/>
          </a:xfrm>
        </p:spPr>
        <p:txBody>
          <a:bodyPr/>
          <a:lstStyle/>
          <a:p>
            <a:r>
              <a:rPr lang="en-US" dirty="0"/>
              <a:t>Prospecting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4A393-B068-EF0A-BF7E-99C5F739EA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22127" y="439422"/>
            <a:ext cx="8989454" cy="5383780"/>
          </a:xfrm>
        </p:spPr>
        <p:txBody>
          <a:bodyPr/>
          <a:lstStyle/>
          <a:p>
            <a:r>
              <a:rPr lang="en-US" dirty="0"/>
              <a:t>First steps on building your lead list and using key prospecting tools.</a:t>
            </a:r>
          </a:p>
          <a:p>
            <a:endParaRPr lang="en-US" sz="1400" b="1" u="sng" dirty="0"/>
          </a:p>
          <a:p>
            <a:endParaRPr lang="en-US" sz="1400" b="1" u="sng" dirty="0"/>
          </a:p>
          <a:p>
            <a:r>
              <a:rPr lang="en-US" b="1" u="sng" dirty="0"/>
              <a:t>Buyers to target: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/>
              <a:t>CxO</a:t>
            </a:r>
            <a:r>
              <a:rPr lang="en-US" sz="1400" b="1" dirty="0"/>
              <a:t>/Chief Innovation Officer/Chief Digital Officer</a:t>
            </a:r>
            <a:r>
              <a:rPr lang="en-US" sz="1400" dirty="0"/>
              <a:t>: </a:t>
            </a:r>
            <a:br>
              <a:rPr lang="en-US" sz="1400" dirty="0"/>
            </a:br>
            <a:r>
              <a:rPr lang="en-US" sz="1400" b="1" dirty="0"/>
              <a:t>What they’re looking for</a:t>
            </a:r>
            <a:r>
              <a:rPr lang="en-US" sz="1400" dirty="0"/>
              <a:t>: Cost (TCA &amp; TCO) &amp; skills in market; compliance with corporate governance and security requirements; adoption risk – balance customer like me vs. providing an innovative 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Enterprise/Data Architect</a:t>
            </a:r>
            <a:r>
              <a:rPr lang="en-US" sz="1400" dirty="0"/>
              <a:t>: </a:t>
            </a:r>
            <a:br>
              <a:rPr lang="en-US" sz="1400" dirty="0"/>
            </a:br>
            <a:r>
              <a:rPr lang="en-US" sz="1400" b="1" dirty="0"/>
              <a:t>Wants to</a:t>
            </a:r>
            <a:r>
              <a:rPr lang="en-US" sz="1400" dirty="0"/>
              <a:t>: Design, guide and build complex apps/data access across teams or companies. </a:t>
            </a:r>
            <a:br>
              <a:rPr lang="en-US" sz="1400" dirty="0"/>
            </a:br>
            <a:r>
              <a:rPr lang="en-US" sz="1400" b="1" dirty="0"/>
              <a:t>Persona Objective</a:t>
            </a:r>
            <a:r>
              <a:rPr lang="en-US" sz="1400" dirty="0"/>
              <a:t>: Sets technical strategy. </a:t>
            </a:r>
            <a:br>
              <a:rPr lang="en-US" sz="1400" dirty="0"/>
            </a:br>
            <a:r>
              <a:rPr lang="en-US" sz="1400" b="1" dirty="0"/>
              <a:t>What they’re looking for</a:t>
            </a:r>
            <a:r>
              <a:rPr lang="en-US" sz="1400" dirty="0"/>
              <a:t>: Is hands on and wants to use the tech themselves; needs to understand scaling and non-functional requirements (NFRs); will be concerned about developer productivity and user scale out; synergy with other tools already in use</a:t>
            </a:r>
          </a:p>
          <a:p>
            <a:endParaRPr lang="en-US" sz="1400" b="1" u="sng" dirty="0"/>
          </a:p>
          <a:p>
            <a:endParaRPr lang="en-US" sz="1400" b="1" u="sng" dirty="0"/>
          </a:p>
          <a:p>
            <a:r>
              <a:rPr lang="en-US" b="1" u="sng" dirty="0"/>
              <a:t>End users: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Software Developer, </a:t>
            </a:r>
            <a:r>
              <a:rPr lang="en-US" sz="1400" dirty="0"/>
              <a:t>or: Software Engineer, Application Developer, Application Engineer, Programmer Analyst, Software Development Engineer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Software Architect</a:t>
            </a:r>
            <a:r>
              <a:rPr lang="en-US" sz="1400" dirty="0"/>
              <a:t>, or: Solutions Architect, Technical Architect, Application Architect, Infrastructure Architect, IT Architect</a:t>
            </a:r>
          </a:p>
        </p:txBody>
      </p:sp>
    </p:spTree>
    <p:extLst>
      <p:ext uri="{BB962C8B-B14F-4D97-AF65-F5344CB8AC3E}">
        <p14:creationId xmlns:p14="http://schemas.microsoft.com/office/powerpoint/2010/main" val="2428747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2A93E3-0EEF-5457-9D55-1809615FA0D8}"/>
              </a:ext>
            </a:extLst>
          </p:cNvPr>
          <p:cNvSpPr/>
          <p:nvPr/>
        </p:nvSpPr>
        <p:spPr bwMode="auto">
          <a:xfrm>
            <a:off x="2788921" y="0"/>
            <a:ext cx="9403079" cy="685800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stem Font Regular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4E273-8A05-E0BE-D838-3F35F0E57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9" y="268224"/>
            <a:ext cx="2428492" cy="5726176"/>
          </a:xfrm>
        </p:spPr>
        <p:txBody>
          <a:bodyPr/>
          <a:lstStyle/>
          <a:p>
            <a:r>
              <a:rPr lang="en-US" dirty="0"/>
              <a:t>Step 3A: Learn the Problem</a:t>
            </a:r>
            <a:br>
              <a:rPr lang="en-US" dirty="0"/>
            </a:br>
            <a:br>
              <a:rPr lang="en-US" dirty="0"/>
            </a:br>
            <a:br>
              <a:rPr lang="en-US" sz="1800" dirty="0"/>
            </a:br>
            <a:r>
              <a:rPr lang="en-US" sz="1800" dirty="0"/>
              <a:t>Prepare for the first conversation you have with your prospect, whether that be a response to an email or cold call. Your goal is to book a meeting or discovery call. </a:t>
            </a:r>
            <a:br>
              <a:rPr lang="en-US" sz="1800" dirty="0"/>
            </a:br>
            <a:br>
              <a:rPr lang="en-US" sz="1800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B2BEF7-95BD-6D30-E536-C451F7BFCF84}"/>
              </a:ext>
            </a:extLst>
          </p:cNvPr>
          <p:cNvSpPr txBox="1"/>
          <p:nvPr/>
        </p:nvSpPr>
        <p:spPr>
          <a:xfrm>
            <a:off x="4047005" y="623736"/>
            <a:ext cx="749232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Core problem</a:t>
            </a:r>
            <a:r>
              <a:rPr lang="en-US" dirty="0"/>
              <a:t>: The speed of app development is hindered by complicated service &amp; data silos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Organizations need to access diverse and complicated data silos</a:t>
            </a:r>
          </a:p>
          <a:p>
            <a:endParaRPr lang="en-US" dirty="0"/>
          </a:p>
        </p:txBody>
      </p:sp>
      <p:pic>
        <p:nvPicPr>
          <p:cNvPr id="8" name="Picture 7" descr="Timeline&#10;&#10;Description automatically generated with medium confidence">
            <a:extLst>
              <a:ext uri="{FF2B5EF4-FFF2-40B4-BE49-F238E27FC236}">
                <a16:creationId xmlns:a16="http://schemas.microsoft.com/office/drawing/2014/main" id="{EF8FDC7C-F670-6977-F64E-C145B85FA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174" y="1416827"/>
            <a:ext cx="6642403" cy="43231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47880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2A93E3-0EEF-5457-9D55-1809615FA0D8}"/>
              </a:ext>
            </a:extLst>
          </p:cNvPr>
          <p:cNvSpPr/>
          <p:nvPr/>
        </p:nvSpPr>
        <p:spPr bwMode="auto">
          <a:xfrm>
            <a:off x="2788921" y="0"/>
            <a:ext cx="9403079" cy="685800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stem Font Regular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4E273-8A05-E0BE-D838-3F35F0E57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9" y="268224"/>
            <a:ext cx="2428492" cy="5726176"/>
          </a:xfrm>
        </p:spPr>
        <p:txBody>
          <a:bodyPr/>
          <a:lstStyle/>
          <a:p>
            <a:r>
              <a:rPr lang="en-US" dirty="0"/>
              <a:t>Step 1: Learn the solution</a:t>
            </a:r>
            <a:br>
              <a:rPr lang="en-US" dirty="0"/>
            </a:br>
            <a:br>
              <a:rPr lang="en-US" dirty="0"/>
            </a:br>
            <a:br>
              <a:rPr lang="en-US" sz="1800" dirty="0"/>
            </a:br>
            <a:r>
              <a:rPr lang="en-US" sz="1800" dirty="0"/>
              <a:t>Prepare for the first conversation you have with your prospect, whether that be a response to an email or cold call. Your goal is to book a meeting or discovery call. </a:t>
            </a:r>
            <a:br>
              <a:rPr lang="en-US" sz="1800" dirty="0"/>
            </a:br>
            <a:br>
              <a:rPr lang="en-US" sz="1800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AE8F8-0317-17C0-D7A8-3F97755452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2445" y="176245"/>
            <a:ext cx="8049296" cy="6317088"/>
          </a:xfrm>
        </p:spPr>
        <p:txBody>
          <a:bodyPr/>
          <a:lstStyle/>
          <a:p>
            <a:r>
              <a:rPr lang="en-US" sz="2000" dirty="0"/>
              <a:t>A GraphQL API that abstracts the backends away</a:t>
            </a:r>
          </a:p>
          <a:p>
            <a:r>
              <a:rPr lang="en-US" sz="1400" dirty="0"/>
              <a:t>StepZen is a GraphQL server with a unique architecture that helps developers build APIs fast and with less code (using declarative configurations). APIs run in an in-memory Golang-based GraphQL engine deployed into Kubernetes and are highly responsive to application needs.</a:t>
            </a:r>
          </a:p>
          <a:p>
            <a:r>
              <a:rPr lang="en-US" sz="1400" dirty="0"/>
              <a:t>With </a:t>
            </a:r>
            <a:r>
              <a:rPr lang="en-US" sz="1400" dirty="0" err="1"/>
              <a:t>StepZen’s</a:t>
            </a:r>
            <a:r>
              <a:rPr lang="en-US" sz="1400" dirty="0"/>
              <a:t> declarative approach developers can build GraphQL APIs (and federated graphs) by composing GraphQL building blocks to create the GraphQL schema. Strong introspection capabilities mean that a GraphQL model for enterprise data can be constructed and composed with only a few lines of code.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Because you build your APIs declaratively, StepZen understands the API and can make optimization decisions at runtime, delivering low latency and high throughput and imposing a minimum burden on the backends.</a:t>
            </a:r>
          </a:p>
          <a:p>
            <a:endParaRPr lang="en-US" sz="1400" dirty="0"/>
          </a:p>
          <a:p>
            <a:r>
              <a:rPr lang="en-US" sz="1400" dirty="0"/>
              <a:t>To learn more: </a:t>
            </a:r>
            <a:r>
              <a:rPr lang="en-US" sz="1400" dirty="0">
                <a:solidFill>
                  <a:srgbClr val="0F62FE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https://stepzen.com/why-stepzen</a:t>
            </a:r>
            <a:r>
              <a:rPr lang="en-US" sz="1400" dirty="0"/>
              <a:t> </a:t>
            </a:r>
            <a:endParaRPr lang="en-US" sz="1600" dirty="0"/>
          </a:p>
          <a:p>
            <a:endParaRPr lang="en-US" sz="1600" dirty="0"/>
          </a:p>
        </p:txBody>
      </p:sp>
      <p:pic>
        <p:nvPicPr>
          <p:cNvPr id="6" name="Picture 5" descr="A picture containing text, font, diagram, software&#10;&#10;Description automatically generated">
            <a:extLst>
              <a:ext uri="{FF2B5EF4-FFF2-40B4-BE49-F238E27FC236}">
                <a16:creationId xmlns:a16="http://schemas.microsoft.com/office/drawing/2014/main" id="{5431C142-8FF9-6929-77E6-6780C25DD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530" y="2197534"/>
            <a:ext cx="6662862" cy="345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98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CE8A-413F-9687-CE84-485AD37874E2}"/>
              </a:ext>
            </a:extLst>
          </p:cNvPr>
          <p:cNvSpPr/>
          <p:nvPr/>
        </p:nvSpPr>
        <p:spPr bwMode="auto">
          <a:xfrm>
            <a:off x="2788921" y="0"/>
            <a:ext cx="9403079" cy="685800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stem Font Regular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2B8C01-3400-FF29-45F3-7929A8B7E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9" y="268224"/>
            <a:ext cx="2474212" cy="5726176"/>
          </a:xfrm>
        </p:spPr>
        <p:txBody>
          <a:bodyPr/>
          <a:lstStyle/>
          <a:p>
            <a:r>
              <a:rPr lang="en-US" dirty="0"/>
              <a:t>Step 2: Prospect</a:t>
            </a:r>
            <a:br>
              <a:rPr lang="en-US" dirty="0"/>
            </a:br>
            <a:br>
              <a:rPr lang="en-US" sz="1800" dirty="0"/>
            </a:br>
            <a:r>
              <a:rPr lang="en-US" sz="1800" dirty="0"/>
              <a:t>Start Prospecting with your Targeted Lead List using the Multi-Touch Outreach provided in the following slides. </a:t>
            </a:r>
            <a:br>
              <a:rPr lang="en-US" sz="1800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23B3D-89F3-3074-36B1-526B463DED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3250" y="268224"/>
            <a:ext cx="8743950" cy="5726176"/>
          </a:xfrm>
        </p:spPr>
        <p:txBody>
          <a:bodyPr/>
          <a:lstStyle/>
          <a:p>
            <a:pPr lvl="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defRPr sz="1100" b="1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900" dirty="0">
                <a:solidFill>
                  <a:srgbClr val="0B2545"/>
                </a:solidFill>
                <a:latin typeface="IBM Plex Sans"/>
                <a:sym typeface="IBM Plex Sans"/>
              </a:rPr>
              <a:t>Prospecting Overview: </a:t>
            </a:r>
          </a:p>
          <a:p>
            <a:pPr lvl="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defRPr sz="1100" b="1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600" dirty="0">
                <a:solidFill>
                  <a:srgbClr val="0B2545"/>
                </a:solidFill>
                <a:latin typeface="IBM Plex Sans"/>
                <a:sym typeface="IBM Plex Sans"/>
                <a:hlinkClick r:id="rId2"/>
              </a:rPr>
              <a:t>Follow these steps </a:t>
            </a:r>
            <a:r>
              <a:rPr lang="en-US" sz="1600" dirty="0">
                <a:solidFill>
                  <a:srgbClr val="0B2545"/>
                </a:solidFill>
                <a:latin typeface="IBM Plex Sans"/>
                <a:sym typeface="IBM Plex Sans"/>
              </a:rPr>
              <a:t>to facilitate a multi-touch outreach that spans 9 touches to your customer. Use your best judgement and review these quick tips before starting.</a:t>
            </a: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Tx/>
              <a:buChar char="•"/>
              <a:defRPr sz="1100" b="1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600" i="1" dirty="0">
                <a:solidFill>
                  <a:srgbClr val="0B2545"/>
                </a:solidFill>
                <a:latin typeface="IBM Plex Sans"/>
                <a:sym typeface="IBM Plex Sans"/>
              </a:rPr>
              <a:t>Note: If you have a prior relationship with a customer, you may want to modify this cadence and complete 2-3 touches.</a:t>
            </a:r>
          </a:p>
          <a:p>
            <a:pPr lvl="0" defTabSz="457200" fontAlgn="auto" hangingPunct="0">
              <a:spcBef>
                <a:spcPts val="300"/>
              </a:spcBef>
              <a:spcAft>
                <a:spcPts val="0"/>
              </a:spcAft>
              <a:buClrTx/>
              <a:buSzTx/>
              <a:defRPr sz="1100" b="1">
                <a:latin typeface="IBM Plex Sans"/>
                <a:ea typeface="IBM Plex Sans"/>
                <a:cs typeface="IBM Plex Sans"/>
                <a:sym typeface="IBM Plex Sans"/>
              </a:defRPr>
            </a:pPr>
            <a:endParaRPr lang="en-US" sz="1600" dirty="0">
              <a:solidFill>
                <a:srgbClr val="0B2545"/>
              </a:solidFill>
              <a:latin typeface="IBM Plex Sans"/>
              <a:sym typeface="IBM Plex Sans"/>
            </a:endParaRPr>
          </a:p>
          <a:p>
            <a:pPr lvl="0" defTabSz="457200" fontAlgn="auto" hangingPunct="0">
              <a:spcBef>
                <a:spcPts val="300"/>
              </a:spcBef>
              <a:spcAft>
                <a:spcPts val="0"/>
              </a:spcAft>
              <a:buClrTx/>
              <a:buSzTx/>
              <a:defRPr sz="1300" b="1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900" b="1" dirty="0">
                <a:solidFill>
                  <a:srgbClr val="0B2545"/>
                </a:solidFill>
                <a:latin typeface="IBM Plex Sans"/>
                <a:sym typeface="IBM Plex Sans"/>
              </a:rPr>
              <a:t>Common Questions regarding Multi-Touch Outreach:</a:t>
            </a:r>
          </a:p>
          <a:p>
            <a:pPr lvl="0" defTabSz="457200" fontAlgn="auto" hangingPunct="0">
              <a:spcBef>
                <a:spcPts val="300"/>
              </a:spcBef>
              <a:spcAft>
                <a:spcPts val="0"/>
              </a:spcAft>
              <a:buClrTx/>
              <a:buSzTx/>
              <a:defRPr sz="1100" i="1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600" i="1" dirty="0">
                <a:solidFill>
                  <a:srgbClr val="0B2545"/>
                </a:solidFill>
                <a:latin typeface="IBM Plex Sans"/>
                <a:sym typeface="IBM Plex Sans"/>
              </a:rPr>
              <a:t>“Why engage in Multi-Touch Outreach?”</a:t>
            </a: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Tx/>
              <a:buChar char="•"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200" dirty="0">
                <a:solidFill>
                  <a:srgbClr val="0B2545"/>
                </a:solidFill>
                <a:latin typeface="IBM Plex Sans"/>
                <a:sym typeface="IBM Plex Sans"/>
              </a:rPr>
              <a:t>It is known that it takes </a:t>
            </a:r>
            <a:r>
              <a:rPr lang="en-US" sz="1200" b="1" dirty="0">
                <a:solidFill>
                  <a:srgbClr val="0B2545"/>
                </a:solidFill>
                <a:latin typeface="IBM Plex Sans"/>
                <a:sym typeface="IBM Plex Sans"/>
              </a:rPr>
              <a:t>8 touches</a:t>
            </a:r>
            <a:r>
              <a:rPr lang="en-US" sz="1200" dirty="0">
                <a:solidFill>
                  <a:srgbClr val="0B2545"/>
                </a:solidFill>
                <a:latin typeface="IBM Plex Sans"/>
                <a:sym typeface="IBM Plex Sans"/>
              </a:rPr>
              <a:t> to book a meeting with a customer you do not already have a relationship with. </a:t>
            </a: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Tx/>
              <a:buChar char="•"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pPr>
            <a:endParaRPr lang="en-US" sz="1200" dirty="0">
              <a:solidFill>
                <a:srgbClr val="0B2545"/>
              </a:solidFill>
              <a:latin typeface="IBM Plex Sans"/>
              <a:sym typeface="IBM Plex Sans"/>
            </a:endParaRPr>
          </a:p>
          <a:p>
            <a:pPr lvl="0" defTabSz="457200" fontAlgn="auto" hangingPunct="0">
              <a:spcBef>
                <a:spcPts val="300"/>
              </a:spcBef>
              <a:spcAft>
                <a:spcPts val="0"/>
              </a:spcAft>
              <a:buClrTx/>
              <a:buSzTx/>
              <a:defRPr sz="1100" i="1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600" i="1" dirty="0">
                <a:solidFill>
                  <a:srgbClr val="0B2545"/>
                </a:solidFill>
                <a:latin typeface="IBM Plex Sans"/>
                <a:sym typeface="IBM Plex Sans"/>
              </a:rPr>
              <a:t>“Why personalize my outreach?”</a:t>
            </a: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Tx/>
              <a:buChar char="•"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200" dirty="0">
                <a:solidFill>
                  <a:srgbClr val="0B2545"/>
                </a:solidFill>
                <a:latin typeface="IBM Plex Sans"/>
                <a:sym typeface="IBM Plex Sans"/>
              </a:rPr>
              <a:t>The buyer persona in B2B is more complex than ever in 2021 - </a:t>
            </a:r>
            <a:r>
              <a:rPr lang="en-US" sz="1200" b="1" dirty="0">
                <a:solidFill>
                  <a:srgbClr val="0B2545"/>
                </a:solidFill>
                <a:latin typeface="IBM Plex Sans"/>
                <a:sym typeface="IBM Plex Sans"/>
              </a:rPr>
              <a:t>90%</a:t>
            </a:r>
            <a:r>
              <a:rPr lang="en-US" sz="1200" dirty="0">
                <a:solidFill>
                  <a:srgbClr val="0B2545"/>
                </a:solidFill>
                <a:latin typeface="IBM Plex Sans"/>
                <a:sym typeface="IBM Plex Sans"/>
              </a:rPr>
              <a:t> of C-Suites ignore emails that do not have a personalized touch.</a:t>
            </a: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Tx/>
              <a:buChar char="•"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pPr>
            <a:endParaRPr lang="en-US" sz="1200" dirty="0">
              <a:solidFill>
                <a:srgbClr val="0B2545"/>
              </a:solidFill>
              <a:latin typeface="IBM Plex Sans"/>
              <a:sym typeface="IBM Plex Sans"/>
            </a:endParaRPr>
          </a:p>
          <a:p>
            <a:pPr lvl="0" defTabSz="457200" fontAlgn="auto" hangingPunct="0">
              <a:spcBef>
                <a:spcPts val="300"/>
              </a:spcBef>
              <a:spcAft>
                <a:spcPts val="0"/>
              </a:spcAft>
              <a:buClrTx/>
              <a:buSzTx/>
              <a:defRPr sz="1100" i="1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600" i="1" dirty="0">
                <a:solidFill>
                  <a:srgbClr val="0B2545"/>
                </a:solidFill>
                <a:latin typeface="IBM Plex Sans"/>
                <a:sym typeface="IBM Plex Sans"/>
              </a:rPr>
              <a:t>“Why should I use InMail over Email?”</a:t>
            </a: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Tx/>
              <a:buChar char="•"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200" dirty="0">
                <a:solidFill>
                  <a:srgbClr val="0B2545"/>
                </a:solidFill>
                <a:latin typeface="IBM Plex Sans"/>
                <a:sym typeface="IBM Plex Sans"/>
              </a:rPr>
              <a:t>There is a higher likelihood your email may go to your customer’s junk folder.</a:t>
            </a: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Tx/>
              <a:buChar char="•"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200" dirty="0">
                <a:solidFill>
                  <a:srgbClr val="0B2545"/>
                </a:solidFill>
                <a:latin typeface="IBM Plex Sans"/>
                <a:sym typeface="IBM Plex Sans"/>
              </a:rPr>
              <a:t>LinkedIn InMail allows for your customer to research who you are and learn that you are credible source at IBM.</a:t>
            </a: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Tx/>
              <a:buChar char="•"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200" dirty="0">
                <a:solidFill>
                  <a:srgbClr val="0B2545"/>
                </a:solidFill>
                <a:latin typeface="IBM Plex Sans"/>
                <a:sym typeface="IBM Plex Sans"/>
              </a:rPr>
              <a:t>LinkedIn will continue the conversation naturally - the more you post to your network, the more you are showing up for your customer as an SME outside of your prospecting outreach.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20243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A4BF0D-DD50-843C-9DDD-0D0CE75E76DA}"/>
              </a:ext>
            </a:extLst>
          </p:cNvPr>
          <p:cNvSpPr/>
          <p:nvPr/>
        </p:nvSpPr>
        <p:spPr bwMode="auto">
          <a:xfrm>
            <a:off x="2788921" y="0"/>
            <a:ext cx="9403079" cy="685800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stem Font Regular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63F4D-D4EF-6482-AD98-99697390B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9" y="268224"/>
            <a:ext cx="2323634" cy="5726176"/>
          </a:xfrm>
        </p:spPr>
        <p:txBody>
          <a:bodyPr/>
          <a:lstStyle/>
          <a:p>
            <a:r>
              <a:rPr lang="en-US" dirty="0"/>
              <a:t>Step 3: Prepare</a:t>
            </a:r>
            <a:br>
              <a:rPr lang="en-US" dirty="0"/>
            </a:br>
            <a:br>
              <a:rPr lang="en-US" dirty="0"/>
            </a:br>
            <a:r>
              <a:rPr lang="en-US" sz="1800" b="1" dirty="0"/>
              <a:t>Prepare for Client Conversations</a:t>
            </a:r>
            <a:br>
              <a:rPr lang="en-US" sz="1800" b="1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Your customer answered either your phone call or email, you communicated the value of StepZen, and you booked a meeting - great! 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Now, you will need to understand more about your customer and their challenges.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8DB03-32AF-6BC8-0192-143DE390EE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6755" y="268224"/>
            <a:ext cx="8587409" cy="6308803"/>
          </a:xfrm>
        </p:spPr>
        <p:txBody>
          <a:bodyPr/>
          <a:lstStyle/>
          <a:p>
            <a:pPr>
              <a:spcBef>
                <a:spcPct val="0"/>
              </a:spcBef>
              <a:buClrTx/>
              <a:buSzTx/>
            </a:pPr>
            <a:r>
              <a:rPr lang="en-US" sz="1600" b="1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Questions to ask </a:t>
            </a:r>
            <a:r>
              <a:rPr lang="en-US" sz="16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when they pick up the phone:</a:t>
            </a:r>
          </a:p>
          <a:p>
            <a:pPr marL="228600" indent="-2286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sz="1100" b="1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(In the context of integration/APIs/</a:t>
            </a:r>
            <a:r>
              <a:rPr lang="en-US" sz="1100" b="1" kern="1200" dirty="0" err="1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GraphQL</a:t>
            </a:r>
            <a:r>
              <a:rPr lang="en-US" sz="1100" b="1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) What problems are you trying to solve at {{Company Name}}?</a:t>
            </a:r>
          </a:p>
          <a:p>
            <a:pPr marL="228600" indent="-2286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b="1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Problems to listen for:</a:t>
            </a:r>
          </a:p>
          <a:p>
            <a:pPr marL="457197" lvl="1" indent="-2286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 err="1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GraphQL</a:t>
            </a: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 is new. Not many teams know the best practices. Teams have varying skill sets.</a:t>
            </a:r>
          </a:p>
          <a:p>
            <a:pPr marL="457197" lvl="1" indent="-2286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dirty="0">
                <a:latin typeface="IBM Plex Sans" panose="020B0503050203000203" pitchFamily="34" charset="0"/>
              </a:rPr>
              <a:t>I need to have a working </a:t>
            </a:r>
            <a:r>
              <a:rPr lang="en-US" sz="1100" dirty="0" err="1">
                <a:latin typeface="IBM Plex Sans" panose="020B0503050203000203" pitchFamily="34" charset="0"/>
              </a:rPr>
              <a:t>GraphQL</a:t>
            </a:r>
            <a:r>
              <a:rPr lang="en-US" sz="1100" dirty="0">
                <a:latin typeface="IBM Plex Sans" panose="020B0503050203000203" pitchFamily="34" charset="0"/>
              </a:rPr>
              <a:t> API fast.</a:t>
            </a:r>
          </a:p>
          <a:p>
            <a:pPr marL="457197" lvl="1" indent="-2286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Our backends are of different quality and shape, resulting in complicated code. </a:t>
            </a:r>
          </a:p>
          <a:p>
            <a:pPr marL="457197" lvl="1" indent="-2286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Optimizing </a:t>
            </a:r>
            <a:r>
              <a:rPr lang="en-US" sz="1100" kern="1200" dirty="0" err="1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GraphQL</a:t>
            </a: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 is not easy. The 1+N problem is not easy to solve.</a:t>
            </a:r>
          </a:p>
          <a:p>
            <a:pPr marL="457197" lvl="1" indent="-2286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Current Federation Architecture is complicated and requires governance and professional services.</a:t>
            </a:r>
          </a:p>
          <a:p>
            <a:pPr marL="457197" lvl="1" indent="-2286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We’re worried about API security.</a:t>
            </a:r>
          </a:p>
          <a:p>
            <a:pPr marL="457197" lvl="1" indent="-2286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Running, Scaling and Geographically deploying </a:t>
            </a:r>
            <a:r>
              <a:rPr lang="en-US" sz="1100" kern="1200" dirty="0" err="1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GraphQL</a:t>
            </a: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 requires complex deployment architectures for enterprise.</a:t>
            </a:r>
          </a:p>
          <a:p>
            <a:pPr marL="457197" lvl="1" indent="-2286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Small teams do not want to manage any infrastructure.</a:t>
            </a:r>
          </a:p>
          <a:p>
            <a:pPr>
              <a:spcBef>
                <a:spcPct val="0"/>
              </a:spcBef>
              <a:buClrTx/>
              <a:buSzTx/>
            </a:pPr>
            <a:endParaRPr lang="en-US" sz="1100" kern="1200" dirty="0">
              <a:solidFill>
                <a:srgbClr val="0B2545"/>
              </a:solidFill>
              <a:latin typeface="IBM Plex Sans" panose="020B0503050203000203" pitchFamily="34" charset="0"/>
              <a:ea typeface="ＭＳ Ｐゴシック" charset="0"/>
            </a:endParaRPr>
          </a:p>
          <a:p>
            <a:pPr>
              <a:spcBef>
                <a:spcPct val="0"/>
              </a:spcBef>
              <a:buClrTx/>
              <a:buSzTx/>
            </a:pPr>
            <a:r>
              <a:rPr lang="en-US" sz="1100" b="1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2. Follow up with </a:t>
            </a:r>
            <a:r>
              <a:rPr lang="en-US" sz="1100" b="1" kern="1200" dirty="0" err="1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StepZen’s</a:t>
            </a:r>
            <a:r>
              <a:rPr lang="en-US" sz="1100" b="1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 unique selling points (what StepZen does better):</a:t>
            </a:r>
          </a:p>
          <a:p>
            <a:pPr marL="171450" indent="-1714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StepZen incorporates the best practices of APIs and GraphQL in its product. StepZen takes a low code, configuration driven approach, leaving the hard parts of optimizing, scaling and securing to the platform.</a:t>
            </a:r>
          </a:p>
          <a:p>
            <a:pPr marL="171450" indent="-1714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StepZen converts any shaped backend into a consistent, scalable GraphQL API. Creating Backend-for-Frontends (BFFs) is very easy in StepZen.</a:t>
            </a:r>
          </a:p>
          <a:p>
            <a:pPr marL="171450" indent="-1714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Building APIs declaratively in StepZen lets IBM handle the optimization for you. </a:t>
            </a:r>
          </a:p>
          <a:p>
            <a:pPr marL="171450" indent="-1714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 err="1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StepZen's</a:t>
            </a: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 federation model is extremely simple, and consistent with the how you build subgraphs.</a:t>
            </a:r>
          </a:p>
          <a:p>
            <a:pPr marL="171450" indent="-1714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Declarative approaches to securing your API while maintaining backend controls.</a:t>
            </a:r>
          </a:p>
          <a:p>
            <a:pPr marL="171450" indent="-1714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sz="1100" kern="1200" dirty="0">
              <a:solidFill>
                <a:srgbClr val="0B2545"/>
              </a:solidFill>
              <a:latin typeface="IBM Plex Sans" panose="020B0503050203000203" pitchFamily="34" charset="0"/>
              <a:ea typeface="ＭＳ Ｐゴシック" charset="0"/>
            </a:endParaRPr>
          </a:p>
          <a:p>
            <a:pPr>
              <a:spcBef>
                <a:spcPct val="0"/>
              </a:spcBef>
              <a:buClrTx/>
              <a:buSzTx/>
            </a:pPr>
            <a:r>
              <a:rPr lang="en-US" sz="1100" b="1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3. Be sure they know the benefits of StepZen:</a:t>
            </a:r>
          </a:p>
          <a:p>
            <a:pPr marL="171450" indent="-1714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Scaled </a:t>
            </a:r>
            <a:r>
              <a:rPr lang="en-US" sz="1100" kern="1200" dirty="0" err="1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GraphQL</a:t>
            </a: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 architectures deployed in days, not months.</a:t>
            </a:r>
          </a:p>
          <a:p>
            <a:pPr marL="171450" indent="-1714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Less custom code, saving time.</a:t>
            </a:r>
          </a:p>
          <a:p>
            <a:pPr marL="171450" indent="-1714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Easier to maintain.</a:t>
            </a:r>
          </a:p>
          <a:p>
            <a:pPr marL="171450" indent="-1714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Developers don't have to read docs or learn various protocols.</a:t>
            </a:r>
          </a:p>
          <a:p>
            <a:pPr marL="171450" indent="-1714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No need to upskill your team to modernize your infrastructure.</a:t>
            </a:r>
          </a:p>
          <a:p>
            <a:pPr marL="171450" indent="-1714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Faster to deploy, easier to scale.</a:t>
            </a:r>
          </a:p>
          <a:p>
            <a:pPr marL="171450" indent="-1714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More secure -- less risk of hacking.</a:t>
            </a:r>
          </a:p>
          <a:p>
            <a:pPr>
              <a:spcBef>
                <a:spcPct val="0"/>
              </a:spcBef>
              <a:buClrTx/>
              <a:buSzTx/>
            </a:pPr>
            <a:endParaRPr lang="en-US" sz="1100" kern="1200" dirty="0">
              <a:solidFill>
                <a:srgbClr val="0B2545"/>
              </a:solidFill>
              <a:latin typeface="IBM Plex Sans" panose="020B0503050203000203" pitchFamily="34" charset="0"/>
              <a:ea typeface="ＭＳ Ｐゴシック" charset="0"/>
            </a:endParaRPr>
          </a:p>
          <a:p>
            <a:pPr>
              <a:spcBef>
                <a:spcPct val="0"/>
              </a:spcBef>
              <a:buClrTx/>
              <a:buSzTx/>
            </a:pPr>
            <a:r>
              <a:rPr lang="en-US" sz="1100" b="1" kern="1200" dirty="0">
                <a:solidFill>
                  <a:srgbClr val="0B2545"/>
                </a:solidFill>
                <a:latin typeface="IBM Plex Sans" panose="020B0503050203000203" pitchFamily="34" charset="0"/>
                <a:ea typeface="ＭＳ Ｐゴシック" charset="0"/>
              </a:rPr>
              <a:t>Two key messages to focus on:</a:t>
            </a:r>
          </a:p>
          <a:p>
            <a:pPr marL="171450" indent="-1714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 err="1">
                <a:solidFill>
                  <a:srgbClr val="0B2545"/>
                </a:solidFill>
                <a:latin typeface="IBM Plex Sans" panose="020B0503050203000203" pitchFamily="34" charset="0"/>
                <a:ea typeface="+mn-ea"/>
              </a:rPr>
              <a:t>GraphQL</a:t>
            </a: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+mn-ea"/>
              </a:rPr>
              <a:t> is the new standard for APIs, but many companies are struggling with performance, security and scalability.</a:t>
            </a:r>
          </a:p>
          <a:p>
            <a:pPr marL="171450" indent="-1714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B2545"/>
                </a:solidFill>
                <a:latin typeface="IBM Plex Sans" panose="020B0503050203000203" pitchFamily="34" charset="0"/>
                <a:ea typeface="+mn-ea"/>
              </a:rPr>
              <a:t>Fetching data for your apps from various data sources often results in complex and hard to maintain code.</a:t>
            </a:r>
          </a:p>
          <a:p>
            <a:pPr>
              <a:spcBef>
                <a:spcPct val="0"/>
              </a:spcBef>
              <a:buClrTx/>
              <a:buSzTx/>
            </a:pPr>
            <a:endParaRPr lang="en-US" sz="1100" kern="1200" dirty="0">
              <a:solidFill>
                <a:srgbClr val="0B2545"/>
              </a:solidFill>
              <a:latin typeface="IBM Plex Sans" panose="020B0503050203000203" pitchFamily="34" charset="0"/>
              <a:ea typeface="ＭＳ Ｐゴシック" charset="0"/>
            </a:endParaRPr>
          </a:p>
          <a:p>
            <a:pPr>
              <a:spcBef>
                <a:spcPct val="0"/>
              </a:spcBef>
              <a:buClrTx/>
              <a:buSzTx/>
            </a:pPr>
            <a:endParaRPr lang="en-US" sz="1100" kern="1200" dirty="0">
              <a:solidFill>
                <a:srgbClr val="0B2545"/>
              </a:solidFill>
              <a:latin typeface="IBM Plex Sans" panose="020B0503050203000203" pitchFamily="34" charset="0"/>
              <a:ea typeface="ＭＳ Ｐゴシック" charset="0"/>
            </a:endParaRPr>
          </a:p>
          <a:p>
            <a:pPr>
              <a:spcBef>
                <a:spcPct val="0"/>
              </a:spcBef>
              <a:buClrTx/>
              <a:buSzTx/>
            </a:pPr>
            <a:endParaRPr lang="en-US" sz="1600" kern="1200" dirty="0">
              <a:solidFill>
                <a:srgbClr val="0B2545"/>
              </a:solidFill>
              <a:latin typeface="IBM Plex Sans" panose="020B0503050203000203" pitchFamily="34" charset="0"/>
              <a:ea typeface="ＭＳ Ｐゴシック" charset="0"/>
            </a:endParaRPr>
          </a:p>
          <a:p>
            <a:pPr>
              <a:spcBef>
                <a:spcPct val="0"/>
              </a:spcBef>
              <a:buClrTx/>
              <a:buSzTx/>
            </a:pPr>
            <a:endParaRPr lang="en-US" sz="1600" kern="1200" dirty="0">
              <a:solidFill>
                <a:srgbClr val="0B2545"/>
              </a:solidFill>
              <a:latin typeface="IBM Plex Sans" panose="020B0503050203000203" pitchFamily="34" charset="0"/>
              <a:ea typeface="ＭＳ Ｐゴシック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7306C6-8517-315E-F8C5-41D3A72191D2}"/>
              </a:ext>
            </a:extLst>
          </p:cNvPr>
          <p:cNvSpPr txBox="1"/>
          <p:nvPr/>
        </p:nvSpPr>
        <p:spPr>
          <a:xfrm>
            <a:off x="3642852" y="6457890"/>
            <a:ext cx="184731" cy="400110"/>
          </a:xfrm>
          <a:prstGeom prst="rect">
            <a:avLst/>
          </a:prstGeom>
          <a:noFill/>
        </p:spPr>
        <p:txBody>
          <a:bodyPr wrap="none" lIns="91440" tIns="91440" rIns="91440" bIns="91440" rtlCol="0">
            <a:spAutoFit/>
          </a:bodyPr>
          <a:lstStyle/>
          <a:p>
            <a:pPr algn="l">
              <a:spcBef>
                <a:spcPts val="1100"/>
              </a:spcBef>
            </a:pPr>
            <a:endParaRPr lang="en-US" sz="1400" dirty="0">
              <a:solidFill>
                <a:schemeClr val="tx1"/>
              </a:solidFill>
              <a:highlight>
                <a:srgbClr val="FFFF00"/>
              </a:highlight>
              <a:latin typeface="+mn-lt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854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E67511-B09D-44A4-AE33-B25AC9CE9624}"/>
              </a:ext>
            </a:extLst>
          </p:cNvPr>
          <p:cNvSpPr/>
          <p:nvPr/>
        </p:nvSpPr>
        <p:spPr bwMode="auto">
          <a:xfrm>
            <a:off x="2788921" y="0"/>
            <a:ext cx="9403079" cy="685800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stem Font Regular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316EA-798F-58DB-8E57-4C38B698E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8" y="268224"/>
            <a:ext cx="2273939" cy="5726176"/>
          </a:xfrm>
        </p:spPr>
        <p:txBody>
          <a:bodyPr/>
          <a:lstStyle/>
          <a:p>
            <a:r>
              <a:rPr lang="en-US" dirty="0"/>
              <a:t>Step 4: Follow-up</a:t>
            </a:r>
            <a:br>
              <a:rPr lang="en-US" dirty="0"/>
            </a:br>
            <a:br>
              <a:rPr lang="en-US" dirty="0"/>
            </a:br>
            <a:r>
              <a:rPr lang="en-US" sz="1800" dirty="0"/>
              <a:t>What’s Next? 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Now that you are prospecting into your territory for StepZen, take your approach a step further with some of these ideas that came directly from your IBM Colleagues.</a:t>
            </a:r>
            <a:br>
              <a:rPr lang="en-US" sz="1800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33D17-3C98-DF96-F91F-51855C4A0D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07303" y="1262689"/>
            <a:ext cx="8766313" cy="3737246"/>
          </a:xfrm>
        </p:spPr>
        <p:txBody>
          <a:bodyPr/>
          <a:lstStyle/>
          <a:p>
            <a:pPr lvl="0" defTabSz="457200" fontAlgn="auto" hangingPunct="0">
              <a:spcBef>
                <a:spcPts val="300"/>
              </a:spcBef>
              <a:spcAft>
                <a:spcPts val="0"/>
              </a:spcAft>
              <a:buClrTx/>
              <a:buSzTx/>
              <a:defRPr sz="1300" b="1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600" b="1" dirty="0">
                <a:solidFill>
                  <a:srgbClr val="0B2545"/>
                </a:solidFill>
                <a:latin typeface="IBM Plex Sans"/>
                <a:sym typeface="IBM Plex Sans"/>
              </a:rPr>
              <a:t>Consider following-up with customers via the approaches below:</a:t>
            </a: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1100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400" dirty="0">
                <a:solidFill>
                  <a:srgbClr val="0B2545"/>
                </a:solidFill>
                <a:latin typeface="IBM Plex Sans"/>
                <a:sym typeface="IBM Plex Sans"/>
              </a:rPr>
              <a:t>Create </a:t>
            </a:r>
            <a:r>
              <a:rPr lang="en-US" sz="1400" b="1" dirty="0">
                <a:solidFill>
                  <a:srgbClr val="0B2545"/>
                </a:solidFill>
                <a:latin typeface="IBM Plex Sans"/>
                <a:sym typeface="IBM Plex Sans"/>
              </a:rPr>
              <a:t>personalized videos</a:t>
            </a:r>
            <a:r>
              <a:rPr lang="en-US" sz="1400" dirty="0">
                <a:solidFill>
                  <a:srgbClr val="0B2545"/>
                </a:solidFill>
                <a:latin typeface="IBM Plex Sans"/>
                <a:sym typeface="IBM Plex Sans"/>
              </a:rPr>
              <a:t> for your customers and send the mp4 via InMail or Email. Instead of writing out your pitch or typing an answer to a complex question via email, record it and send it to them!</a:t>
            </a: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1100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400" dirty="0">
                <a:solidFill>
                  <a:srgbClr val="0B2545"/>
                </a:solidFill>
                <a:latin typeface="IBM Plex Sans"/>
                <a:sym typeface="IBM Plex Sans"/>
              </a:rPr>
              <a:t>Personalize each one of the </a:t>
            </a:r>
            <a:r>
              <a:rPr lang="en-US" sz="1400" b="1" dirty="0">
                <a:solidFill>
                  <a:srgbClr val="0B2545"/>
                </a:solidFill>
                <a:latin typeface="IBM Plex Sans"/>
                <a:sym typeface="IBM Plex Sans"/>
              </a:rPr>
              <a:t>assets </a:t>
            </a:r>
            <a:r>
              <a:rPr lang="en-US" sz="1400" dirty="0">
                <a:solidFill>
                  <a:srgbClr val="0B2545"/>
                </a:solidFill>
                <a:latin typeface="IBM Plex Sans"/>
                <a:sym typeface="IBM Plex Sans"/>
              </a:rPr>
              <a:t>you send to your customer (i.e. the Infographic, Client Facing Decks, etc.)</a:t>
            </a: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1100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400" dirty="0">
                <a:solidFill>
                  <a:srgbClr val="0B2545"/>
                </a:solidFill>
                <a:latin typeface="IBM Plex Sans"/>
                <a:sym typeface="IBM Plex Sans"/>
              </a:rPr>
              <a:t>Enhance your Social Presence by choosing your profile’s </a:t>
            </a:r>
            <a:r>
              <a:rPr lang="en-US" sz="1400" b="1" dirty="0">
                <a:solidFill>
                  <a:srgbClr val="0B2545"/>
                </a:solidFill>
                <a:latin typeface="IBM Plex Sans"/>
                <a:sym typeface="IBM Plex Sans"/>
              </a:rPr>
              <a:t>purpose</a:t>
            </a:r>
            <a:r>
              <a:rPr lang="en-US" sz="1400" i="1" dirty="0">
                <a:solidFill>
                  <a:srgbClr val="0B2545"/>
                </a:solidFill>
                <a:latin typeface="IBM Plex Sans"/>
                <a:sym typeface="IBM Plex Sans"/>
              </a:rPr>
              <a:t>. </a:t>
            </a:r>
            <a:r>
              <a:rPr lang="en-US" sz="1400" dirty="0">
                <a:solidFill>
                  <a:srgbClr val="0B2545"/>
                </a:solidFill>
                <a:latin typeface="IBM Plex Sans"/>
                <a:sym typeface="IBM Plex Sans"/>
              </a:rPr>
              <a:t>Beyond sharing each of the posts we curate for you across the portfolio, consider choosing high level topics that are meaningful to you and your expertise, and share from there.</a:t>
            </a: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1100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400" dirty="0">
                <a:solidFill>
                  <a:srgbClr val="0B2545"/>
                </a:solidFill>
                <a:latin typeface="IBM Plex Sans"/>
                <a:sym typeface="IBM Plex Sans"/>
              </a:rPr>
              <a:t>Lead with problem solving and end with product selling. Build on questions from Slide 14 to understand the requirements and challenges of your CP4I customer.</a:t>
            </a:r>
          </a:p>
          <a:p>
            <a:pPr lvl="0" defTabSz="171441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defRPr sz="1100">
                <a:latin typeface="IBM Plex Sans"/>
                <a:ea typeface="IBM Plex Sans"/>
                <a:cs typeface="IBM Plex Sans"/>
                <a:sym typeface="IBM Plex Sans"/>
              </a:defRPr>
            </a:pPr>
            <a:endParaRPr lang="en-US" sz="1400" dirty="0">
              <a:solidFill>
                <a:srgbClr val="0B2545"/>
              </a:solidFill>
              <a:latin typeface="IBM Plex Sans"/>
              <a:sym typeface="IBM Plex Sans"/>
            </a:endParaRPr>
          </a:p>
          <a:p>
            <a:pPr lvl="0" defTabSz="457200" fontAlgn="auto" hangingPunct="0">
              <a:spcBef>
                <a:spcPts val="300"/>
              </a:spcBef>
              <a:spcAft>
                <a:spcPts val="0"/>
              </a:spcAft>
              <a:buClr>
                <a:srgbClr val="0B2545"/>
              </a:buClr>
              <a:buSzTx/>
              <a:defRPr sz="1300" b="1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600" b="1" dirty="0">
                <a:solidFill>
                  <a:srgbClr val="0B2545"/>
                </a:solidFill>
                <a:latin typeface="IBM Plex Sans"/>
                <a:sym typeface="IBM Plex Sans"/>
              </a:rPr>
              <a:t>Visit our sales kit in Seismic for additional assets and resources:</a:t>
            </a:r>
          </a:p>
          <a:p>
            <a:pPr lvl="0" defTabSz="457200" fontAlgn="auto" hangingPunct="0">
              <a:spcBef>
                <a:spcPts val="300"/>
              </a:spcBef>
              <a:spcAft>
                <a:spcPts val="0"/>
              </a:spcAft>
              <a:buClrTx/>
              <a:buSzTx/>
              <a:defRPr sz="1300" b="1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600" dirty="0">
                <a:uFill>
                  <a:solidFill>
                    <a:srgbClr val="0000FF"/>
                  </a:solidFill>
                </a:uFill>
                <a:latin typeface="IBM Plex Sans"/>
                <a:sym typeface="IBM Plex Sans"/>
                <a:hlinkClick r:id="rId2"/>
              </a:rPr>
              <a:t>StepZen Sales Kit</a:t>
            </a:r>
            <a:endParaRPr lang="en-US" sz="1600" dirty="0">
              <a:uFill>
                <a:solidFill>
                  <a:srgbClr val="0000FF"/>
                </a:solidFill>
              </a:uFill>
              <a:latin typeface="IBM Plex Sans"/>
              <a:sym typeface="IBM Plex Sans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03812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E67511-B09D-44A4-AE33-B25AC9CE9624}"/>
              </a:ext>
            </a:extLst>
          </p:cNvPr>
          <p:cNvSpPr/>
          <p:nvPr/>
        </p:nvSpPr>
        <p:spPr bwMode="auto">
          <a:xfrm>
            <a:off x="2788921" y="0"/>
            <a:ext cx="9403079" cy="685800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stem Font Regular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316EA-798F-58DB-8E57-4C38B698E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8" y="268224"/>
            <a:ext cx="2273939" cy="5726176"/>
          </a:xfrm>
        </p:spPr>
        <p:txBody>
          <a:bodyPr/>
          <a:lstStyle/>
          <a:p>
            <a:r>
              <a:rPr lang="en-US" dirty="0"/>
              <a:t>Step 5: Breathe</a:t>
            </a:r>
            <a:br>
              <a:rPr lang="en-US" dirty="0"/>
            </a:br>
            <a:br>
              <a:rPr lang="en-US" dirty="0"/>
            </a:br>
            <a:r>
              <a:rPr lang="en-US" sz="1800" dirty="0"/>
              <a:t>That was a lot of info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Just keep these key ideas in mind:</a:t>
            </a:r>
            <a:br>
              <a:rPr lang="en-US" sz="1800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33D17-3C98-DF96-F91F-51855C4A0D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07303" y="1262689"/>
            <a:ext cx="8766313" cy="3737246"/>
          </a:xfrm>
        </p:spPr>
        <p:txBody>
          <a:bodyPr/>
          <a:lstStyle/>
          <a:p>
            <a:pPr lvl="0" defTabSz="457200" fontAlgn="auto" hangingPunct="0">
              <a:spcBef>
                <a:spcPts val="300"/>
              </a:spcBef>
              <a:spcAft>
                <a:spcPts val="0"/>
              </a:spcAft>
              <a:buClrTx/>
              <a:buSzTx/>
              <a:defRPr sz="1300" b="1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600" b="1" dirty="0" err="1">
                <a:solidFill>
                  <a:srgbClr val="0B2545"/>
                </a:solidFill>
                <a:latin typeface="IBM Plex Sans"/>
                <a:sym typeface="IBM Plex Sans"/>
              </a:rPr>
              <a:t>GraphQL</a:t>
            </a:r>
            <a:r>
              <a:rPr lang="en-US" sz="1600" b="1" dirty="0">
                <a:solidFill>
                  <a:srgbClr val="0B2545"/>
                </a:solidFill>
                <a:latin typeface="IBM Plex Sans"/>
                <a:sym typeface="IBM Plex Sans"/>
              </a:rPr>
              <a:t> is growing</a:t>
            </a: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1100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400" dirty="0">
                <a:solidFill>
                  <a:srgbClr val="0B2545"/>
                </a:solidFill>
                <a:latin typeface="IBM Plex Sans"/>
                <a:sym typeface="IBM Plex Sans"/>
              </a:rPr>
              <a:t>And </a:t>
            </a:r>
            <a:r>
              <a:rPr lang="en-US" sz="1400" b="1" dirty="0" err="1">
                <a:solidFill>
                  <a:srgbClr val="0B2545"/>
                </a:solidFill>
                <a:latin typeface="IBM Plex Sans"/>
                <a:sym typeface="IBM Plex Sans"/>
              </a:rPr>
              <a:t>StepZen</a:t>
            </a:r>
            <a:r>
              <a:rPr lang="en-US" sz="1400" b="1" dirty="0">
                <a:solidFill>
                  <a:srgbClr val="0B2545"/>
                </a:solidFill>
                <a:latin typeface="IBM Plex Sans"/>
                <a:sym typeface="IBM Plex Sans"/>
              </a:rPr>
              <a:t> </a:t>
            </a:r>
            <a:r>
              <a:rPr lang="en-US" sz="1400" dirty="0">
                <a:solidFill>
                  <a:srgbClr val="0B2545"/>
                </a:solidFill>
                <a:latin typeface="IBM Plex Sans"/>
                <a:sym typeface="IBM Plex Sans"/>
              </a:rPr>
              <a:t> is the best way to do </a:t>
            </a:r>
            <a:r>
              <a:rPr lang="en-US" sz="1400" dirty="0" err="1">
                <a:solidFill>
                  <a:srgbClr val="0B2545"/>
                </a:solidFill>
                <a:latin typeface="IBM Plex Sans"/>
                <a:sym typeface="IBM Plex Sans"/>
              </a:rPr>
              <a:t>GraphQL</a:t>
            </a:r>
            <a:endParaRPr lang="en-US" sz="1400" dirty="0">
              <a:solidFill>
                <a:srgbClr val="0B2545"/>
              </a:solidFill>
              <a:latin typeface="IBM Plex Sans"/>
              <a:sym typeface="IBM Plex Sans"/>
            </a:endParaRP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1100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400" dirty="0">
                <a:solidFill>
                  <a:srgbClr val="0B2545"/>
                </a:solidFill>
                <a:latin typeface="IBM Plex Sans"/>
                <a:sym typeface="IBM Plex Sans"/>
              </a:rPr>
              <a:t>Our declarative approach makes life better for the customer</a:t>
            </a: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1100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400" dirty="0">
                <a:solidFill>
                  <a:srgbClr val="0B2545"/>
                </a:solidFill>
                <a:latin typeface="IBM Plex Sans"/>
                <a:sym typeface="IBM Plex Sans"/>
              </a:rPr>
              <a:t>And helps them with scalability, security, performance, all while </a:t>
            </a:r>
            <a:r>
              <a:rPr lang="en-US" sz="1400" b="1" dirty="0">
                <a:solidFill>
                  <a:srgbClr val="0B2545"/>
                </a:solidFill>
                <a:latin typeface="IBM Plex Sans"/>
                <a:sym typeface="IBM Plex Sans"/>
              </a:rPr>
              <a:t>reducing complexity</a:t>
            </a:r>
          </a:p>
          <a:p>
            <a:pPr marL="228600" lvl="0" indent="-22860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1100">
                <a:latin typeface="IBM Plex Sans"/>
                <a:ea typeface="IBM Plex Sans"/>
                <a:cs typeface="IBM Plex Sans"/>
                <a:sym typeface="IBM Plex Sans"/>
              </a:defRPr>
            </a:pPr>
            <a:r>
              <a:rPr lang="en-US" sz="1400" b="1" dirty="0">
                <a:solidFill>
                  <a:srgbClr val="0B2545"/>
                </a:solidFill>
                <a:latin typeface="IBM Plex Sans"/>
                <a:sym typeface="IBM Plex Sans"/>
              </a:rPr>
              <a:t>Every IBM customer is using APIs</a:t>
            </a:r>
            <a:r>
              <a:rPr lang="en-US" sz="1400" dirty="0">
                <a:solidFill>
                  <a:srgbClr val="0B2545"/>
                </a:solidFill>
                <a:latin typeface="IBM Plex Sans"/>
                <a:sym typeface="IBM Plex Sans"/>
              </a:rPr>
              <a:t>, now it’s time for them to get value from APIs</a:t>
            </a:r>
          </a:p>
          <a:p>
            <a:pPr lvl="0" defTabSz="457200" fontAlgn="auto" hangingPunct="0">
              <a:spcBef>
                <a:spcPts val="300"/>
              </a:spcBef>
              <a:spcAft>
                <a:spcPts val="0"/>
              </a:spcAft>
              <a:buClrTx/>
              <a:buSzPct val="100000"/>
              <a:defRPr sz="1100">
                <a:latin typeface="IBM Plex Sans"/>
                <a:ea typeface="IBM Plex Sans"/>
                <a:cs typeface="IBM Plex Sans"/>
                <a:sym typeface="IBM Plex Sans"/>
              </a:defRP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54533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>
            <a:spLocks noGrp="1"/>
          </p:cNvSpPr>
          <p:nvPr>
            <p:ph type="title"/>
          </p:nvPr>
        </p:nvSpPr>
        <p:spPr>
          <a:xfrm>
            <a:off x="287999" y="192024"/>
            <a:ext cx="5049879" cy="5239544"/>
          </a:xfrm>
        </p:spPr>
        <p:txBody>
          <a:bodyPr spcFirstLastPara="1" lIns="121900" tIns="121900" rIns="121900" bIns="121900" anchorCtr="0">
            <a:normAutofit/>
          </a:bodyPr>
          <a:lstStyle/>
          <a:p>
            <a:r>
              <a:rPr lang="en-US" dirty="0"/>
              <a:t>IBM StepZen Graph Server</a:t>
            </a:r>
          </a:p>
        </p:txBody>
      </p:sp>
      <p:pic>
        <p:nvPicPr>
          <p:cNvPr id="3" name="Picture Placeholder 2" descr="A picture containing screenshot, space, light">
            <a:extLst>
              <a:ext uri="{FF2B5EF4-FFF2-40B4-BE49-F238E27FC236}">
                <a16:creationId xmlns:a16="http://schemas.microsoft.com/office/drawing/2014/main" id="{C0CC033D-2688-79B2-1E1E-3DC526DB20C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6077" r="6077"/>
          <a:stretch>
            <a:fillRect/>
          </a:stretch>
        </p:blipFill>
        <p:spPr>
          <a:xfrm>
            <a:off x="6381751" y="285751"/>
            <a:ext cx="5522383" cy="6286500"/>
          </a:xfrm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5A89-31D3-C769-71AD-38E9ADC2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445"/>
            <a:ext cx="12038468" cy="722283"/>
          </a:xfrm>
        </p:spPr>
        <p:txBody>
          <a:bodyPr vert="horz" lIns="0" tIns="0" rIns="228571" bIns="0" rtlCol="0" anchor="t">
            <a:normAutofit/>
          </a:bodyPr>
          <a:lstStyle/>
          <a:p>
            <a:r>
              <a:rPr lang="en-US" dirty="0">
                <a:latin typeface="IBM Plex Sans Light"/>
              </a:rPr>
              <a:t>StepZen is a GraphQL server “as a service”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5B25E7-D60C-6876-2732-83258126E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776" y="1484923"/>
            <a:ext cx="8491021" cy="48860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B88C80-25CC-B5CA-8BD1-9D38A7C5CF45}"/>
              </a:ext>
            </a:extLst>
          </p:cNvPr>
          <p:cNvSpPr txBox="1"/>
          <p:nvPr/>
        </p:nvSpPr>
        <p:spPr>
          <a:xfrm>
            <a:off x="287999" y="1491676"/>
            <a:ext cx="3092288" cy="5017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Cloud native architecture</a:t>
            </a:r>
          </a:p>
          <a:p>
            <a:pPr marL="285744" indent="-28574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Multi-tenant</a:t>
            </a:r>
          </a:p>
          <a:p>
            <a:pPr marL="285744" indent="-28574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Auto-scaling</a:t>
            </a:r>
          </a:p>
          <a:p>
            <a:pPr marL="285744" indent="-28574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Declarative development </a:t>
            </a:r>
            <a:br>
              <a:rPr lang="en-US" sz="2400" dirty="0"/>
            </a:br>
            <a:r>
              <a:rPr lang="en-US" sz="2400" dirty="0"/>
              <a:t>(no-code)</a:t>
            </a:r>
          </a:p>
          <a:p>
            <a:pPr marL="285744" indent="-28574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Developer friendly</a:t>
            </a:r>
          </a:p>
          <a:p>
            <a:pPr marL="285744" indent="-28574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DevOps friendly</a:t>
            </a:r>
          </a:p>
        </p:txBody>
      </p:sp>
    </p:spTree>
    <p:extLst>
      <p:ext uri="{BB962C8B-B14F-4D97-AF65-F5344CB8AC3E}">
        <p14:creationId xmlns:p14="http://schemas.microsoft.com/office/powerpoint/2010/main" val="3543049971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5A62-0AF6-7E9C-BE18-35F158092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3022"/>
            <a:ext cx="10422151" cy="953169"/>
          </a:xfrm>
        </p:spPr>
        <p:txBody>
          <a:bodyPr lIns="0" tIns="0" rIns="0" bIns="0" anchor="t"/>
          <a:lstStyle/>
          <a:p>
            <a:r>
              <a:rPr lang="en-US" altLang="en-US" noProof="1">
                <a:latin typeface="IBM Plex Sans Light"/>
                <a:ea typeface="MS PGothic"/>
              </a:rPr>
              <a:t>StepZen</a:t>
            </a:r>
            <a:r>
              <a:rPr lang="en-US" altLang="en-US" dirty="0">
                <a:latin typeface="IBM Plex Sans Light"/>
                <a:ea typeface="MS PGothic"/>
              </a:rPr>
              <a:t> solves hard problems, so you can focus on value</a:t>
            </a:r>
            <a:endParaRPr lang="en-US" dirty="0">
              <a:latin typeface="IBM Plex Sans Light"/>
              <a:ea typeface="MS PGothic"/>
            </a:endParaRPr>
          </a:p>
        </p:txBody>
      </p:sp>
      <p:sp>
        <p:nvSpPr>
          <p:cNvPr id="3" name="Google Shape;174;p31">
            <a:extLst>
              <a:ext uri="{FF2B5EF4-FFF2-40B4-BE49-F238E27FC236}">
                <a16:creationId xmlns:a16="http://schemas.microsoft.com/office/drawing/2014/main" id="{AE8864B3-154D-40F0-4145-CF1AFFF9D5A0}"/>
              </a:ext>
            </a:extLst>
          </p:cNvPr>
          <p:cNvSpPr txBox="1"/>
          <p:nvPr/>
        </p:nvSpPr>
        <p:spPr>
          <a:xfrm>
            <a:off x="612809" y="3543303"/>
            <a:ext cx="6371604" cy="46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7" tIns="45707" rIns="45707" bIns="45707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2400" b="1" dirty="0">
                <a:solidFill>
                  <a:schemeClr val="accent4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2400" b="1" dirty="0">
                <a:solidFill>
                  <a:srgbClr val="193460"/>
                </a:solidFill>
                <a:latin typeface="Inter"/>
                <a:ea typeface="Inter"/>
                <a:cs typeface="Inter"/>
                <a:sym typeface="Inter"/>
              </a:rPr>
              <a:t>   Developer </a:t>
            </a:r>
            <a:r>
              <a:rPr lang="en" sz="2400" dirty="0" err="1">
                <a:solidFill>
                  <a:srgbClr val="1934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GraphQL-izes</a:t>
            </a:r>
            <a:r>
              <a:rPr lang="en" sz="2400" dirty="0">
                <a:solidFill>
                  <a:srgbClr val="1934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backends, </a:t>
            </a:r>
            <a:r>
              <a:rPr lang="en" sz="2400" i="1" dirty="0">
                <a:solidFill>
                  <a:srgbClr val="1934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easily</a:t>
            </a:r>
            <a:endParaRPr sz="2400" i="1" dirty="0">
              <a:solidFill>
                <a:srgbClr val="1934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" name="Google Shape;177;p31">
            <a:extLst>
              <a:ext uri="{FF2B5EF4-FFF2-40B4-BE49-F238E27FC236}">
                <a16:creationId xmlns:a16="http://schemas.microsoft.com/office/drawing/2014/main" id="{AA9DBF9D-7761-1C90-3FF6-9BCC75C4FE60}"/>
              </a:ext>
            </a:extLst>
          </p:cNvPr>
          <p:cNvSpPr txBox="1"/>
          <p:nvPr/>
        </p:nvSpPr>
        <p:spPr>
          <a:xfrm>
            <a:off x="612808" y="4190719"/>
            <a:ext cx="8596507" cy="46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7" tIns="45707" rIns="45707" bIns="45707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2400" b="1" dirty="0">
                <a:solidFill>
                  <a:schemeClr val="accent4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" sz="2400" b="1" dirty="0">
                <a:solidFill>
                  <a:srgbClr val="193460"/>
                </a:solidFill>
                <a:latin typeface="Inter"/>
                <a:ea typeface="Inter"/>
                <a:cs typeface="Inter"/>
                <a:sym typeface="Inter"/>
              </a:rPr>
              <a:t>   Developer</a:t>
            </a:r>
            <a:r>
              <a:rPr lang="en" sz="2400" dirty="0">
                <a:solidFill>
                  <a:srgbClr val="1934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“stitches” the </a:t>
            </a:r>
            <a:r>
              <a:rPr lang="en" sz="2400" dirty="0" err="1">
                <a:solidFill>
                  <a:srgbClr val="1934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GraphQL-ized</a:t>
            </a:r>
            <a:r>
              <a:rPr lang="en" sz="2400" dirty="0">
                <a:solidFill>
                  <a:srgbClr val="1934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backends, </a:t>
            </a:r>
            <a:r>
              <a:rPr lang="en" sz="2400" i="1" dirty="0">
                <a:solidFill>
                  <a:srgbClr val="1934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easily</a:t>
            </a:r>
            <a:endParaRPr sz="2400" i="1" dirty="0">
              <a:solidFill>
                <a:srgbClr val="1934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8" name="Google Shape;181;p31">
            <a:extLst>
              <a:ext uri="{FF2B5EF4-FFF2-40B4-BE49-F238E27FC236}">
                <a16:creationId xmlns:a16="http://schemas.microsoft.com/office/drawing/2014/main" id="{E91D0EC7-94D5-43BD-B0E5-8A0A70A237D2}"/>
              </a:ext>
            </a:extLst>
          </p:cNvPr>
          <p:cNvSpPr txBox="1"/>
          <p:nvPr/>
        </p:nvSpPr>
        <p:spPr>
          <a:xfrm>
            <a:off x="612809" y="4838137"/>
            <a:ext cx="7736535" cy="46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7" tIns="45707" rIns="45707" bIns="45707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2400" b="1" dirty="0">
                <a:solidFill>
                  <a:schemeClr val="accent4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lang="en" sz="2400" b="1" dirty="0">
                <a:solidFill>
                  <a:srgbClr val="193460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" sz="2400" b="1" dirty="0" err="1">
                <a:solidFill>
                  <a:srgbClr val="193460"/>
                </a:solidFill>
                <a:latin typeface="Inter"/>
                <a:ea typeface="Inter"/>
                <a:cs typeface="Inter"/>
                <a:sym typeface="Inter"/>
              </a:rPr>
              <a:t>StepZen</a:t>
            </a:r>
            <a:r>
              <a:rPr lang="en" sz="2400" dirty="0">
                <a:solidFill>
                  <a:srgbClr val="1934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does the hard things, </a:t>
            </a:r>
            <a:r>
              <a:rPr lang="en" sz="2400" i="1" dirty="0">
                <a:solidFill>
                  <a:srgbClr val="1934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transparently</a:t>
            </a:r>
            <a:endParaRPr sz="2400" i="1" dirty="0">
              <a:solidFill>
                <a:srgbClr val="1934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9" name="Picture 8" descr="A picture containing text, tableware, dishware, plate&#10;&#10;Description automatically generated">
            <a:extLst>
              <a:ext uri="{FF2B5EF4-FFF2-40B4-BE49-F238E27FC236}">
                <a16:creationId xmlns:a16="http://schemas.microsoft.com/office/drawing/2014/main" id="{113B5123-3130-147A-982B-BC0C9DB37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911" y="1891135"/>
            <a:ext cx="3202840" cy="889679"/>
          </a:xfrm>
          <a:prstGeom prst="rect">
            <a:avLst/>
          </a:prstGeom>
        </p:spPr>
      </p:pic>
      <p:sp>
        <p:nvSpPr>
          <p:cNvPr id="10" name="Google Shape;182;p31">
            <a:extLst>
              <a:ext uri="{FF2B5EF4-FFF2-40B4-BE49-F238E27FC236}">
                <a16:creationId xmlns:a16="http://schemas.microsoft.com/office/drawing/2014/main" id="{F231A352-EAB1-8520-18DD-EC6A11CDD7D7}"/>
              </a:ext>
            </a:extLst>
          </p:cNvPr>
          <p:cNvSpPr/>
          <p:nvPr/>
        </p:nvSpPr>
        <p:spPr>
          <a:xfrm rot="5400000">
            <a:off x="10031668" y="2244399"/>
            <a:ext cx="461589" cy="1907613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2B1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7" tIns="45707" rIns="45707" bIns="45707" anchor="ctr" anchorCtr="0">
            <a:noAutofit/>
          </a:bodyPr>
          <a:lstStyle/>
          <a:p>
            <a:endParaRPr sz="3000" b="1">
              <a:solidFill>
                <a:srgbClr val="02B1C9"/>
              </a:solidFill>
            </a:endParaRPr>
          </a:p>
        </p:txBody>
      </p:sp>
      <p:sp>
        <p:nvSpPr>
          <p:cNvPr id="11" name="Google Shape;183;p31">
            <a:extLst>
              <a:ext uri="{FF2B5EF4-FFF2-40B4-BE49-F238E27FC236}">
                <a16:creationId xmlns:a16="http://schemas.microsoft.com/office/drawing/2014/main" id="{82CFC196-A807-23BC-D3C6-0D97EABC73CF}"/>
              </a:ext>
            </a:extLst>
          </p:cNvPr>
          <p:cNvSpPr txBox="1"/>
          <p:nvPr/>
        </p:nvSpPr>
        <p:spPr>
          <a:xfrm>
            <a:off x="9308655" y="3543303"/>
            <a:ext cx="1907615" cy="1815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7" tIns="45707" rIns="45707" bIns="45707" anchor="t" anchorCtr="0">
            <a:spAutoFit/>
          </a:bodyPr>
          <a:lstStyle/>
          <a:p>
            <a:r>
              <a:rPr lang="en" sz="1600" dirty="0">
                <a:latin typeface="IBM Plex Sans Light" panose="020B0403050203000203" pitchFamily="34" charset="0"/>
                <a:ea typeface="Inter"/>
                <a:cs typeface="Inter"/>
                <a:sym typeface="Inter"/>
              </a:rPr>
              <a:t>Optimization</a:t>
            </a:r>
            <a:br>
              <a:rPr lang="en" sz="1600" dirty="0">
                <a:latin typeface="IBM Plex Sans Light" panose="020B0403050203000203" pitchFamily="34" charset="0"/>
                <a:ea typeface="Inter"/>
                <a:cs typeface="Inter"/>
                <a:sym typeface="Inter"/>
              </a:rPr>
            </a:br>
            <a:r>
              <a:rPr lang="en" sz="1600" dirty="0">
                <a:latin typeface="IBM Plex Sans Light" panose="020B0403050203000203" pitchFamily="34" charset="0"/>
                <a:ea typeface="Inter"/>
                <a:cs typeface="Inter"/>
                <a:sym typeface="Inter"/>
              </a:rPr>
              <a:t>Protection</a:t>
            </a:r>
            <a:endParaRPr sz="1600" dirty="0">
              <a:latin typeface="IBM Plex Sans Light" panose="020B0403050203000203" pitchFamily="34" charset="0"/>
              <a:ea typeface="Inter"/>
              <a:cs typeface="Inter"/>
              <a:sym typeface="Inter"/>
            </a:endParaRPr>
          </a:p>
          <a:p>
            <a:r>
              <a:rPr lang="en" sz="1600" dirty="0">
                <a:latin typeface="IBM Plex Sans Light" panose="020B0403050203000203" pitchFamily="34" charset="0"/>
                <a:ea typeface="Inter"/>
                <a:cs typeface="Inter"/>
                <a:sym typeface="Inter"/>
              </a:rPr>
              <a:t>Scale &amp; Low Latency</a:t>
            </a:r>
            <a:endParaRPr sz="1600" dirty="0">
              <a:latin typeface="IBM Plex Sans Light" panose="020B0403050203000203" pitchFamily="34" charset="0"/>
              <a:ea typeface="Inter"/>
              <a:cs typeface="Inter"/>
              <a:sym typeface="Inter"/>
            </a:endParaRPr>
          </a:p>
          <a:p>
            <a:r>
              <a:rPr lang="en" sz="1600" dirty="0">
                <a:latin typeface="IBM Plex Sans Light" panose="020B0403050203000203" pitchFamily="34" charset="0"/>
                <a:ea typeface="Inter"/>
                <a:cs typeface="Inter"/>
                <a:sym typeface="Inter"/>
              </a:rPr>
              <a:t>Deployment</a:t>
            </a:r>
            <a:endParaRPr sz="1600" dirty="0">
              <a:latin typeface="IBM Plex Sans Light" panose="020B0403050203000203" pitchFamily="34" charset="0"/>
              <a:ea typeface="Inter"/>
              <a:cs typeface="Inter"/>
              <a:sym typeface="Inter"/>
            </a:endParaRPr>
          </a:p>
          <a:p>
            <a:r>
              <a:rPr lang="en" sz="1600" dirty="0">
                <a:latin typeface="IBM Plex Sans Light" panose="020B0403050203000203" pitchFamily="34" charset="0"/>
                <a:ea typeface="Inter"/>
                <a:cs typeface="Inter"/>
                <a:sym typeface="Inter"/>
              </a:rPr>
              <a:t>Caching</a:t>
            </a:r>
            <a:endParaRPr sz="1600" dirty="0">
              <a:latin typeface="IBM Plex Sans Light" panose="020B0403050203000203" pitchFamily="34" charset="0"/>
              <a:ea typeface="Inter"/>
              <a:cs typeface="Inter"/>
              <a:sym typeface="Inter"/>
            </a:endParaRPr>
          </a:p>
          <a:p>
            <a:r>
              <a:rPr lang="en" sz="1600" dirty="0">
                <a:latin typeface="IBM Plex Sans Light" panose="020B0403050203000203" pitchFamily="34" charset="0"/>
                <a:ea typeface="Inter"/>
                <a:cs typeface="Inter"/>
                <a:sym typeface="Inter"/>
              </a:rPr>
              <a:t>Geo Distribution</a:t>
            </a:r>
            <a:endParaRPr sz="1600" dirty="0">
              <a:latin typeface="IBM Plex Sans Light" panose="020B0403050203000203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9303AB-904B-862C-753A-6B6576CEF2F7}"/>
              </a:ext>
            </a:extLst>
          </p:cNvPr>
          <p:cNvSpPr txBox="1"/>
          <p:nvPr/>
        </p:nvSpPr>
        <p:spPr>
          <a:xfrm>
            <a:off x="434543" y="1258882"/>
            <a:ext cx="6953479" cy="228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defTabSz="1219170">
              <a:buSzPct val="100000"/>
            </a:pPr>
            <a:r>
              <a:rPr lang="en-US" sz="2700" b="1" noProof="1">
                <a:solidFill>
                  <a:schemeClr val="accent1"/>
                </a:solidFill>
                <a:cs typeface="Arial"/>
              </a:rPr>
              <a:t>StepZen</a:t>
            </a:r>
            <a:r>
              <a:rPr lang="en-US" sz="2700" b="1" dirty="0">
                <a:solidFill>
                  <a:schemeClr val="accent1"/>
                </a:solidFill>
                <a:cs typeface="Arial"/>
              </a:rPr>
              <a:t> is a GraphQL engine</a:t>
            </a:r>
          </a:p>
          <a:p>
            <a:pPr marL="342891" indent="-342891" defTabSz="1219170">
              <a:buSzPct val="100000"/>
              <a:buFontTx/>
              <a:buChar char="-"/>
            </a:pPr>
            <a:r>
              <a:rPr lang="en-US" dirty="0">
                <a:cs typeface="Arial" panose="020B0604020202020204" pitchFamily="34" charset="0"/>
              </a:rPr>
              <a:t>Build GraphQL APIs declaratively (no code)</a:t>
            </a:r>
          </a:p>
          <a:p>
            <a:pPr marL="342891" indent="-342891" defTabSz="1219170">
              <a:buSzPct val="100000"/>
              <a:buFontTx/>
              <a:buChar char="-"/>
            </a:pPr>
            <a:r>
              <a:rPr lang="en-US" dirty="0">
                <a:cs typeface="Arial" panose="020B0604020202020204" pitchFamily="34" charset="0"/>
              </a:rPr>
              <a:t>Introspect diverse backends to easily surface</a:t>
            </a:r>
            <a:br>
              <a:rPr lang="en-US" dirty="0">
                <a:cs typeface="Arial" panose="020B0604020202020204" pitchFamily="34" charset="0"/>
              </a:rPr>
            </a:br>
            <a:r>
              <a:rPr lang="en-US" dirty="0">
                <a:cs typeface="Arial" panose="020B0604020202020204" pitchFamily="34" charset="0"/>
              </a:rPr>
              <a:t>data and services new apps need</a:t>
            </a:r>
          </a:p>
          <a:p>
            <a:pPr marL="342891" indent="-342891" defTabSz="1219170">
              <a:buSzPct val="100000"/>
              <a:buFontTx/>
              <a:buChar char="-"/>
            </a:pPr>
            <a:r>
              <a:rPr lang="en-US" dirty="0">
                <a:cs typeface="Arial" panose="020B0604020202020204" pitchFamily="34" charset="0"/>
              </a:rPr>
              <a:t>GraphQL server runtime</a:t>
            </a:r>
          </a:p>
          <a:p>
            <a:pPr marL="342891" indent="-342891" defTabSz="1219170">
              <a:buSzPct val="100000"/>
              <a:buFontTx/>
              <a:buChar char="-"/>
            </a:pPr>
            <a:r>
              <a:rPr lang="en-US" dirty="0">
                <a:cs typeface="Arial" panose="020B0604020202020204" pitchFamily="34" charset="0"/>
              </a:rPr>
              <a:t>Optimizes the hard problems for you</a:t>
            </a:r>
          </a:p>
        </p:txBody>
      </p:sp>
    </p:spTree>
    <p:extLst>
      <p:ext uri="{BB962C8B-B14F-4D97-AF65-F5344CB8AC3E}">
        <p14:creationId xmlns:p14="http://schemas.microsoft.com/office/powerpoint/2010/main" val="4273459856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6ECE25-5BA3-EAF4-14B2-8CEA732EB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Declarative Development</a:t>
            </a:r>
          </a:p>
        </p:txBody>
      </p:sp>
    </p:spTree>
    <p:extLst>
      <p:ext uri="{BB962C8B-B14F-4D97-AF65-F5344CB8AC3E}">
        <p14:creationId xmlns:p14="http://schemas.microsoft.com/office/powerpoint/2010/main" val="1323218534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 txBox="1">
            <a:spLocks noGrp="1"/>
          </p:cNvSpPr>
          <p:nvPr>
            <p:ph type="title"/>
          </p:nvPr>
        </p:nvSpPr>
        <p:spPr>
          <a:xfrm>
            <a:off x="287301" y="201168"/>
            <a:ext cx="2474591" cy="2667795"/>
          </a:xfrm>
        </p:spPr>
        <p:txBody>
          <a:bodyPr spcFirstLastPara="1" lIns="121900" tIns="121900" rIns="121900" bIns="121900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67"/>
              <a:t>Introduction to StepZen's Directives</a:t>
            </a:r>
          </a:p>
        </p:txBody>
      </p:sp>
      <p:sp>
        <p:nvSpPr>
          <p:cNvPr id="164" name="Google Shape;164;p39"/>
          <p:cNvSpPr txBox="1">
            <a:spLocks noGrp="1"/>
          </p:cNvSpPr>
          <p:nvPr>
            <p:ph type="body" sz="quarter" idx="11"/>
          </p:nvPr>
        </p:nvSpPr>
        <p:spPr>
          <a:xfrm>
            <a:off x="3333316" y="201169"/>
            <a:ext cx="5523781" cy="2667793"/>
          </a:xfrm>
        </p:spPr>
        <p:txBody>
          <a:bodyPr spcFirstLastPara="1" lIns="121900" tIns="121900" rIns="121900" bIns="121900" anchorCtr="0">
            <a:normAutofit/>
          </a:bodyPr>
          <a:lstStyle/>
          <a:p>
            <a:pPr>
              <a:lnSpc>
                <a:spcPct val="90000"/>
              </a:lnSpc>
              <a:spcAft>
                <a:spcPts val="1600"/>
              </a:spcAft>
            </a:pPr>
            <a:r>
              <a:rPr lang="en-US" sz="3333" dirty="0"/>
              <a:t>StepZen uses GraphQL schema directives to control how the server processes GraphQL queries. </a:t>
            </a: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42C4CFE1-07DE-0031-E663-4171060CB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</p:spPr>
        <p:txBody>
          <a:bodyPr/>
          <a:lstStyle/>
          <a:p>
            <a:r>
              <a:rPr lang="en-US" dirty="0"/>
              <a:t>These custom directives are what enable declarative development with StepZen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0"/>
          <p:cNvSpPr txBox="1">
            <a:spLocks noGrp="1"/>
          </p:cNvSpPr>
          <p:nvPr>
            <p:ph type="title"/>
          </p:nvPr>
        </p:nvSpPr>
        <p:spPr>
          <a:xfrm>
            <a:off x="287999" y="192601"/>
            <a:ext cx="3711980" cy="953295"/>
          </a:xfrm>
        </p:spPr>
        <p:txBody>
          <a:bodyPr spcFirstLastPara="1" lIns="121900" tIns="121900" rIns="121900" bIns="121900" anchorCtr="0">
            <a:normAutofit/>
          </a:bodyPr>
          <a:lstStyle/>
          <a:p>
            <a:r>
              <a:rPr lang="en"/>
              <a:t>@rest Directive</a:t>
            </a:r>
            <a:endParaRPr lang="en-US"/>
          </a:p>
        </p:txBody>
      </p:sp>
      <p:sp>
        <p:nvSpPr>
          <p:cNvPr id="170" name="Google Shape;170;p40"/>
          <p:cNvSpPr txBox="1">
            <a:spLocks noGrp="1"/>
          </p:cNvSpPr>
          <p:nvPr>
            <p:ph type="body" sz="quarter" idx="21"/>
          </p:nvPr>
        </p:nvSpPr>
        <p:spPr>
          <a:xfrm>
            <a:off x="287999" y="1714501"/>
            <a:ext cx="5091259" cy="4286249"/>
          </a:xfrm>
        </p:spPr>
        <p:txBody>
          <a:bodyPr spcFirstLastPara="1" lIns="121900" tIns="121900" rIns="121900" bIns="121900" anchorCtr="0">
            <a:normAutofit/>
          </a:bodyPr>
          <a:lstStyle/>
          <a:p>
            <a:pPr>
              <a:spcAft>
                <a:spcPts val="1600"/>
              </a:spcAft>
            </a:pPr>
            <a:r>
              <a:rPr lang="en" dirty="0"/>
              <a:t>The </a:t>
            </a:r>
            <a:r>
              <a:rPr lang="en" dirty="0">
                <a:latin typeface="IBM Plex Mono Text" panose="020B0509050203000203" pitchFamily="49" charset="0"/>
              </a:rPr>
              <a:t>@rest</a:t>
            </a:r>
            <a:r>
              <a:rPr lang="en" dirty="0"/>
              <a:t> directive helps to connect to HTTP services. It can be used to define the URL endpoint and method (GET, POST, etc.) and structure the response data.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6EB79-749C-05BE-60DA-DE46A75C64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68" b="1026"/>
          <a:stretch/>
        </p:blipFill>
        <p:spPr>
          <a:xfrm>
            <a:off x="5509405" y="1424677"/>
            <a:ext cx="5742556" cy="4286249"/>
          </a:xfrm>
          <a:prstGeom prst="rect">
            <a:avLst/>
          </a:prstGeom>
          <a:effectLst/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33D206E-AE08-2799-1725-47D4D223D51E}"/>
              </a:ext>
            </a:extLst>
          </p:cNvPr>
          <p:cNvSpPr/>
          <p:nvPr/>
        </p:nvSpPr>
        <p:spPr bwMode="auto">
          <a:xfrm>
            <a:off x="5785658" y="3940233"/>
            <a:ext cx="5466303" cy="1620982"/>
          </a:xfrm>
          <a:prstGeom prst="roundRect">
            <a:avLst/>
          </a:prstGeom>
          <a:noFill/>
          <a:ln w="28575">
            <a:solidFill>
              <a:srgbClr val="0F62FE">
                <a:alpha val="50196"/>
              </a:srgb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/>
          <p:cNvSpPr txBox="1">
            <a:spLocks noGrp="1"/>
          </p:cNvSpPr>
          <p:nvPr>
            <p:ph type="title"/>
          </p:nvPr>
        </p:nvSpPr>
        <p:spPr>
          <a:xfrm>
            <a:off x="287999" y="192601"/>
            <a:ext cx="3711980" cy="953295"/>
          </a:xfrm>
        </p:spPr>
        <p:txBody>
          <a:bodyPr spcFirstLastPara="1" lIns="121900" tIns="121900" rIns="121900" bIns="121900" anchorCtr="0">
            <a:normAutofit/>
          </a:bodyPr>
          <a:lstStyle/>
          <a:p>
            <a:r>
              <a:rPr lang="en-US" sz="2933"/>
              <a:t>@dbquery Directive</a:t>
            </a:r>
          </a:p>
        </p:txBody>
      </p:sp>
      <p:sp>
        <p:nvSpPr>
          <p:cNvPr id="176" name="Google Shape;176;p41"/>
          <p:cNvSpPr txBox="1">
            <a:spLocks noGrp="1"/>
          </p:cNvSpPr>
          <p:nvPr>
            <p:ph type="body" sz="quarter" idx="21"/>
          </p:nvPr>
        </p:nvSpPr>
        <p:spPr>
          <a:xfrm>
            <a:off x="287999" y="1714501"/>
            <a:ext cx="5091259" cy="4286249"/>
          </a:xfrm>
        </p:spPr>
        <p:txBody>
          <a:bodyPr spcFirstLastPara="1" lIns="121900" tIns="121900" rIns="121900" bIns="121900" anchorCtr="0">
            <a:normAutofit/>
          </a:bodyPr>
          <a:lstStyle/>
          <a:p>
            <a:pPr>
              <a:spcAft>
                <a:spcPts val="1600"/>
              </a:spcAft>
            </a:pPr>
            <a:r>
              <a:rPr lang="en" dirty="0"/>
              <a:t>The </a:t>
            </a:r>
            <a:r>
              <a:rPr lang="en" dirty="0">
                <a:latin typeface="IBM Plex Mono Text" panose="020B0509050203000203" pitchFamily="49" charset="0"/>
              </a:rPr>
              <a:t>@dbquery</a:t>
            </a:r>
            <a:r>
              <a:rPr lang="en" dirty="0">
                <a:latin typeface="+mn-lt"/>
              </a:rPr>
              <a:t> </a:t>
            </a:r>
            <a:r>
              <a:rPr lang="en" dirty="0"/>
              <a:t>directive allows developers to execute SQL queries on a database. This directive can fetch, insert, update, or delete data in a SQL database.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4D276-6D7D-E877-AB95-CC561F3F9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732" y="1460741"/>
            <a:ext cx="6958040" cy="4133609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140263-5CFE-9C7F-3CF1-05E648A28193}"/>
              </a:ext>
            </a:extLst>
          </p:cNvPr>
          <p:cNvSpPr/>
          <p:nvPr/>
        </p:nvSpPr>
        <p:spPr bwMode="auto">
          <a:xfrm>
            <a:off x="5461462" y="5062451"/>
            <a:ext cx="5885411" cy="334808"/>
          </a:xfrm>
          <a:prstGeom prst="roundRect">
            <a:avLst/>
          </a:prstGeom>
          <a:noFill/>
          <a:ln w="28575">
            <a:solidFill>
              <a:srgbClr val="0F62FE">
                <a:alpha val="50196"/>
              </a:srgb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/>
          <p:cNvSpPr txBox="1">
            <a:spLocks noGrp="1"/>
          </p:cNvSpPr>
          <p:nvPr>
            <p:ph type="title"/>
          </p:nvPr>
        </p:nvSpPr>
        <p:spPr>
          <a:xfrm>
            <a:off x="287999" y="192601"/>
            <a:ext cx="3711980" cy="953295"/>
          </a:xfrm>
        </p:spPr>
        <p:txBody>
          <a:bodyPr spcFirstLastPara="1" lIns="121900" tIns="121900" rIns="121900" bIns="121900" anchorCtr="0">
            <a:normAutofit/>
          </a:bodyPr>
          <a:lstStyle/>
          <a:p>
            <a:r>
              <a:rPr lang="en" dirty="0"/>
              <a:t>@graphql Directive</a:t>
            </a:r>
            <a:endParaRPr lang="en-US"/>
          </a:p>
        </p:txBody>
      </p:sp>
      <p:sp>
        <p:nvSpPr>
          <p:cNvPr id="176" name="Google Shape;176;p41"/>
          <p:cNvSpPr txBox="1">
            <a:spLocks noGrp="1"/>
          </p:cNvSpPr>
          <p:nvPr>
            <p:ph type="body" sz="quarter" idx="21"/>
          </p:nvPr>
        </p:nvSpPr>
        <p:spPr>
          <a:xfrm>
            <a:off x="287999" y="1714501"/>
            <a:ext cx="5091259" cy="4286249"/>
          </a:xfrm>
        </p:spPr>
        <p:txBody>
          <a:bodyPr spcFirstLastPara="1" lIns="121900" tIns="121900" rIns="121900" bIns="121900" anchorCtr="0">
            <a:normAutofit/>
          </a:bodyPr>
          <a:lstStyle/>
          <a:p>
            <a:pPr>
              <a:spcAft>
                <a:spcPts val="1600"/>
              </a:spcAft>
            </a:pPr>
            <a:r>
              <a:rPr lang="en" dirty="0"/>
              <a:t>The </a:t>
            </a:r>
            <a:r>
              <a:rPr lang="en" dirty="0">
                <a:latin typeface="IBM Plex Mono Text" panose="020B0509050203000203" pitchFamily="49" charset="0"/>
              </a:rPr>
              <a:t>@graphql</a:t>
            </a:r>
            <a:r>
              <a:rPr lang="en" dirty="0"/>
              <a:t> directive enables developers to connect to existing graphql services and create federated graphs.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92FE6-B80B-A708-F3B5-1BDB99CC0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258" y="1892300"/>
            <a:ext cx="6616700" cy="30734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EED78B8-2A9C-73D0-B609-F0AF701144C4}"/>
              </a:ext>
            </a:extLst>
          </p:cNvPr>
          <p:cNvSpPr/>
          <p:nvPr/>
        </p:nvSpPr>
        <p:spPr bwMode="auto">
          <a:xfrm>
            <a:off x="5793970" y="3429001"/>
            <a:ext cx="5619405" cy="1536700"/>
          </a:xfrm>
          <a:prstGeom prst="roundRect">
            <a:avLst/>
          </a:prstGeom>
          <a:noFill/>
          <a:ln w="28575">
            <a:solidFill>
              <a:srgbClr val="0F62FE">
                <a:alpha val="50196"/>
              </a:srgb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7237187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2"/>
          <p:cNvSpPr txBox="1">
            <a:spLocks noGrp="1"/>
          </p:cNvSpPr>
          <p:nvPr>
            <p:ph type="title"/>
          </p:nvPr>
        </p:nvSpPr>
        <p:spPr>
          <a:xfrm>
            <a:off x="287999" y="192601"/>
            <a:ext cx="3711980" cy="953295"/>
          </a:xfrm>
        </p:spPr>
        <p:txBody>
          <a:bodyPr spcFirstLastPara="1" lIns="121900" tIns="121900" rIns="121900" bIns="121900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33"/>
              <a:t>@materializer Directive</a:t>
            </a:r>
          </a:p>
        </p:txBody>
      </p:sp>
      <p:sp>
        <p:nvSpPr>
          <p:cNvPr id="182" name="Google Shape;182;p42"/>
          <p:cNvSpPr txBox="1">
            <a:spLocks noGrp="1"/>
          </p:cNvSpPr>
          <p:nvPr>
            <p:ph type="body" sz="quarter" idx="21"/>
          </p:nvPr>
        </p:nvSpPr>
        <p:spPr>
          <a:xfrm>
            <a:off x="287999" y="1714501"/>
            <a:ext cx="5091259" cy="4286249"/>
          </a:xfrm>
        </p:spPr>
        <p:txBody>
          <a:bodyPr spcFirstLastPara="1" lIns="121900" tIns="121900" rIns="121900" bIns="121900" anchorCtr="0">
            <a:normAutofit/>
          </a:bodyPr>
          <a:lstStyle/>
          <a:p>
            <a:pPr>
              <a:spcAft>
                <a:spcPts val="1600"/>
              </a:spcAft>
            </a:pPr>
            <a:r>
              <a:rPr lang="en" dirty="0"/>
              <a:t>The </a:t>
            </a:r>
            <a:r>
              <a:rPr lang="en" dirty="0">
                <a:latin typeface="IBM Plex Mono Text" panose="020B0509050203000203" pitchFamily="49" charset="0"/>
              </a:rPr>
              <a:t>@materializer</a:t>
            </a:r>
            <a:r>
              <a:rPr lang="en" dirty="0"/>
              <a:t> directive is used to connect types together, allowing developers to “stitch” different systems into a single, unified GraphQL API.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59F87E-98B7-F46C-F199-FB957E5DE3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40" r="14367"/>
          <a:stretch/>
        </p:blipFill>
        <p:spPr>
          <a:xfrm>
            <a:off x="5290657" y="1714501"/>
            <a:ext cx="6703513" cy="1943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090A1F-83CA-6DB2-46B2-4B22291163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101"/>
          <a:stretch/>
        </p:blipFill>
        <p:spPr>
          <a:xfrm>
            <a:off x="2833629" y="4226205"/>
            <a:ext cx="8953500" cy="1530624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E0F2CEB-839A-0640-7FD0-2B693F1F17A6}"/>
              </a:ext>
            </a:extLst>
          </p:cNvPr>
          <p:cNvSpPr/>
          <p:nvPr/>
        </p:nvSpPr>
        <p:spPr bwMode="auto">
          <a:xfrm>
            <a:off x="5685905" y="2535383"/>
            <a:ext cx="6101223" cy="299258"/>
          </a:xfrm>
          <a:prstGeom prst="roundRect">
            <a:avLst/>
          </a:prstGeom>
          <a:noFill/>
          <a:ln w="28575">
            <a:solidFill>
              <a:srgbClr val="0F62FE">
                <a:alpha val="50196"/>
              </a:srgb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9E935D-452E-E53B-A3D7-025E94ED1151}"/>
              </a:ext>
            </a:extLst>
          </p:cNvPr>
          <p:cNvSpPr/>
          <p:nvPr/>
        </p:nvSpPr>
        <p:spPr bwMode="auto">
          <a:xfrm>
            <a:off x="4397433" y="4987636"/>
            <a:ext cx="3649288" cy="290946"/>
          </a:xfrm>
          <a:prstGeom prst="roundRect">
            <a:avLst/>
          </a:prstGeom>
          <a:noFill/>
          <a:ln w="28575">
            <a:solidFill>
              <a:srgbClr val="0F62FE">
                <a:alpha val="50196"/>
              </a:srgb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96A32D-7D98-6AC3-B951-AA2C10382511}"/>
              </a:ext>
            </a:extLst>
          </p:cNvPr>
          <p:cNvSpPr/>
          <p:nvPr/>
        </p:nvSpPr>
        <p:spPr bwMode="auto">
          <a:xfrm>
            <a:off x="4588625" y="5278581"/>
            <a:ext cx="7198503" cy="282633"/>
          </a:xfrm>
          <a:prstGeom prst="roundRect">
            <a:avLst/>
          </a:prstGeom>
          <a:noFill/>
          <a:ln w="28575">
            <a:solidFill>
              <a:srgbClr val="0F62FE">
                <a:alpha val="50196"/>
              </a:srgb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5A89-31D3-C769-71AD-38E9ADC2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445"/>
            <a:ext cx="12038468" cy="722283"/>
          </a:xfrm>
        </p:spPr>
        <p:txBody>
          <a:bodyPr vert="horz" lIns="0" tIns="0" rIns="228571" bIns="0" rtlCol="0" anchor="t">
            <a:normAutofit/>
          </a:bodyPr>
          <a:lstStyle/>
          <a:p>
            <a:r>
              <a:rPr lang="en-US" dirty="0">
                <a:latin typeface="IBM Plex Sans Light"/>
              </a:rPr>
              <a:t>Composition for teams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4377F5-F7FD-CAEF-C448-9512566F1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99" y="914729"/>
            <a:ext cx="11563861" cy="5039428"/>
          </a:xfrm>
          <a:prstGeom prst="rect">
            <a:avLst/>
          </a:prstGeom>
        </p:spPr>
      </p:pic>
      <p:sp>
        <p:nvSpPr>
          <p:cNvPr id="4" name="Block Arc 3">
            <a:extLst>
              <a:ext uri="{FF2B5EF4-FFF2-40B4-BE49-F238E27FC236}">
                <a16:creationId xmlns:a16="http://schemas.microsoft.com/office/drawing/2014/main" id="{AE1259EC-8CF6-CFB5-FFF7-4AD24B8FBD23}"/>
              </a:ext>
            </a:extLst>
          </p:cNvPr>
          <p:cNvSpPr/>
          <p:nvPr/>
        </p:nvSpPr>
        <p:spPr bwMode="auto">
          <a:xfrm rot="5219238">
            <a:off x="3338189" y="2324742"/>
            <a:ext cx="722920" cy="397215"/>
          </a:xfrm>
          <a:prstGeom prst="blockArc">
            <a:avLst/>
          </a:prstGeom>
          <a:solidFill>
            <a:schemeClr val="accent1"/>
          </a:solidFill>
          <a:ln w="1905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5" tIns="45715" rIns="45715" bIns="45715" numCol="1" rtlCol="0" anchor="t" anchorCtr="0" compatLnSpc="1">
            <a:prstTxWarp prst="textNoShape">
              <a:avLst/>
            </a:prstTxWarp>
          </a:bodyPr>
          <a:lstStyle/>
          <a:p>
            <a:pPr marL="163763" indent="-163763" defTabSz="457098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B034B6B8-8198-3EE8-BD94-E0C8B0158057}"/>
              </a:ext>
            </a:extLst>
          </p:cNvPr>
          <p:cNvSpPr/>
          <p:nvPr/>
        </p:nvSpPr>
        <p:spPr bwMode="auto">
          <a:xfrm rot="5219238">
            <a:off x="9410360" y="2324742"/>
            <a:ext cx="722920" cy="397215"/>
          </a:xfrm>
          <a:prstGeom prst="blockArc">
            <a:avLst/>
          </a:prstGeom>
          <a:solidFill>
            <a:schemeClr val="accent1"/>
          </a:solidFill>
          <a:ln w="1905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5" tIns="45715" rIns="45715" bIns="45715" numCol="1" rtlCol="0" anchor="t" anchorCtr="0" compatLnSpc="1">
            <a:prstTxWarp prst="textNoShape">
              <a:avLst/>
            </a:prstTxWarp>
          </a:bodyPr>
          <a:lstStyle/>
          <a:p>
            <a:pPr marL="163763" indent="-163763" defTabSz="457098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54EEAC-54A4-1759-752B-EE25BA3261BB}"/>
              </a:ext>
            </a:extLst>
          </p:cNvPr>
          <p:cNvSpPr/>
          <p:nvPr/>
        </p:nvSpPr>
        <p:spPr bwMode="auto">
          <a:xfrm>
            <a:off x="6074230" y="914728"/>
            <a:ext cx="5777631" cy="5028545"/>
          </a:xfrm>
          <a:prstGeom prst="rect">
            <a:avLst/>
          </a:prstGeom>
          <a:solidFill>
            <a:srgbClr val="E5F6FF"/>
          </a:solidFill>
          <a:ln w="1905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5" tIns="45715" rIns="45715" bIns="45715" numCol="1" rtlCol="0" anchor="t" anchorCtr="0" compatLnSpc="1">
            <a:prstTxWarp prst="textNoShape">
              <a:avLst/>
            </a:prstTxWarp>
          </a:bodyPr>
          <a:lstStyle/>
          <a:p>
            <a:pPr marL="163763" indent="-163763" defTabSz="457098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542876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5A89-31D3-C769-71AD-38E9ADC2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445"/>
            <a:ext cx="12038468" cy="722283"/>
          </a:xfrm>
        </p:spPr>
        <p:txBody>
          <a:bodyPr vert="horz" lIns="0" tIns="0" rIns="228571" bIns="0" rtlCol="0" anchor="t">
            <a:normAutofit/>
          </a:bodyPr>
          <a:lstStyle/>
          <a:p>
            <a:r>
              <a:rPr lang="en-US" dirty="0">
                <a:latin typeface="IBM Plex Sans Light"/>
              </a:rPr>
              <a:t>Composition for teams, and team of teams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4377F5-F7FD-CAEF-C448-9512566F1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99" y="914729"/>
            <a:ext cx="11563861" cy="5039428"/>
          </a:xfrm>
          <a:prstGeom prst="rect">
            <a:avLst/>
          </a:prstGeom>
        </p:spPr>
      </p:pic>
      <p:sp>
        <p:nvSpPr>
          <p:cNvPr id="4" name="Block Arc 3">
            <a:extLst>
              <a:ext uri="{FF2B5EF4-FFF2-40B4-BE49-F238E27FC236}">
                <a16:creationId xmlns:a16="http://schemas.microsoft.com/office/drawing/2014/main" id="{AE1259EC-8CF6-CFB5-FFF7-4AD24B8FBD23}"/>
              </a:ext>
            </a:extLst>
          </p:cNvPr>
          <p:cNvSpPr/>
          <p:nvPr/>
        </p:nvSpPr>
        <p:spPr bwMode="auto">
          <a:xfrm rot="5219238">
            <a:off x="3338189" y="2324742"/>
            <a:ext cx="722920" cy="397215"/>
          </a:xfrm>
          <a:prstGeom prst="blockArc">
            <a:avLst/>
          </a:prstGeom>
          <a:solidFill>
            <a:schemeClr val="accent1"/>
          </a:solidFill>
          <a:ln w="1905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5" tIns="45715" rIns="45715" bIns="45715" numCol="1" rtlCol="0" anchor="t" anchorCtr="0" compatLnSpc="1">
            <a:prstTxWarp prst="textNoShape">
              <a:avLst/>
            </a:prstTxWarp>
          </a:bodyPr>
          <a:lstStyle/>
          <a:p>
            <a:pPr marL="163763" indent="-163763" defTabSz="457098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B034B6B8-8198-3EE8-BD94-E0C8B0158057}"/>
              </a:ext>
            </a:extLst>
          </p:cNvPr>
          <p:cNvSpPr/>
          <p:nvPr/>
        </p:nvSpPr>
        <p:spPr bwMode="auto">
          <a:xfrm rot="5219238">
            <a:off x="9410360" y="2324742"/>
            <a:ext cx="722920" cy="397215"/>
          </a:xfrm>
          <a:prstGeom prst="blockArc">
            <a:avLst/>
          </a:prstGeom>
          <a:solidFill>
            <a:schemeClr val="accent1"/>
          </a:solidFill>
          <a:ln w="1905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5" tIns="45715" rIns="45715" bIns="45715" numCol="1" rtlCol="0" anchor="t" anchorCtr="0" compatLnSpc="1">
            <a:prstTxWarp prst="textNoShape">
              <a:avLst/>
            </a:prstTxWarp>
          </a:bodyPr>
          <a:lstStyle/>
          <a:p>
            <a:pPr marL="163763" indent="-163763" defTabSz="457098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3F6FF-EE86-75B2-1600-92D2ED24D1DF}"/>
              </a:ext>
            </a:extLst>
          </p:cNvPr>
          <p:cNvSpPr txBox="1"/>
          <p:nvPr/>
        </p:nvSpPr>
        <p:spPr>
          <a:xfrm>
            <a:off x="7718232" y="6081479"/>
            <a:ext cx="2785368" cy="616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1218926">
              <a:buSzPct val="100000"/>
            </a:pPr>
            <a:r>
              <a:rPr lang="en-US" sz="1200" dirty="0">
                <a:cs typeface="Arial" panose="020B0604020202020204" pitchFamily="34" charset="0"/>
              </a:rPr>
              <a:t>Can be built using StepZen, or any other tool. We do not require any special directives to be exposed for federation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01AAA089-F48D-661E-3096-A4E06075D130}"/>
              </a:ext>
            </a:extLst>
          </p:cNvPr>
          <p:cNvCxnSpPr>
            <a:stCxn id="6" idx="1"/>
          </p:cNvCxnSpPr>
          <p:nvPr/>
        </p:nvCxnSpPr>
        <p:spPr bwMode="auto">
          <a:xfrm rot="10800000">
            <a:off x="7261093" y="5432978"/>
            <a:ext cx="457140" cy="956807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1ACCCDCC-FCF4-28E4-270F-9D5B694A6385}"/>
              </a:ext>
            </a:extLst>
          </p:cNvPr>
          <p:cNvCxnSpPr>
            <a:stCxn id="6" idx="3"/>
          </p:cNvCxnSpPr>
          <p:nvPr/>
        </p:nvCxnSpPr>
        <p:spPr bwMode="auto">
          <a:xfrm flipV="1">
            <a:off x="10503600" y="5432978"/>
            <a:ext cx="308304" cy="956805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246907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95152B-A654-A30A-EC8B-3C05987D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10519245" cy="4095750"/>
          </a:xfrm>
        </p:spPr>
        <p:txBody>
          <a:bodyPr/>
          <a:lstStyle/>
          <a:p>
            <a:r>
              <a:rPr lang="en-US" sz="6000" dirty="0">
                <a:solidFill>
                  <a:schemeClr val="accent1"/>
                </a:solidFill>
              </a:rPr>
              <a:t>Competition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9AF32-5247-BF06-A8C3-F4EE7119F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678028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538B1-B2DD-6C43-EAA6-03A46906B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1411224"/>
          </a:xfrm>
        </p:spPr>
        <p:txBody>
          <a:bodyPr/>
          <a:lstStyle/>
          <a:p>
            <a:r>
              <a:rPr lang="en-US" dirty="0"/>
              <a:t>apollo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A0FE6A-705A-58BC-2F4A-D78C7C013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31608-CC15-9B07-1546-3FECBC56B7B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DA02B9-57D1-B35A-4D14-74E25596116D}"/>
              </a:ext>
            </a:extLst>
          </p:cNvPr>
          <p:cNvSpPr txBox="1"/>
          <p:nvPr/>
        </p:nvSpPr>
        <p:spPr>
          <a:xfrm>
            <a:off x="1328928" y="163372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D754E-3072-A47C-3F83-DEAD35CB4896}"/>
              </a:ext>
            </a:extLst>
          </p:cNvPr>
          <p:cNvSpPr txBox="1"/>
          <p:nvPr/>
        </p:nvSpPr>
        <p:spPr>
          <a:xfrm>
            <a:off x="609600" y="2462784"/>
            <a:ext cx="10879248" cy="3681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rmAutofit fontScale="92500" lnSpcReduction="20000"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Strengths:</a:t>
            </a:r>
          </a:p>
          <a:p>
            <a:pPr marL="285750" indent="-28575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Well-known name (they will be in most conversations)</a:t>
            </a:r>
          </a:p>
          <a:p>
            <a:pPr marL="285750" indent="-28575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Easy to start for free</a:t>
            </a:r>
          </a:p>
          <a:p>
            <a:pPr marL="285750" indent="-28575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First-mover advantage. When people think about GraphQL Federation they think about what Apollo says it is.</a:t>
            </a:r>
          </a:p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Weaknesses:</a:t>
            </a:r>
          </a:p>
          <a:p>
            <a:pPr marL="285750" indent="-28575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Federation is complex</a:t>
            </a:r>
          </a:p>
          <a:p>
            <a:pPr marL="285750" indent="-28575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Implementation of APIs requires writing code, running a server, etc.</a:t>
            </a:r>
          </a:p>
        </p:txBody>
      </p:sp>
    </p:spTree>
    <p:extLst>
      <p:ext uri="{BB962C8B-B14F-4D97-AF65-F5344CB8AC3E}">
        <p14:creationId xmlns:p14="http://schemas.microsoft.com/office/powerpoint/2010/main" val="3257175025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5BAD5-186C-F6C9-7A41-380A93B31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hasura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0FEA69-1F17-5E01-F559-C380825E5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BA970-A272-98F7-F36B-13BC344DEBD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455A35-9D28-9F0E-A819-C61A2DDCE7E0}"/>
              </a:ext>
            </a:extLst>
          </p:cNvPr>
          <p:cNvSpPr txBox="1"/>
          <p:nvPr/>
        </p:nvSpPr>
        <p:spPr>
          <a:xfrm>
            <a:off x="609600" y="2462784"/>
            <a:ext cx="8766048" cy="3681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rm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Strengths:</a:t>
            </a:r>
          </a:p>
          <a:p>
            <a:pPr marL="285750" indent="-28575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Focus is mostly on DB, very easy to get started with automatic API creation</a:t>
            </a:r>
          </a:p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Weaknesses:</a:t>
            </a:r>
          </a:p>
          <a:p>
            <a:pPr marL="285750" indent="-28575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Focus is mostly on DB (difficult to do anything else)</a:t>
            </a:r>
          </a:p>
          <a:p>
            <a:pPr marL="285750" indent="-28575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GUI driven only</a:t>
            </a:r>
          </a:p>
          <a:p>
            <a:pPr marL="285750" indent="-28575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Scale and maintenance can be difficult</a:t>
            </a:r>
          </a:p>
        </p:txBody>
      </p:sp>
    </p:spTree>
    <p:extLst>
      <p:ext uri="{BB962C8B-B14F-4D97-AF65-F5344CB8AC3E}">
        <p14:creationId xmlns:p14="http://schemas.microsoft.com/office/powerpoint/2010/main" val="2225101908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95152B-A654-A30A-EC8B-3C05987D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10519245" cy="4095750"/>
          </a:xfrm>
        </p:spPr>
        <p:txBody>
          <a:bodyPr/>
          <a:lstStyle/>
          <a:p>
            <a:r>
              <a:rPr lang="en-US" sz="6000" dirty="0">
                <a:solidFill>
                  <a:schemeClr val="accent1"/>
                </a:solidFill>
              </a:rPr>
              <a:t>Pricing, licensing, sizing</a:t>
            </a:r>
            <a:br>
              <a:rPr lang="en-US" sz="6000" dirty="0">
                <a:solidFill>
                  <a:schemeClr val="accent1"/>
                </a:solidFill>
              </a:rPr>
            </a:br>
            <a:r>
              <a:rPr lang="en-US" sz="6000" dirty="0">
                <a:solidFill>
                  <a:schemeClr val="accent1"/>
                </a:solidFill>
              </a:rPr>
              <a:t> - Newton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9AF32-5247-BF06-A8C3-F4EE7119F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609843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5785-AE8C-7895-EF03-0A76D664C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228570" bIns="0" anchor="t"/>
          <a:lstStyle/>
          <a:p>
            <a:r>
              <a:rPr lang="en-US" sz="4399" dirty="0">
                <a:latin typeface="IBM Plex Sans Light"/>
              </a:rPr>
              <a:t>Start for Free</a:t>
            </a:r>
            <a:endParaRPr lang="en-US" sz="4399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AF1FF0-61A4-B302-51B3-2A9EA36662F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03067" y="5937694"/>
            <a:ext cx="5091258" cy="628568"/>
          </a:xfrm>
        </p:spPr>
        <p:txBody>
          <a:bodyPr/>
          <a:lstStyle/>
          <a:p>
            <a:pPr algn="ctr"/>
            <a:r>
              <a:rPr lang="en-US" sz="2699" dirty="0">
                <a:latin typeface="IBMPlexSans"/>
                <a:hlinkClick r:id="rId2"/>
              </a:rPr>
              <a:t>https://ibm.biz/try-stepzen</a:t>
            </a:r>
            <a:r>
              <a:rPr lang="en-US" sz="2699" dirty="0">
                <a:solidFill>
                  <a:srgbClr val="F2F4F8"/>
                </a:solidFill>
                <a:latin typeface="IBMPlexSans"/>
              </a:rPr>
              <a:t> </a:t>
            </a:r>
            <a:endParaRPr lang="en-US" sz="2699" dirty="0"/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A07F9D-6A0E-9E3F-BCE5-7BEF6A044A2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1145099"/>
            <a:ext cx="5091258" cy="4285691"/>
          </a:xfrm>
        </p:spPr>
        <p:txBody>
          <a:bodyPr/>
          <a:lstStyle/>
          <a:p>
            <a:r>
              <a:rPr lang="en-US" sz="2400" dirty="0"/>
              <a:t>Get started today with building and deploying your own GraphQL Services. </a:t>
            </a:r>
          </a:p>
          <a:p>
            <a:endParaRPr lang="en-US" sz="2400" dirty="0"/>
          </a:p>
          <a:p>
            <a:r>
              <a:rPr lang="en-US" sz="2400" dirty="0"/>
              <a:t>Target: </a:t>
            </a:r>
          </a:p>
          <a:p>
            <a:r>
              <a:rPr lang="en-US" sz="2400" dirty="0"/>
              <a:t>	PoC, MVPs, Growing Skills</a:t>
            </a:r>
          </a:p>
          <a:p>
            <a:endParaRPr lang="en-US" sz="2400" dirty="0"/>
          </a:p>
          <a:p>
            <a:r>
              <a:rPr lang="en-US" sz="2400" dirty="0"/>
              <a:t>Limited:</a:t>
            </a:r>
          </a:p>
          <a:p>
            <a:r>
              <a:rPr lang="en-US" sz="2400" dirty="0"/>
              <a:t>	Deployed Endpoints</a:t>
            </a:r>
          </a:p>
          <a:p>
            <a:r>
              <a:rPr lang="en-US" sz="2400" dirty="0"/>
              <a:t>	Calls Per Month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1200" dirty="0"/>
              <a:t>Not for Production or Other Critical Workloads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CDD02-F9F1-DD24-8D1B-E9198572CE11}"/>
              </a:ext>
            </a:extLst>
          </p:cNvPr>
          <p:cNvSpPr txBox="1"/>
          <p:nvPr/>
        </p:nvSpPr>
        <p:spPr>
          <a:xfrm>
            <a:off x="9307380" y="3701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defTabSz="1218956">
              <a:buSzPct val="100000"/>
            </a:pPr>
            <a:endParaRPr lang="en-US" sz="1200" dirty="0"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615B79-3332-93AC-3DC9-192D8E49AE11}"/>
              </a:ext>
            </a:extLst>
          </p:cNvPr>
          <p:cNvSpPr txBox="1"/>
          <p:nvPr/>
        </p:nvSpPr>
        <p:spPr>
          <a:xfrm>
            <a:off x="8027387" y="1621803"/>
            <a:ext cx="3785123" cy="4467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1218956">
              <a:buSzPct val="100000"/>
            </a:pPr>
            <a:endParaRPr lang="en-US" sz="1200" dirty="0"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3A370-5AB3-7465-4385-72BE5B2363A2}"/>
              </a:ext>
            </a:extLst>
          </p:cNvPr>
          <p:cNvSpPr txBox="1"/>
          <p:nvPr/>
        </p:nvSpPr>
        <p:spPr>
          <a:xfrm>
            <a:off x="5686828" y="-950852"/>
            <a:ext cx="457140" cy="457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defTabSz="1218956">
              <a:buSzPct val="100000"/>
            </a:pPr>
            <a:endParaRPr lang="en-US" sz="1200" dirty="0"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06DA9A-E17B-AF20-C1E6-72458FC3B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066" y="1145098"/>
            <a:ext cx="5263009" cy="478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47784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A1B877F-6DEC-9EE2-5894-A6945BEB4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64" y="185198"/>
            <a:ext cx="10514231" cy="1140639"/>
          </a:xfrm>
        </p:spPr>
        <p:txBody>
          <a:bodyPr/>
          <a:lstStyle/>
          <a:p>
            <a:r>
              <a:rPr lang="en-US" dirty="0"/>
              <a:t>Overview – IBM StepZen Graph Server Essentials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B113AC-5F23-8FBC-1AB3-E3201E9866A2}"/>
              </a:ext>
            </a:extLst>
          </p:cNvPr>
          <p:cNvGrpSpPr/>
          <p:nvPr/>
        </p:nvGrpSpPr>
        <p:grpSpPr>
          <a:xfrm>
            <a:off x="277273" y="880546"/>
            <a:ext cx="11448487" cy="1779626"/>
            <a:chOff x="277309" y="842511"/>
            <a:chExt cx="5428099" cy="520743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8B446B8-4C58-98F7-0E01-A3E29AFC4567}"/>
                </a:ext>
              </a:extLst>
            </p:cNvPr>
            <p:cNvSpPr/>
            <p:nvPr/>
          </p:nvSpPr>
          <p:spPr bwMode="auto">
            <a:xfrm>
              <a:off x="277309" y="842511"/>
              <a:ext cx="5428099" cy="5207439"/>
            </a:xfrm>
            <a:prstGeom prst="rect">
              <a:avLst/>
            </a:prstGeom>
            <a:solidFill>
              <a:srgbClr val="EDF4FF"/>
            </a:soli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7994" tIns="47994" rIns="47994" bIns="47994" numCol="1" rtlCol="0" anchor="t" anchorCtr="0" compatLnSpc="1">
              <a:prstTxWarp prst="textNoShape">
                <a:avLst/>
              </a:prstTxWarp>
            </a:bodyPr>
            <a:lstStyle/>
            <a:p>
              <a:pPr defTabSz="121894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666" dirty="0">
                <a:solidFill>
                  <a:srgbClr val="191919"/>
                </a:solidFill>
                <a:latin typeface="HelvNeue Light for IBM" pitchFamily="34" charset="0"/>
                <a:sym typeface="Helvetica"/>
              </a:endParaRPr>
            </a:p>
          </p:txBody>
        </p:sp>
        <p:sp>
          <p:nvSpPr>
            <p:cNvPr id="5" name="Content Placeholder 4">
              <a:extLst>
                <a:ext uri="{FF2B5EF4-FFF2-40B4-BE49-F238E27FC236}">
                  <a16:creationId xmlns:a16="http://schemas.microsoft.com/office/drawing/2014/main" id="{DFCB2189-7557-D508-FD0E-08679E63242D}"/>
                </a:ext>
              </a:extLst>
            </p:cNvPr>
            <p:cNvSpPr txBox="1">
              <a:spLocks/>
            </p:cNvSpPr>
            <p:nvPr/>
          </p:nvSpPr>
          <p:spPr>
            <a:xfrm>
              <a:off x="464713" y="1044326"/>
              <a:ext cx="4951326" cy="461087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Font typeface="Wingdings" pitchFamily="2" charset="2"/>
                <a:buNone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1pPr>
              <a:lvl2pPr marL="171450" indent="-17145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.AppleSystemUIFont" charset="-120"/>
                <a:buChar char="–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2pPr>
              <a:lvl3pPr marL="342900" indent="-141288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3pPr>
              <a:lvl4pPr marL="628650" indent="-193675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.AppleSystemUIFont" charset="-120"/>
                <a:buChar char="–"/>
                <a:tabLst/>
                <a:defRPr sz="1400" baseline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4pPr>
              <a:lvl5pPr marL="803275" indent="-17145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Font typeface=".AppleSystemUIFont" charset="-120"/>
                <a:buChar char="»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5pPr>
              <a:lvl6pPr marL="1583701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6pPr>
              <a:lvl7pPr marL="1946266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7pPr>
              <a:lvl8pPr marL="2308831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8pPr>
              <a:lvl9pPr marL="2671396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>
                <a:spcBef>
                  <a:spcPts val="300"/>
                </a:spcBef>
              </a:pPr>
              <a:r>
                <a:rPr lang="en-US" sz="1800" dirty="0">
                  <a:latin typeface="IBM Plex Sans Light" panose="020B0403050203000203" pitchFamily="34" charset="0"/>
                </a:rPr>
                <a:t>IBM StepZen Graph Server Essentials is delivered as a multi-tenant SaaS offering running on AWS</a:t>
              </a:r>
            </a:p>
            <a:p>
              <a:pPr>
                <a:spcBef>
                  <a:spcPts val="300"/>
                </a:spcBef>
              </a:pPr>
              <a:endParaRPr lang="en-US" sz="1800" dirty="0">
                <a:latin typeface="IBM Plex Sans Light" panose="020B0403050203000203" pitchFamily="34" charset="0"/>
              </a:endParaRPr>
            </a:p>
            <a:p>
              <a:pPr>
                <a:spcBef>
                  <a:spcPts val="300"/>
                </a:spcBef>
              </a:pPr>
              <a:r>
                <a:rPr lang="en-US" sz="1800" b="1" dirty="0">
                  <a:latin typeface="IBM Plex Sans Light" panose="020B0403050203000203" pitchFamily="34" charset="0"/>
                </a:rPr>
                <a:t>AWS Datacenters Available at GA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US-East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Frankfurt (EU)</a:t>
              </a:r>
              <a:endParaRPr lang="en-US" sz="1800" baseline="30000" dirty="0">
                <a:latin typeface="IBM Plex Sans Light" panose="020B0403050203000203" pitchFamily="34" charset="0"/>
              </a:endParaRPr>
            </a:p>
            <a:p>
              <a:pPr>
                <a:spcBef>
                  <a:spcPts val="300"/>
                </a:spcBef>
              </a:pPr>
              <a:endParaRPr lang="en-US" sz="1800" dirty="0">
                <a:latin typeface="IBM Plex Sans Light" panose="020B0403050203000203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05BBBB-A4E6-8AF7-BEBA-B242BAEFCB58}"/>
              </a:ext>
            </a:extLst>
          </p:cNvPr>
          <p:cNvGrpSpPr/>
          <p:nvPr/>
        </p:nvGrpSpPr>
        <p:grpSpPr>
          <a:xfrm>
            <a:off x="290070" y="2847185"/>
            <a:ext cx="5638667" cy="3613889"/>
            <a:chOff x="277309" y="842511"/>
            <a:chExt cx="5462105" cy="594229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02A281-3C97-E009-32A1-12677857FE70}"/>
                </a:ext>
              </a:extLst>
            </p:cNvPr>
            <p:cNvSpPr/>
            <p:nvPr/>
          </p:nvSpPr>
          <p:spPr bwMode="auto">
            <a:xfrm>
              <a:off x="277309" y="842511"/>
              <a:ext cx="5462105" cy="5942291"/>
            </a:xfrm>
            <a:prstGeom prst="rect">
              <a:avLst/>
            </a:prstGeom>
            <a:solidFill>
              <a:srgbClr val="EDF4FF"/>
            </a:soli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7994" tIns="47994" rIns="47994" bIns="47994" numCol="1" rtlCol="0" anchor="t" anchorCtr="0" compatLnSpc="1">
              <a:prstTxWarp prst="textNoShape">
                <a:avLst/>
              </a:prstTxWarp>
            </a:bodyPr>
            <a:lstStyle/>
            <a:p>
              <a:pPr defTabSz="121894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666" dirty="0">
                <a:solidFill>
                  <a:srgbClr val="191919"/>
                </a:solidFill>
                <a:latin typeface="HelvNeue Light for IBM" pitchFamily="34" charset="0"/>
                <a:sym typeface="Helvetica"/>
              </a:endParaRPr>
            </a:p>
          </p:txBody>
        </p:sp>
        <p:sp>
          <p:nvSpPr>
            <p:cNvPr id="15" name="Content Placeholder 4">
              <a:extLst>
                <a:ext uri="{FF2B5EF4-FFF2-40B4-BE49-F238E27FC236}">
                  <a16:creationId xmlns:a16="http://schemas.microsoft.com/office/drawing/2014/main" id="{96B373B7-E191-FC03-991E-270B6F79D73D}"/>
                </a:ext>
              </a:extLst>
            </p:cNvPr>
            <p:cNvSpPr txBox="1">
              <a:spLocks/>
            </p:cNvSpPr>
            <p:nvPr/>
          </p:nvSpPr>
          <p:spPr>
            <a:xfrm>
              <a:off x="464713" y="1044325"/>
              <a:ext cx="4951326" cy="120678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Font typeface="Wingdings" pitchFamily="2" charset="2"/>
                <a:buNone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1pPr>
              <a:lvl2pPr marL="171450" indent="-17145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.AppleSystemUIFont" charset="-120"/>
                <a:buChar char="–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2pPr>
              <a:lvl3pPr marL="342900" indent="-141288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3pPr>
              <a:lvl4pPr marL="628650" indent="-193675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.AppleSystemUIFont" charset="-120"/>
                <a:buChar char="–"/>
                <a:tabLst/>
                <a:defRPr sz="1400" baseline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4pPr>
              <a:lvl5pPr marL="803275" indent="-17145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Font typeface=".AppleSystemUIFont" charset="-120"/>
                <a:buChar char="»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5pPr>
              <a:lvl6pPr marL="1583701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6pPr>
              <a:lvl7pPr marL="1946266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7pPr>
              <a:lvl8pPr marL="2308831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8pPr>
              <a:lvl9pPr marL="2671396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>
                <a:spcBef>
                  <a:spcPts val="300"/>
                </a:spcBef>
              </a:pPr>
              <a:r>
                <a:rPr lang="en-US" sz="1800" b="1" dirty="0">
                  <a:latin typeface="IBM Plex Sans Light" panose="020B0403050203000203" pitchFamily="34" charset="0"/>
                </a:rPr>
                <a:t>Purchasing options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Multi-tenant SaaS on AWS – can be sold via IBM SQO or AWS Marketplace 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endParaRPr lang="en-US" sz="1800" dirty="0">
                <a:latin typeface="IBM Plex Sans Light" panose="020B0403050203000203" pitchFamily="34" charset="0"/>
              </a:endParaRP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IBM StepZen Graph Server Essentials </a:t>
              </a:r>
            </a:p>
            <a:p>
              <a:pPr marL="371401" lvl="1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IBM Plex Sans Light" panose="020B0403050203000203" pitchFamily="34" charset="0"/>
                </a:rPr>
                <a:t>Targeted at Individual developers or small departments</a:t>
              </a:r>
            </a:p>
            <a:p>
              <a:pPr marL="371401" lvl="1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IBM Plex Sans Light" panose="020B0403050203000203" pitchFamily="34" charset="0"/>
                </a:rPr>
                <a:t>Community support only</a:t>
              </a:r>
            </a:p>
            <a:p>
              <a:pPr marL="371401" lvl="1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IBM Plex Sans Light" panose="020B0403050203000203" pitchFamily="34" charset="0"/>
                </a:rPr>
                <a:t>1 Location (AWS Region)</a:t>
              </a:r>
            </a:p>
            <a:p>
              <a:pPr marL="371401" lvl="1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IBM Plex Sans Light" panose="020B0403050203000203" pitchFamily="34" charset="0"/>
                </a:rPr>
                <a:t>1 Environments </a:t>
              </a:r>
            </a:p>
            <a:p>
              <a:pPr marL="371401" lvl="1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IBM Plex Sans Light" panose="020B0403050203000203" pitchFamily="34" charset="0"/>
                </a:rPr>
                <a:t>Additional Restrictions: </a:t>
              </a:r>
              <a:r>
                <a:rPr lang="en-US" sz="1150" dirty="0">
                  <a:solidFill>
                    <a:srgbClr val="1D1C1D"/>
                  </a:solidFill>
                  <a:latin typeface="IBM Plex Sans" panose="020B0503050203000203" pitchFamily="34" charset="0"/>
                </a:rPr>
                <a:t>10 deployed endpoints, 600 TPM (Soft) / 200 TPS Burst (Hard), 50 Concurrent WebSocket Connections, and 1000 MB Max Cache Size</a:t>
              </a:r>
              <a:endParaRPr lang="en-US" sz="1150" dirty="0">
                <a:latin typeface="IBM Plex Sans" panose="020B0503050203000203" pitchFamily="34" charset="0"/>
              </a:endParaRP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endParaRPr lang="en-US" sz="1800" dirty="0">
                <a:latin typeface="IBM Plex Sans Light" panose="020B0403050203000203" pitchFamily="34" charset="0"/>
              </a:endParaRPr>
            </a:p>
            <a:p>
              <a:pPr>
                <a:spcBef>
                  <a:spcPts val="300"/>
                </a:spcBef>
              </a:pPr>
              <a:endParaRPr lang="en-US" sz="1800" dirty="0">
                <a:latin typeface="IBM Plex Sans Light" panose="020B0403050203000203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0D02E8-6337-52D9-8E4F-77E0B6B4ECBF}"/>
              </a:ext>
            </a:extLst>
          </p:cNvPr>
          <p:cNvGrpSpPr/>
          <p:nvPr/>
        </p:nvGrpSpPr>
        <p:grpSpPr>
          <a:xfrm>
            <a:off x="6087094" y="2847186"/>
            <a:ext cx="5638667" cy="3613888"/>
            <a:chOff x="277309" y="842511"/>
            <a:chExt cx="5428099" cy="594229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5F403A-1AA5-5BCF-FCBC-5E5E3442F907}"/>
                </a:ext>
              </a:extLst>
            </p:cNvPr>
            <p:cNvSpPr/>
            <p:nvPr/>
          </p:nvSpPr>
          <p:spPr bwMode="auto">
            <a:xfrm>
              <a:off x="277309" y="842511"/>
              <a:ext cx="5428099" cy="5942291"/>
            </a:xfrm>
            <a:prstGeom prst="rect">
              <a:avLst/>
            </a:prstGeom>
            <a:solidFill>
              <a:srgbClr val="EDF4FF"/>
            </a:soli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7994" tIns="47994" rIns="47994" bIns="47994" numCol="1" rtlCol="0" anchor="t" anchorCtr="0" compatLnSpc="1">
              <a:prstTxWarp prst="textNoShape">
                <a:avLst/>
              </a:prstTxWarp>
            </a:bodyPr>
            <a:lstStyle/>
            <a:p>
              <a:pPr defTabSz="121894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dirty="0">
                <a:solidFill>
                  <a:srgbClr val="191919"/>
                </a:solidFill>
                <a:latin typeface="HelvNeue Light for IBM" pitchFamily="34" charset="0"/>
                <a:sym typeface="Helvetica"/>
              </a:endParaRPr>
            </a:p>
          </p:txBody>
        </p:sp>
        <p:sp>
          <p:nvSpPr>
            <p:cNvPr id="18" name="Content Placeholder 4">
              <a:extLst>
                <a:ext uri="{FF2B5EF4-FFF2-40B4-BE49-F238E27FC236}">
                  <a16:creationId xmlns:a16="http://schemas.microsoft.com/office/drawing/2014/main" id="{983C94F0-6EF8-D4F6-79D5-A3FAE7DD2DA1}"/>
                </a:ext>
              </a:extLst>
            </p:cNvPr>
            <p:cNvSpPr txBox="1">
              <a:spLocks/>
            </p:cNvSpPr>
            <p:nvPr/>
          </p:nvSpPr>
          <p:spPr>
            <a:xfrm>
              <a:off x="464713" y="1044325"/>
              <a:ext cx="4951326" cy="120678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Font typeface="Wingdings" pitchFamily="2" charset="2"/>
                <a:buNone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1pPr>
              <a:lvl2pPr marL="171450" indent="-17145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.AppleSystemUIFont" charset="-120"/>
                <a:buChar char="–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2pPr>
              <a:lvl3pPr marL="342900" indent="-141288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3pPr>
              <a:lvl4pPr marL="628650" indent="-193675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.AppleSystemUIFont" charset="-120"/>
                <a:buChar char="–"/>
                <a:tabLst/>
                <a:defRPr sz="1400" baseline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4pPr>
              <a:lvl5pPr marL="803275" indent="-17145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Font typeface=".AppleSystemUIFont" charset="-120"/>
                <a:buChar char="»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5pPr>
              <a:lvl6pPr marL="1583701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6pPr>
              <a:lvl7pPr marL="1946266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7pPr>
              <a:lvl8pPr marL="2308831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8pPr>
              <a:lvl9pPr marL="2671396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>
                <a:spcBef>
                  <a:spcPts val="300"/>
                </a:spcBef>
              </a:pPr>
              <a:r>
                <a:rPr lang="en-US" sz="1800" b="1" dirty="0">
                  <a:latin typeface="IBM Plex Sans Light" panose="020B0403050203000203" pitchFamily="34" charset="0"/>
                </a:rPr>
                <a:t>Metric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One Million API Calls </a:t>
              </a:r>
            </a:p>
            <a:p>
              <a:pPr>
                <a:spcBef>
                  <a:spcPts val="300"/>
                </a:spcBef>
              </a:pPr>
              <a:endParaRPr lang="en-US" sz="1800" b="1" dirty="0">
                <a:latin typeface="IBM Plex Sans Light" panose="020B0403050203000203" pitchFamily="34" charset="0"/>
              </a:endParaRPr>
            </a:p>
            <a:p>
              <a:pPr>
                <a:spcBef>
                  <a:spcPts val="300"/>
                </a:spcBef>
              </a:pPr>
              <a:r>
                <a:rPr lang="en-US" sz="1800" b="1" dirty="0">
                  <a:latin typeface="IBM Plex Sans Light" panose="020B0403050203000203" pitchFamily="34" charset="0"/>
                </a:rPr>
                <a:t>Pricing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$120  per One Million API Calls per Year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Max Discount – 10%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3033EAD-0D44-3EFA-DD64-CD5AED21D8E5}"/>
              </a:ext>
            </a:extLst>
          </p:cNvPr>
          <p:cNvSpPr txBox="1"/>
          <p:nvPr/>
        </p:nvSpPr>
        <p:spPr>
          <a:xfrm>
            <a:off x="794" y="6595978"/>
            <a:ext cx="28504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+mj-lt"/>
              </a:rPr>
              <a:t>Use by IBM and IBM Business Partners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45F3253-B8DD-5E4E-5C85-254DAB20073E}"/>
              </a:ext>
            </a:extLst>
          </p:cNvPr>
          <p:cNvSpPr txBox="1">
            <a:spLocks/>
          </p:cNvSpPr>
          <p:nvPr/>
        </p:nvSpPr>
        <p:spPr>
          <a:xfrm>
            <a:off x="12067943" y="6662730"/>
            <a:ext cx="61707" cy="123094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395FB3-9C97-154F-86B2-7E381B951268}" type="slidenum">
              <a:rPr lang="en-US" sz="800"/>
              <a:pPr/>
              <a:t>44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290565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A1B877F-6DEC-9EE2-5894-A6945BEB4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64" y="185198"/>
            <a:ext cx="10514231" cy="1140639"/>
          </a:xfrm>
        </p:spPr>
        <p:txBody>
          <a:bodyPr/>
          <a:lstStyle/>
          <a:p>
            <a:r>
              <a:rPr lang="en-US" dirty="0"/>
              <a:t>Overview – IBM StepZen Graph Server Enterprise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B113AC-5F23-8FBC-1AB3-E3201E9866A2}"/>
              </a:ext>
            </a:extLst>
          </p:cNvPr>
          <p:cNvGrpSpPr/>
          <p:nvPr/>
        </p:nvGrpSpPr>
        <p:grpSpPr>
          <a:xfrm>
            <a:off x="277273" y="880546"/>
            <a:ext cx="11448487" cy="1779626"/>
            <a:chOff x="277309" y="842511"/>
            <a:chExt cx="5428099" cy="520743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8B446B8-4C58-98F7-0E01-A3E29AFC4567}"/>
                </a:ext>
              </a:extLst>
            </p:cNvPr>
            <p:cNvSpPr/>
            <p:nvPr/>
          </p:nvSpPr>
          <p:spPr bwMode="auto">
            <a:xfrm>
              <a:off x="277309" y="842511"/>
              <a:ext cx="5428099" cy="5207439"/>
            </a:xfrm>
            <a:prstGeom prst="rect">
              <a:avLst/>
            </a:prstGeom>
            <a:solidFill>
              <a:srgbClr val="EDF4FF"/>
            </a:soli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7994" tIns="47994" rIns="47994" bIns="47994" numCol="1" rtlCol="0" anchor="t" anchorCtr="0" compatLnSpc="1">
              <a:prstTxWarp prst="textNoShape">
                <a:avLst/>
              </a:prstTxWarp>
            </a:bodyPr>
            <a:lstStyle/>
            <a:p>
              <a:pPr defTabSz="121894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666" dirty="0">
                <a:solidFill>
                  <a:srgbClr val="191919"/>
                </a:solidFill>
                <a:latin typeface="HelvNeue Light for IBM" pitchFamily="34" charset="0"/>
                <a:sym typeface="Helvetica"/>
              </a:endParaRPr>
            </a:p>
          </p:txBody>
        </p:sp>
        <p:sp>
          <p:nvSpPr>
            <p:cNvPr id="5" name="Content Placeholder 4">
              <a:extLst>
                <a:ext uri="{FF2B5EF4-FFF2-40B4-BE49-F238E27FC236}">
                  <a16:creationId xmlns:a16="http://schemas.microsoft.com/office/drawing/2014/main" id="{DFCB2189-7557-D508-FD0E-08679E63242D}"/>
                </a:ext>
              </a:extLst>
            </p:cNvPr>
            <p:cNvSpPr txBox="1">
              <a:spLocks/>
            </p:cNvSpPr>
            <p:nvPr/>
          </p:nvSpPr>
          <p:spPr>
            <a:xfrm>
              <a:off x="464713" y="1044326"/>
              <a:ext cx="4951326" cy="461087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Font typeface="Wingdings" pitchFamily="2" charset="2"/>
                <a:buNone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1pPr>
              <a:lvl2pPr marL="171450" indent="-17145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.AppleSystemUIFont" charset="-120"/>
                <a:buChar char="–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2pPr>
              <a:lvl3pPr marL="342900" indent="-141288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3pPr>
              <a:lvl4pPr marL="628650" indent="-193675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.AppleSystemUIFont" charset="-120"/>
                <a:buChar char="–"/>
                <a:tabLst/>
                <a:defRPr sz="1400" baseline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4pPr>
              <a:lvl5pPr marL="803275" indent="-17145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Font typeface=".AppleSystemUIFont" charset="-120"/>
                <a:buChar char="»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5pPr>
              <a:lvl6pPr marL="1583701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6pPr>
              <a:lvl7pPr marL="1946266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7pPr>
              <a:lvl8pPr marL="2308831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8pPr>
              <a:lvl9pPr marL="2671396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>
                <a:spcBef>
                  <a:spcPts val="300"/>
                </a:spcBef>
              </a:pPr>
              <a:r>
                <a:rPr lang="en-US" sz="1800" dirty="0">
                  <a:latin typeface="IBM Plex Sans Light" panose="020B0403050203000203" pitchFamily="34" charset="0"/>
                </a:rPr>
                <a:t>IBM StepZen Graph Server Essentials is delivered as a multi-tenant SaaS offering running on AWS</a:t>
              </a:r>
            </a:p>
            <a:p>
              <a:pPr>
                <a:spcBef>
                  <a:spcPts val="300"/>
                </a:spcBef>
              </a:pPr>
              <a:endParaRPr lang="en-US" sz="1800" dirty="0">
                <a:latin typeface="IBM Plex Sans Light" panose="020B0403050203000203" pitchFamily="34" charset="0"/>
              </a:endParaRPr>
            </a:p>
            <a:p>
              <a:pPr>
                <a:spcBef>
                  <a:spcPts val="300"/>
                </a:spcBef>
              </a:pPr>
              <a:r>
                <a:rPr lang="en-US" sz="1800" b="1" dirty="0">
                  <a:latin typeface="IBM Plex Sans Light" panose="020B0403050203000203" pitchFamily="34" charset="0"/>
                </a:rPr>
                <a:t>AWS Datacenters Available at GA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US-East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Frankfurt (EU)</a:t>
              </a:r>
              <a:endParaRPr lang="en-US" sz="1800" baseline="30000" dirty="0">
                <a:latin typeface="IBM Plex Sans Light" panose="020B0403050203000203" pitchFamily="34" charset="0"/>
              </a:endParaRPr>
            </a:p>
            <a:p>
              <a:pPr>
                <a:spcBef>
                  <a:spcPts val="300"/>
                </a:spcBef>
              </a:pPr>
              <a:endParaRPr lang="en-US" sz="1800" dirty="0">
                <a:latin typeface="IBM Plex Sans Light" panose="020B0403050203000203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05BBBB-A4E6-8AF7-BEBA-B242BAEFCB58}"/>
              </a:ext>
            </a:extLst>
          </p:cNvPr>
          <p:cNvGrpSpPr/>
          <p:nvPr/>
        </p:nvGrpSpPr>
        <p:grpSpPr>
          <a:xfrm>
            <a:off x="290070" y="2847186"/>
            <a:ext cx="5603562" cy="3166978"/>
            <a:chOff x="277309" y="842511"/>
            <a:chExt cx="5428099" cy="520743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02A281-3C97-E009-32A1-12677857FE70}"/>
                </a:ext>
              </a:extLst>
            </p:cNvPr>
            <p:cNvSpPr/>
            <p:nvPr/>
          </p:nvSpPr>
          <p:spPr bwMode="auto">
            <a:xfrm>
              <a:off x="277309" y="842511"/>
              <a:ext cx="5428099" cy="5207439"/>
            </a:xfrm>
            <a:prstGeom prst="rect">
              <a:avLst/>
            </a:prstGeom>
            <a:solidFill>
              <a:srgbClr val="EDF4FF"/>
            </a:soli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7994" tIns="47994" rIns="47994" bIns="47994" numCol="1" rtlCol="0" anchor="t" anchorCtr="0" compatLnSpc="1">
              <a:prstTxWarp prst="textNoShape">
                <a:avLst/>
              </a:prstTxWarp>
            </a:bodyPr>
            <a:lstStyle/>
            <a:p>
              <a:pPr defTabSz="121894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666" dirty="0">
                <a:solidFill>
                  <a:srgbClr val="191919"/>
                </a:solidFill>
                <a:latin typeface="HelvNeue Light for IBM" pitchFamily="34" charset="0"/>
                <a:sym typeface="Helvetica"/>
              </a:endParaRPr>
            </a:p>
          </p:txBody>
        </p:sp>
        <p:sp>
          <p:nvSpPr>
            <p:cNvPr id="15" name="Content Placeholder 4">
              <a:extLst>
                <a:ext uri="{FF2B5EF4-FFF2-40B4-BE49-F238E27FC236}">
                  <a16:creationId xmlns:a16="http://schemas.microsoft.com/office/drawing/2014/main" id="{96B373B7-E191-FC03-991E-270B6F79D73D}"/>
                </a:ext>
              </a:extLst>
            </p:cNvPr>
            <p:cNvSpPr txBox="1">
              <a:spLocks/>
            </p:cNvSpPr>
            <p:nvPr/>
          </p:nvSpPr>
          <p:spPr>
            <a:xfrm>
              <a:off x="464713" y="1044325"/>
              <a:ext cx="4951326" cy="120678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Font typeface="Wingdings" pitchFamily="2" charset="2"/>
                <a:buNone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1pPr>
              <a:lvl2pPr marL="171450" indent="-17145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.AppleSystemUIFont" charset="-120"/>
                <a:buChar char="–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2pPr>
              <a:lvl3pPr marL="342900" indent="-141288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3pPr>
              <a:lvl4pPr marL="628650" indent="-193675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.AppleSystemUIFont" charset="-120"/>
                <a:buChar char="–"/>
                <a:tabLst/>
                <a:defRPr sz="1400" baseline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4pPr>
              <a:lvl5pPr marL="803275" indent="-17145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Font typeface=".AppleSystemUIFont" charset="-120"/>
                <a:buChar char="»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5pPr>
              <a:lvl6pPr marL="1583701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6pPr>
              <a:lvl7pPr marL="1946266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7pPr>
              <a:lvl8pPr marL="2308831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8pPr>
              <a:lvl9pPr marL="2671396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>
                <a:spcBef>
                  <a:spcPts val="300"/>
                </a:spcBef>
              </a:pPr>
              <a:r>
                <a:rPr lang="en-US" sz="1800" b="1" dirty="0">
                  <a:latin typeface="IBM Plex Sans Light" panose="020B0403050203000203" pitchFamily="34" charset="0"/>
                </a:rPr>
                <a:t>Purchasing options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Multi-tenant SaaS on AWS – can be sold via IBM SQO or AWS Marketplace 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endParaRPr lang="en-US" sz="1800" dirty="0">
                <a:latin typeface="IBM Plex Sans Light" panose="020B0403050203000203" pitchFamily="34" charset="0"/>
              </a:endParaRP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IBM StepZen Graph Server Enterprise Instance  </a:t>
              </a:r>
            </a:p>
            <a:p>
              <a:pPr marL="371401" lvl="1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IBM Plex Sans Light" panose="020B0403050203000203" pitchFamily="34" charset="0"/>
                </a:rPr>
                <a:t>Targeted at an Enterprise use case </a:t>
              </a:r>
            </a:p>
            <a:p>
              <a:pPr marL="371401" lvl="1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IBM Plex Sans Light" panose="020B0403050203000203" pitchFamily="34" charset="0"/>
                </a:rPr>
                <a:t>Full IBM Support </a:t>
              </a:r>
            </a:p>
            <a:p>
              <a:pPr marL="371401" lvl="1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IBM Plex Sans Light" panose="020B0403050203000203" pitchFamily="34" charset="0"/>
                </a:rPr>
                <a:t>100M API Calls </a:t>
              </a:r>
            </a:p>
            <a:p>
              <a:pPr marL="371401" lvl="1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IBM Plex Sans Light" panose="020B0403050203000203" pitchFamily="34" charset="0"/>
                </a:rPr>
                <a:t>1 Location (AWS Region)</a:t>
              </a:r>
            </a:p>
            <a:p>
              <a:pPr marL="371401" lvl="1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IBM Plex Sans Light" panose="020B0403050203000203" pitchFamily="34" charset="0"/>
                </a:rPr>
                <a:t>5 Environments (</a:t>
              </a:r>
              <a:r>
                <a:rPr lang="en-US" sz="1600" dirty="0" err="1">
                  <a:latin typeface="IBM Plex Sans Light" panose="020B0403050203000203" pitchFamily="34" charset="0"/>
                </a:rPr>
                <a:t>eg</a:t>
              </a:r>
              <a:r>
                <a:rPr lang="en-US" sz="1600" dirty="0">
                  <a:latin typeface="IBM Plex Sans Light" panose="020B0403050203000203" pitchFamily="34" charset="0"/>
                </a:rPr>
                <a:t> Test, Dev, Prod </a:t>
              </a:r>
              <a:r>
                <a:rPr lang="en-US" sz="1600" dirty="0" err="1">
                  <a:latin typeface="IBM Plex Sans Light" panose="020B0403050203000203" pitchFamily="34" charset="0"/>
                </a:rPr>
                <a:t>etc</a:t>
              </a:r>
              <a:r>
                <a:rPr lang="en-US" sz="1600" dirty="0">
                  <a:latin typeface="IBM Plex Sans Light" panose="020B0403050203000203" pitchFamily="34" charset="0"/>
                </a:rPr>
                <a:t>) </a:t>
              </a:r>
            </a:p>
            <a:p>
              <a:pPr marL="371401" lvl="1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endParaRPr lang="en-US" sz="1600" dirty="0">
                <a:latin typeface="IBM Plex Sans Light" panose="020B0403050203000203" pitchFamily="34" charset="0"/>
              </a:endParaRP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endParaRPr lang="en-US" sz="1800" dirty="0">
                <a:latin typeface="IBM Plex Sans Light" panose="020B0403050203000203" pitchFamily="34" charset="0"/>
              </a:endParaRPr>
            </a:p>
            <a:p>
              <a:pPr>
                <a:spcBef>
                  <a:spcPts val="300"/>
                </a:spcBef>
              </a:pPr>
              <a:endParaRPr lang="en-US" sz="1800" dirty="0">
                <a:latin typeface="IBM Plex Sans Light" panose="020B0403050203000203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0D02E8-6337-52D9-8E4F-77E0B6B4ECBF}"/>
              </a:ext>
            </a:extLst>
          </p:cNvPr>
          <p:cNvGrpSpPr/>
          <p:nvPr/>
        </p:nvGrpSpPr>
        <p:grpSpPr>
          <a:xfrm>
            <a:off x="6087094" y="2847186"/>
            <a:ext cx="5638667" cy="3956579"/>
            <a:chOff x="277309" y="842510"/>
            <a:chExt cx="5428099" cy="650577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5F403A-1AA5-5BCF-FCBC-5E5E3442F907}"/>
                </a:ext>
              </a:extLst>
            </p:cNvPr>
            <p:cNvSpPr/>
            <p:nvPr/>
          </p:nvSpPr>
          <p:spPr bwMode="auto">
            <a:xfrm>
              <a:off x="277309" y="842510"/>
              <a:ext cx="5428099" cy="6505775"/>
            </a:xfrm>
            <a:prstGeom prst="rect">
              <a:avLst/>
            </a:prstGeom>
            <a:solidFill>
              <a:srgbClr val="EDF4FF"/>
            </a:soli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7994" tIns="47994" rIns="47994" bIns="47994" numCol="1" rtlCol="0" anchor="t" anchorCtr="0" compatLnSpc="1">
              <a:prstTxWarp prst="textNoShape">
                <a:avLst/>
              </a:prstTxWarp>
            </a:bodyPr>
            <a:lstStyle/>
            <a:p>
              <a:pPr defTabSz="121894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dirty="0">
                <a:solidFill>
                  <a:srgbClr val="191919"/>
                </a:solidFill>
                <a:latin typeface="HelvNeue Light for IBM" pitchFamily="34" charset="0"/>
                <a:sym typeface="Helvetica"/>
              </a:endParaRPr>
            </a:p>
          </p:txBody>
        </p:sp>
        <p:sp>
          <p:nvSpPr>
            <p:cNvPr id="18" name="Content Placeholder 4">
              <a:extLst>
                <a:ext uri="{FF2B5EF4-FFF2-40B4-BE49-F238E27FC236}">
                  <a16:creationId xmlns:a16="http://schemas.microsoft.com/office/drawing/2014/main" id="{983C94F0-6EF8-D4F6-79D5-A3FAE7DD2DA1}"/>
                </a:ext>
              </a:extLst>
            </p:cNvPr>
            <p:cNvSpPr txBox="1">
              <a:spLocks/>
            </p:cNvSpPr>
            <p:nvPr/>
          </p:nvSpPr>
          <p:spPr>
            <a:xfrm>
              <a:off x="464713" y="1044325"/>
              <a:ext cx="4951326" cy="120678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Font typeface="Wingdings" pitchFamily="2" charset="2"/>
                <a:buNone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1pPr>
              <a:lvl2pPr marL="171450" indent="-17145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.AppleSystemUIFont" charset="-120"/>
                <a:buChar char="–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2pPr>
              <a:lvl3pPr marL="342900" indent="-141288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3pPr>
              <a:lvl4pPr marL="628650" indent="-193675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.AppleSystemUIFont" charset="-120"/>
                <a:buChar char="–"/>
                <a:tabLst/>
                <a:defRPr sz="1400" baseline="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4pPr>
              <a:lvl5pPr marL="803275" indent="-171450" algn="l" rtl="0" eaLnBrk="1" fontAlgn="base" hangingPunct="1">
                <a:lnSpc>
                  <a:spcPct val="100000"/>
                </a:lnSpc>
                <a:spcBef>
                  <a:spcPts val="1100"/>
                </a:spcBef>
                <a:spcAft>
                  <a:spcPct val="0"/>
                </a:spcAft>
                <a:buClr>
                  <a:schemeClr val="tx1"/>
                </a:buClr>
                <a:buFont typeface=".AppleSystemUIFont" charset="-120"/>
                <a:buChar char="»"/>
                <a:tabLst/>
                <a:defRPr sz="1400">
                  <a:solidFill>
                    <a:schemeClr val="tx1"/>
                  </a:solidFill>
                  <a:latin typeface="IBM Plex Sans" charset="0"/>
                  <a:ea typeface="IBM Plex Sans" charset="0"/>
                  <a:cs typeface="IBM Plex Sans" charset="0"/>
                </a:defRPr>
              </a:lvl5pPr>
              <a:lvl6pPr marL="1583701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6pPr>
              <a:lvl7pPr marL="1946266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7pPr>
              <a:lvl8pPr marL="2308831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8pPr>
              <a:lvl9pPr marL="2671396" indent="-12966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269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>
                <a:spcBef>
                  <a:spcPts val="300"/>
                </a:spcBef>
              </a:pPr>
              <a:r>
                <a:rPr lang="en-US" sz="1800" b="1" dirty="0">
                  <a:latin typeface="IBM Plex Sans Light" panose="020B0403050203000203" pitchFamily="34" charset="0"/>
                </a:rPr>
                <a:t>Metric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Instance with add-ons available for API Calls, Locations and Environments </a:t>
              </a:r>
            </a:p>
            <a:p>
              <a:pPr>
                <a:spcBef>
                  <a:spcPts val="300"/>
                </a:spcBef>
              </a:pPr>
              <a:endParaRPr lang="en-US" sz="1800" b="1" dirty="0">
                <a:latin typeface="IBM Plex Sans Light" panose="020B0403050203000203" pitchFamily="34" charset="0"/>
              </a:endParaRPr>
            </a:p>
            <a:p>
              <a:pPr>
                <a:spcBef>
                  <a:spcPts val="300"/>
                </a:spcBef>
              </a:pPr>
              <a:r>
                <a:rPr lang="en-US" sz="1800" b="1" dirty="0">
                  <a:latin typeface="IBM Plex Sans Light" panose="020B0403050203000203" pitchFamily="34" charset="0"/>
                </a:rPr>
                <a:t>Pricing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$75,000  per Instance per year </a:t>
              </a:r>
            </a:p>
            <a:p>
              <a:pPr>
                <a:spcBef>
                  <a:spcPts val="300"/>
                </a:spcBef>
              </a:pPr>
              <a:r>
                <a:rPr lang="en-US" sz="1800" dirty="0">
                  <a:latin typeface="IBM Plex Sans Light" panose="020B0403050203000203" pitchFamily="34" charset="0"/>
                </a:rPr>
                <a:t>Add-Ons: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Locations - $30,000 per Location per year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API Calls - $750 per 1 Million API calls per year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Environments $30,000 per Resource Unit (5 Environments)</a:t>
              </a:r>
            </a:p>
            <a:p>
              <a:pPr marL="285693" indent="-285693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IBM Plex Sans Light" panose="020B0403050203000203" pitchFamily="34" charset="0"/>
                </a:rPr>
                <a:t>Max Discount – 20%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3033EAD-0D44-3EFA-DD64-CD5AED21D8E5}"/>
              </a:ext>
            </a:extLst>
          </p:cNvPr>
          <p:cNvSpPr txBox="1"/>
          <p:nvPr/>
        </p:nvSpPr>
        <p:spPr>
          <a:xfrm>
            <a:off x="794" y="6595978"/>
            <a:ext cx="28504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+mj-lt"/>
              </a:rPr>
              <a:t>Use by IBM and IBM Business Partners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45F3253-B8DD-5E4E-5C85-254DAB20073E}"/>
              </a:ext>
            </a:extLst>
          </p:cNvPr>
          <p:cNvSpPr txBox="1">
            <a:spLocks/>
          </p:cNvSpPr>
          <p:nvPr/>
        </p:nvSpPr>
        <p:spPr>
          <a:xfrm>
            <a:off x="12067943" y="6662730"/>
            <a:ext cx="61707" cy="123094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395FB3-9C97-154F-86B2-7E381B951268}" type="slidenum">
              <a:rPr lang="en-US" sz="800"/>
              <a:pPr/>
              <a:t>45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5825655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E9B6B-C00B-EDF2-517B-B009B043C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EC9BC-A1E7-050D-63C4-13F2D8A0DF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067943" y="6662730"/>
            <a:ext cx="61707" cy="123094"/>
          </a:xfrm>
        </p:spPr>
        <p:txBody>
          <a:bodyPr/>
          <a:lstStyle/>
          <a:p>
            <a:fld id="{59395FB3-9C97-154F-86B2-7E381B951268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86D486-68CE-12FC-9D12-C4FC900189CA}"/>
              </a:ext>
            </a:extLst>
          </p:cNvPr>
          <p:cNvSpPr/>
          <p:nvPr/>
        </p:nvSpPr>
        <p:spPr bwMode="auto">
          <a:xfrm>
            <a:off x="5622649" y="5629783"/>
            <a:ext cx="998576" cy="16006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7994" tIns="47994" rIns="47994" bIns="47994" numCol="1" rtlCol="0" anchor="t" anchorCtr="0" compatLnSpc="1">
            <a:prstTxWarp prst="textNoShape">
              <a:avLst/>
            </a:prstTxWarp>
          </a:bodyPr>
          <a:lstStyle/>
          <a:p>
            <a:pPr defTabSz="121897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666" dirty="0">
              <a:solidFill>
                <a:srgbClr val="191919"/>
              </a:solidFill>
              <a:latin typeface="HelvNeue Light for IBM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AF3A1B-5DA6-3884-A54A-14B498EA42B4}"/>
              </a:ext>
            </a:extLst>
          </p:cNvPr>
          <p:cNvSpPr txBox="1"/>
          <p:nvPr/>
        </p:nvSpPr>
        <p:spPr>
          <a:xfrm>
            <a:off x="794" y="6595978"/>
            <a:ext cx="28504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Use by IBM and IBM Business Partners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0ADC63-4092-C862-3021-E3211CD769DB}"/>
              </a:ext>
            </a:extLst>
          </p:cNvPr>
          <p:cNvGraphicFramePr>
            <a:graphicFrameLocks noGrp="1"/>
          </p:cNvGraphicFramePr>
          <p:nvPr/>
        </p:nvGraphicFramePr>
        <p:xfrm>
          <a:off x="15427" y="1567792"/>
          <a:ext cx="12176573" cy="3163892"/>
        </p:xfrm>
        <a:graphic>
          <a:graphicData uri="http://schemas.openxmlformats.org/drawingml/2006/table">
            <a:tbl>
              <a:tblPr/>
              <a:tblGrid>
                <a:gridCol w="1083372">
                  <a:extLst>
                    <a:ext uri="{9D8B030D-6E8A-4147-A177-3AD203B41FA5}">
                      <a16:colId xmlns:a16="http://schemas.microsoft.com/office/drawing/2014/main" val="357205049"/>
                    </a:ext>
                  </a:extLst>
                </a:gridCol>
                <a:gridCol w="3303663">
                  <a:extLst>
                    <a:ext uri="{9D8B030D-6E8A-4147-A177-3AD203B41FA5}">
                      <a16:colId xmlns:a16="http://schemas.microsoft.com/office/drawing/2014/main" val="3036311132"/>
                    </a:ext>
                  </a:extLst>
                </a:gridCol>
                <a:gridCol w="831496">
                  <a:extLst>
                    <a:ext uri="{9D8B030D-6E8A-4147-A177-3AD203B41FA5}">
                      <a16:colId xmlns:a16="http://schemas.microsoft.com/office/drawing/2014/main" val="3871879969"/>
                    </a:ext>
                  </a:extLst>
                </a:gridCol>
                <a:gridCol w="1651442">
                  <a:extLst>
                    <a:ext uri="{9D8B030D-6E8A-4147-A177-3AD203B41FA5}">
                      <a16:colId xmlns:a16="http://schemas.microsoft.com/office/drawing/2014/main" val="3061398695"/>
                    </a:ext>
                  </a:extLst>
                </a:gridCol>
                <a:gridCol w="1094682">
                  <a:extLst>
                    <a:ext uri="{9D8B030D-6E8A-4147-A177-3AD203B41FA5}">
                      <a16:colId xmlns:a16="http://schemas.microsoft.com/office/drawing/2014/main" val="4144450759"/>
                    </a:ext>
                  </a:extLst>
                </a:gridCol>
                <a:gridCol w="2472407">
                  <a:extLst>
                    <a:ext uri="{9D8B030D-6E8A-4147-A177-3AD203B41FA5}">
                      <a16:colId xmlns:a16="http://schemas.microsoft.com/office/drawing/2014/main" val="1720382509"/>
                    </a:ext>
                  </a:extLst>
                </a:gridCol>
                <a:gridCol w="1739511">
                  <a:extLst>
                    <a:ext uri="{9D8B030D-6E8A-4147-A177-3AD203B41FA5}">
                      <a16:colId xmlns:a16="http://schemas.microsoft.com/office/drawing/2014/main" val="1360492400"/>
                    </a:ext>
                  </a:extLst>
                </a:gridCol>
              </a:tblGrid>
              <a:tr h="314284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  <a:latin typeface="Helvetica Neue" panose="02000503000000020004" pitchFamily="2" charset="0"/>
                        </a:rPr>
                        <a:t>IBM Offering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sz="1000">
                          <a:effectLst/>
                          <a:latin typeface="Helvetica" pitchFamily="2" charset="0"/>
                        </a:rPr>
                      </a:br>
                      <a:endParaRPr lang="en-US" sz="1000">
                        <a:effectLst/>
                        <a:latin typeface="Helvetica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sz="1000">
                          <a:effectLst/>
                          <a:latin typeface="Helvetica" pitchFamily="2" charset="0"/>
                        </a:rPr>
                      </a:br>
                      <a:endParaRPr lang="en-US" sz="1000">
                        <a:effectLst/>
                        <a:latin typeface="Helvetica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sz="1000">
                          <a:effectLst/>
                          <a:latin typeface="Helvetica" pitchFamily="2" charset="0"/>
                        </a:rPr>
                      </a:br>
                      <a:endParaRPr lang="en-US" sz="1000">
                        <a:effectLst/>
                        <a:latin typeface="Helvetica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sz="1000">
                          <a:effectLst/>
                          <a:latin typeface="Helvetica" pitchFamily="2" charset="0"/>
                        </a:rPr>
                      </a:br>
                      <a:endParaRPr lang="en-US" sz="1000">
                        <a:effectLst/>
                        <a:latin typeface="Helvetica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sz="1000">
                          <a:effectLst/>
                          <a:latin typeface="Helvetica" pitchFamily="2" charset="0"/>
                        </a:rPr>
                      </a:br>
                      <a:endParaRPr lang="en-US" sz="1000">
                        <a:effectLst/>
                        <a:latin typeface="Helvetica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sz="1000" dirty="0">
                          <a:effectLst/>
                          <a:latin typeface="Helvetica" pitchFamily="2" charset="0"/>
                        </a:rPr>
                      </a:br>
                      <a:endParaRPr lang="en-US" sz="1000" dirty="0">
                        <a:effectLst/>
                        <a:latin typeface="Helvetica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2117433"/>
                  </a:ext>
                </a:extLst>
              </a:tr>
              <a:tr h="16190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  <a:latin typeface="Helvetica Neue" panose="02000503000000020004" pitchFamily="2" charset="0"/>
                        </a:rPr>
                        <a:t>Parts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CC Description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Metric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Part Type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Term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Comments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Annual List Price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886461"/>
                  </a:ext>
                </a:extLst>
              </a:tr>
              <a:tr h="37523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  <a:latin typeface="Helvetica Neue" panose="02000503000000020004" pitchFamily="2" charset="0"/>
                        </a:rPr>
                        <a:t>D0EXAZX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effectLst/>
                          <a:latin typeface="Helvetica Neue" panose="02000503000000020004" pitchFamily="2" charset="0"/>
                        </a:rPr>
                        <a:t>IBM StepZen Graph Server Essentials Million API Calls per Annum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Million API Calls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Subscription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Per Annum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One Million API Calls </a:t>
                      </a:r>
                    </a:p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IBM Community Support  99.9 SLA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$120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415822"/>
                  </a:ext>
                </a:extLst>
              </a:tr>
              <a:tr h="375236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D0EX6ZX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effectLst/>
                          <a:latin typeface="Helvetica Neue" panose="02000503000000020004" pitchFamily="2" charset="0"/>
                        </a:rPr>
                        <a:t>IBM StepZen Graph Server Enterprise Instance per Annum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Instance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Subscription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Per Annum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Instance defined as: 1 Region (Location), 5 Environments, 100M API Calls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$75,000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479079"/>
                  </a:ext>
                </a:extLst>
              </a:tr>
              <a:tr h="375236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D0EX8ZX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effectLst/>
                          <a:latin typeface="Helvetica Neue" panose="02000503000000020004" pitchFamily="2" charset="0"/>
                        </a:rPr>
                        <a:t>IBM StepZen Graph Server Enterprise Add on Location per Annum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Location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Subscription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Per Annum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sz="1000">
                          <a:effectLst/>
                          <a:latin typeface="Helvetica" pitchFamily="2" charset="0"/>
                        </a:rPr>
                      </a:br>
                      <a:endParaRPr lang="en-US" sz="1000">
                        <a:effectLst/>
                        <a:latin typeface="Helvetica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$30,000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5168106"/>
                  </a:ext>
                </a:extLst>
              </a:tr>
              <a:tr h="375236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D0EX9ZX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effectLst/>
                          <a:latin typeface="Helvetica Neue" panose="02000503000000020004" pitchFamily="2" charset="0"/>
                        </a:rPr>
                        <a:t>IBM StepZen Graph Server Enterprise Add on Resource Unit per Annum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Resource Unit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Subscription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Per Annum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  <a:latin typeface="Helvetica Neue" panose="02000503000000020004" pitchFamily="2" charset="0"/>
                        </a:rPr>
                        <a:t>Resource Unit =5 Additional Environments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$30,000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5045031"/>
                  </a:ext>
                </a:extLst>
              </a:tr>
              <a:tr h="375236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D0EX7ZX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effectLst/>
                          <a:latin typeface="Helvetica Neue" panose="02000503000000020004" pitchFamily="2" charset="0"/>
                        </a:rPr>
                        <a:t>IBM StepZen Graph Server Add on Million API Calls per Annum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Million API Calls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Subscription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Per Annum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One Million API Calls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$750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218978"/>
                  </a:ext>
                </a:extLst>
              </a:tr>
              <a:tr h="314284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D0EXBZX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effectLst/>
                          <a:latin typeface="Helvetica Neue" panose="02000503000000020004" pitchFamily="2" charset="0"/>
                        </a:rPr>
                        <a:t>IBM StepZen Graph Server SLA SVC Level Agreement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sz="1000" dirty="0">
                          <a:effectLst/>
                          <a:latin typeface="Helvetica" pitchFamily="2" charset="0"/>
                        </a:rPr>
                      </a:br>
                      <a:endParaRPr lang="en-US" sz="1000" dirty="0">
                        <a:effectLst/>
                        <a:latin typeface="Helvetica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  <a:latin typeface="Helvetica Neue" panose="02000503000000020004" pitchFamily="2" charset="0"/>
                        </a:rPr>
                        <a:t>Service Level Agreement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Helvetica Neue" panose="02000503000000020004" pitchFamily="2" charset="0"/>
                        </a:rPr>
                        <a:t>Per Annum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sz="1000">
                          <a:effectLst/>
                          <a:latin typeface="Helvetica" pitchFamily="2" charset="0"/>
                        </a:rPr>
                      </a:br>
                      <a:endParaRPr lang="en-US" sz="1000">
                        <a:effectLst/>
                        <a:latin typeface="Helvetica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  <a:latin typeface="Helvetica Neue" panose="02000503000000020004" pitchFamily="2" charset="0"/>
                        </a:rPr>
                        <a:t>$0</a:t>
                      </a: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91034"/>
                  </a:ext>
                </a:extLst>
              </a:tr>
              <a:tr h="497140">
                <a:tc>
                  <a:txBody>
                    <a:bodyPr/>
                    <a:lstStyle/>
                    <a:p>
                      <a:br>
                        <a:rPr lang="en-US" sz="1000">
                          <a:effectLst/>
                          <a:latin typeface="Helvetica" pitchFamily="2" charset="0"/>
                        </a:rPr>
                      </a:br>
                      <a:endParaRPr lang="en-US" sz="1000">
                        <a:effectLst/>
                        <a:latin typeface="Helvetica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sz="1000" dirty="0">
                          <a:effectLst/>
                          <a:latin typeface="Helvetica" pitchFamily="2" charset="0"/>
                        </a:rPr>
                      </a:br>
                      <a:endParaRPr lang="en-US" sz="1000" dirty="0">
                        <a:effectLst/>
                        <a:latin typeface="Helvetica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sz="1000" dirty="0">
                          <a:effectLst/>
                          <a:latin typeface="Helvetica" pitchFamily="2" charset="0"/>
                        </a:rPr>
                      </a:br>
                      <a:endParaRPr lang="en-US" sz="1000" dirty="0">
                        <a:effectLst/>
                        <a:latin typeface="Helvetica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sz="1000" dirty="0">
                          <a:effectLst/>
                          <a:latin typeface="Helvetica" pitchFamily="2" charset="0"/>
                        </a:rPr>
                      </a:br>
                      <a:endParaRPr lang="en-US" sz="1000" dirty="0">
                        <a:effectLst/>
                        <a:latin typeface="Helvetica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sz="1000" dirty="0">
                          <a:effectLst/>
                          <a:latin typeface="Helvetica" pitchFamily="2" charset="0"/>
                        </a:rPr>
                      </a:br>
                      <a:endParaRPr lang="en-US" sz="1000" dirty="0">
                        <a:effectLst/>
                        <a:latin typeface="Helvetica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sz="1000" dirty="0">
                          <a:effectLst/>
                          <a:latin typeface="Helvetica Neue" panose="02000503000000020004" pitchFamily="2" charset="0"/>
                        </a:rPr>
                      </a:br>
                      <a:endParaRPr lang="en-US" sz="100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23809" marR="23809" marT="4762" marB="4762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8997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1438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95152B-A654-A30A-EC8B-3C05987D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10519245" cy="4095750"/>
          </a:xfrm>
        </p:spPr>
        <p:txBody>
          <a:bodyPr lIns="0" tIns="0" rIns="0" bIns="0" anchor="t"/>
          <a:lstStyle/>
          <a:p>
            <a:r>
              <a:rPr lang="en-US" sz="6000" dirty="0">
                <a:solidFill>
                  <a:schemeClr val="accent1"/>
                </a:solidFill>
                <a:latin typeface="IBM Plex Sans ExtraLight"/>
              </a:rPr>
              <a:t>Call to Action</a:t>
            </a:r>
            <a:br>
              <a:rPr lang="en-US" sz="6000" dirty="0">
                <a:solidFill>
                  <a:schemeClr val="accent1"/>
                </a:solidFill>
                <a:latin typeface="IBM Plex Sans ExtraLight"/>
              </a:rPr>
            </a:br>
            <a:r>
              <a:rPr lang="en-US" sz="6000" dirty="0">
                <a:solidFill>
                  <a:schemeClr val="accent1"/>
                </a:solidFill>
                <a:latin typeface="IBM Plex Sans ExtraLight"/>
              </a:rPr>
              <a:t> - Brian &amp; Tom</a:t>
            </a:r>
            <a:endParaRPr lang="en-US" dirty="0">
              <a:solidFill>
                <a:schemeClr val="accent1"/>
              </a:solidFill>
              <a:latin typeface="IBM Plex Sans Extra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9AF32-5247-BF06-A8C3-F4EE7119F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533501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CFF00F-A6DC-850B-F14D-41615C19EF29}"/>
              </a:ext>
            </a:extLst>
          </p:cNvPr>
          <p:cNvSpPr/>
          <p:nvPr/>
        </p:nvSpPr>
        <p:spPr bwMode="auto">
          <a:xfrm>
            <a:off x="5659442" y="1085668"/>
            <a:ext cx="6447268" cy="4725198"/>
          </a:xfrm>
          <a:prstGeom prst="rect">
            <a:avLst/>
          </a:prstGeom>
          <a:noFill/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163767" indent="-163767" defTabSz="457109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10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43E93D-8DE9-D5B4-59A8-4A9A144A280F}"/>
              </a:ext>
            </a:extLst>
          </p:cNvPr>
          <p:cNvSpPr txBox="1"/>
          <p:nvPr/>
        </p:nvSpPr>
        <p:spPr>
          <a:xfrm>
            <a:off x="242391" y="403582"/>
            <a:ext cx="9357559" cy="425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1218956">
              <a:buSzPct val="100000"/>
              <a:defRPr/>
            </a:pPr>
            <a:r>
              <a:rPr lang="en-US" sz="2400" b="1" dirty="0">
                <a:solidFill>
                  <a:srgbClr val="0F62FE"/>
                </a:solidFill>
                <a:latin typeface="IBM Plex Sans Light"/>
                <a:cs typeface="Arial" panose="020B0604020202020204" pitchFamily="34" charset="0"/>
              </a:rPr>
              <a:t>How Do I Get Technical Assistance on My StepZen Opportunities? </a:t>
            </a:r>
            <a:endParaRPr lang="en-US" sz="2400" b="1" dirty="0">
              <a:solidFill>
                <a:srgbClr val="DA1E28"/>
              </a:solidFill>
              <a:latin typeface="IBM Plex Sans Light"/>
              <a:cs typeface="Arial" panose="020B0604020202020204" pitchFamily="34" charset="0"/>
            </a:endParaRP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AEA8D835-066F-BCB8-8683-775F38C6C763}"/>
              </a:ext>
            </a:extLst>
          </p:cNvPr>
          <p:cNvSpPr txBox="1">
            <a:spLocks/>
          </p:cNvSpPr>
          <p:nvPr/>
        </p:nvSpPr>
        <p:spPr>
          <a:xfrm>
            <a:off x="85291" y="1085668"/>
            <a:ext cx="5510316" cy="4725197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>
            <a:normAutofit fontScale="32500" lnSpcReduction="20000"/>
          </a:bodyPr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327600" marR="0" indent="-32760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658800" marR="0" indent="-32760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986400" marR="0" indent="-32760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685800" marR="0" indent="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marL="211095" indent="-211095" defTabSz="1218956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en-US" sz="6399" kern="0" dirty="0">
              <a:solidFill>
                <a:srgbClr val="000000"/>
              </a:solidFill>
            </a:endParaRPr>
          </a:p>
          <a:p>
            <a:pPr marL="211095" indent="-211095" defTabSz="1218956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en-US" sz="6399" kern="0" dirty="0">
              <a:solidFill>
                <a:srgbClr val="000000"/>
              </a:solidFill>
            </a:endParaRPr>
          </a:p>
          <a:p>
            <a:pPr marL="211095" indent="-211095" defTabSz="1218956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6399" kern="0" dirty="0">
                <a:solidFill>
                  <a:srgbClr val="000000"/>
                </a:solidFill>
              </a:rPr>
              <a:t>A Slack channel </a:t>
            </a:r>
            <a:r>
              <a:rPr lang="en-US" sz="6399" b="1" kern="0" dirty="0">
                <a:solidFill>
                  <a:srgbClr val="0F62FE"/>
                </a:solidFill>
              </a:rPr>
              <a:t>#</a:t>
            </a:r>
            <a:r>
              <a:rPr lang="en-US" sz="6399" b="1" kern="0" dirty="0" err="1">
                <a:solidFill>
                  <a:srgbClr val="0F62FE"/>
                </a:solidFill>
              </a:rPr>
              <a:t>stepzen</a:t>
            </a:r>
            <a:r>
              <a:rPr lang="en-US" sz="6399" b="1" kern="0" dirty="0">
                <a:solidFill>
                  <a:srgbClr val="0F62FE"/>
                </a:solidFill>
              </a:rPr>
              <a:t>-support-request </a:t>
            </a:r>
            <a:r>
              <a:rPr lang="en-US" sz="6399" kern="0" dirty="0">
                <a:solidFill>
                  <a:srgbClr val="000000"/>
                </a:solidFill>
              </a:rPr>
              <a:t>is available  </a:t>
            </a:r>
            <a:r>
              <a:rPr lang="en-US" sz="6399" b="1" kern="0" dirty="0">
                <a:solidFill>
                  <a:srgbClr val="0F62FE"/>
                </a:solidFill>
              </a:rPr>
              <a:t>IBM Software workspace</a:t>
            </a:r>
          </a:p>
          <a:p>
            <a:pPr marL="329334" lvl="3" indent="0" defTabSz="1218956">
              <a:buClr>
                <a:srgbClr val="000000"/>
              </a:buClr>
              <a:buNone/>
              <a:defRPr/>
            </a:pPr>
            <a:r>
              <a:rPr lang="en-US" sz="6399" kern="0" dirty="0">
                <a:solidFill>
                  <a:srgbClr val="000000"/>
                </a:solidFill>
                <a:hlinkClick r:id="rId2"/>
              </a:rPr>
              <a:t>https://ibm-cloud.slack.com/archives/C053J4UHF89</a:t>
            </a:r>
            <a:endParaRPr lang="en-US" sz="6399" kern="0" dirty="0">
              <a:solidFill>
                <a:srgbClr val="000000"/>
              </a:solidFill>
            </a:endParaRPr>
          </a:p>
          <a:p>
            <a:pPr marL="211095" indent="-211095" defTabSz="1218956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en-US" sz="6399" kern="0" dirty="0">
              <a:solidFill>
                <a:srgbClr val="000000"/>
              </a:solidFill>
            </a:endParaRPr>
          </a:p>
          <a:p>
            <a:pPr defTabSz="1218956">
              <a:buClr>
                <a:srgbClr val="000000"/>
              </a:buClr>
              <a:defRPr/>
            </a:pPr>
            <a:endParaRPr lang="en-US" sz="6399" kern="0" dirty="0">
              <a:solidFill>
                <a:srgbClr val="000000"/>
              </a:solidFill>
            </a:endParaRPr>
          </a:p>
          <a:p>
            <a:pPr marL="211095" indent="-211095" defTabSz="1218956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6399" kern="0" dirty="0">
                <a:solidFill>
                  <a:srgbClr val="000000"/>
                </a:solidFill>
              </a:rPr>
              <a:t>People/Users can </a:t>
            </a:r>
            <a:r>
              <a:rPr lang="en-US" sz="6399" u="sng" kern="0" dirty="0">
                <a:solidFill>
                  <a:srgbClr val="000000"/>
                </a:solidFill>
              </a:rPr>
              <a:t>not</a:t>
            </a:r>
            <a:r>
              <a:rPr lang="en-US" sz="6399" kern="0" dirty="0">
                <a:solidFill>
                  <a:srgbClr val="000000"/>
                </a:solidFill>
              </a:rPr>
              <a:t> post messages in the channel.</a:t>
            </a:r>
          </a:p>
          <a:p>
            <a:pPr marL="211095" indent="-211095" defTabSz="1218956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en-US" sz="6399" kern="0" dirty="0">
              <a:solidFill>
                <a:srgbClr val="000000"/>
              </a:solidFill>
            </a:endParaRPr>
          </a:p>
          <a:p>
            <a:pPr marL="211095" indent="-211095" defTabSz="1218956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en-US" sz="6399" kern="0" dirty="0">
              <a:solidFill>
                <a:srgbClr val="000000"/>
              </a:solidFill>
            </a:endParaRPr>
          </a:p>
          <a:p>
            <a:pPr marL="211095" indent="-211095" defTabSz="1218956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6399" kern="0" dirty="0">
                <a:solidFill>
                  <a:srgbClr val="000000"/>
                </a:solidFill>
              </a:rPr>
              <a:t>The only option is to start a workflow by clicking here.</a:t>
            </a:r>
          </a:p>
          <a:p>
            <a:pPr marL="211095" indent="-211095" defTabSz="1218956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en-US" sz="6399" kern="0" dirty="0">
              <a:solidFill>
                <a:srgbClr val="000000"/>
              </a:solidFill>
            </a:endParaRPr>
          </a:p>
          <a:p>
            <a:pPr marL="211095" indent="-211095" defTabSz="1218956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en-US" sz="6399" kern="0" dirty="0">
              <a:solidFill>
                <a:srgbClr val="000000"/>
              </a:solidFill>
            </a:endParaRPr>
          </a:p>
          <a:p>
            <a:pPr marL="211095" indent="-211095" defTabSz="1218956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6399" kern="0" dirty="0">
                <a:solidFill>
                  <a:srgbClr val="000000"/>
                </a:solidFill>
              </a:rPr>
              <a:t>The workflow is called “StepZen Support Request”.</a:t>
            </a:r>
          </a:p>
          <a:p>
            <a:pPr marL="211095" indent="-211095" defTabSz="1218956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en-US" sz="6399" kern="0" dirty="0">
              <a:solidFill>
                <a:srgbClr val="000000"/>
              </a:solidFill>
            </a:endParaRPr>
          </a:p>
          <a:p>
            <a:pPr defTabSz="1218956">
              <a:buClr>
                <a:srgbClr val="000000"/>
              </a:buClr>
              <a:defRPr/>
            </a:pPr>
            <a:endParaRPr lang="en-US" sz="6399" kern="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FB78F-D89B-9DD6-AD11-6E4FBA5F5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586" y="1263291"/>
            <a:ext cx="3282523" cy="404442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181CF7E-A5D5-753D-CA8C-32F0C5A9C89F}"/>
              </a:ext>
            </a:extLst>
          </p:cNvPr>
          <p:cNvGrpSpPr/>
          <p:nvPr/>
        </p:nvGrpSpPr>
        <p:grpSpPr>
          <a:xfrm>
            <a:off x="5797486" y="1612567"/>
            <a:ext cx="2709318" cy="3044977"/>
            <a:chOff x="5157218" y="5694440"/>
            <a:chExt cx="3515625" cy="437368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C11AD7E-F303-9DD6-AC17-AC441E3B6F3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35048" y="6796110"/>
              <a:ext cx="0" cy="48811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387663D-DC8F-02AB-E348-BD4683C94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57218" y="5694440"/>
              <a:ext cx="3515625" cy="110167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12A657-2EAD-E443-4F17-619057E0CE9D}"/>
                </a:ext>
              </a:extLst>
            </p:cNvPr>
            <p:cNvSpPr/>
            <p:nvPr/>
          </p:nvSpPr>
          <p:spPr bwMode="auto">
            <a:xfrm>
              <a:off x="5203129" y="6331720"/>
              <a:ext cx="478171" cy="46439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700" dirty="0">
                <a:solidFill>
                  <a:srgbClr val="FFFFFF"/>
                </a:solidFill>
                <a:latin typeface="IBM Plex Sans Light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B992BE3-E5A8-543E-27B2-3F2E10C73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42214" y="7260500"/>
              <a:ext cx="2399574" cy="2807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C8C0260-5D30-39D4-887A-BD8942AE0DFF}"/>
                </a:ext>
              </a:extLst>
            </p:cNvPr>
            <p:cNvSpPr/>
            <p:nvPr/>
          </p:nvSpPr>
          <p:spPr bwMode="auto">
            <a:xfrm>
              <a:off x="5356202" y="8729636"/>
              <a:ext cx="2399573" cy="46439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700" dirty="0">
                <a:solidFill>
                  <a:srgbClr val="FFFFFF"/>
                </a:solidFill>
                <a:latin typeface="IBM Plex Sans Light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B0E6026-566C-A00B-115E-F344403FDEA4}"/>
                </a:ext>
              </a:extLst>
            </p:cNvPr>
            <p:cNvSpPr/>
            <p:nvPr/>
          </p:nvSpPr>
          <p:spPr bwMode="auto">
            <a:xfrm>
              <a:off x="5283959" y="6855404"/>
              <a:ext cx="307571" cy="3096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45710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700" dirty="0">
                  <a:solidFill>
                    <a:srgbClr val="000000"/>
                  </a:solidFill>
                  <a:latin typeface="IBM Plex Sans Light"/>
                </a:rPr>
                <a:t>1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79B9ADA-10C5-FFED-61CF-192C7EDC3E10}"/>
                </a:ext>
              </a:extLst>
            </p:cNvPr>
            <p:cNvSpPr/>
            <p:nvPr/>
          </p:nvSpPr>
          <p:spPr bwMode="auto">
            <a:xfrm>
              <a:off x="6607459" y="6908179"/>
              <a:ext cx="307571" cy="3096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45710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700" dirty="0">
                  <a:solidFill>
                    <a:srgbClr val="000000"/>
                  </a:solidFill>
                  <a:latin typeface="IBM Plex Sans Light"/>
                </a:rPr>
                <a:t>2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442333F-0836-3C49-C106-8FE98BE544A5}"/>
              </a:ext>
            </a:extLst>
          </p:cNvPr>
          <p:cNvSpPr txBox="1"/>
          <p:nvPr/>
        </p:nvSpPr>
        <p:spPr>
          <a:xfrm>
            <a:off x="6857165" y="5353726"/>
            <a:ext cx="4554643" cy="457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defTabSz="1218956">
              <a:buSzPct val="100000"/>
              <a:defRPr/>
            </a:pPr>
            <a:r>
              <a:rPr lang="en-US" sz="1600" dirty="0">
                <a:solidFill>
                  <a:srgbClr val="000000"/>
                </a:solidFill>
                <a:latin typeface="IBM Plex Sans Light"/>
                <a:cs typeface="Arial" panose="020B0604020202020204" pitchFamily="34" charset="0"/>
                <a:hlinkClick r:id="rId6"/>
              </a:rPr>
              <a:t>Instructions to use this Form can be found here</a:t>
            </a:r>
            <a:endParaRPr lang="en-US" sz="1600" dirty="0">
              <a:solidFill>
                <a:srgbClr val="000000"/>
              </a:solidFill>
              <a:latin typeface="IBM Plex Sans Ligh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9641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95152B-A654-A30A-EC8B-3C05987D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10519245" cy="2142744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This was just a taste.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>Now get the full meal…</a:t>
            </a:r>
            <a:br>
              <a:rPr lang="en-US" sz="3600" dirty="0">
                <a:solidFill>
                  <a:schemeClr val="tx1"/>
                </a:solidFill>
              </a:rPr>
            </a:b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Full learning course on </a:t>
            </a:r>
            <a:r>
              <a:rPr lang="en-US" sz="2400" dirty="0" err="1">
                <a:solidFill>
                  <a:schemeClr val="tx1"/>
                </a:solidFill>
              </a:rPr>
              <a:t>StepZen</a:t>
            </a:r>
            <a:r>
              <a:rPr lang="en-US" sz="2400" dirty="0">
                <a:solidFill>
                  <a:schemeClr val="tx1"/>
                </a:solidFill>
              </a:rPr>
              <a:t> available over the next month.</a:t>
            </a:r>
            <a:br>
              <a:rPr lang="en-US" sz="2400" dirty="0">
                <a:solidFill>
                  <a:schemeClr val="tx1"/>
                </a:solidFill>
              </a:rPr>
            </a:br>
            <a:br>
              <a:rPr lang="en-US" sz="2400" dirty="0">
                <a:solidFill>
                  <a:schemeClr val="tx1"/>
                </a:solidFill>
              </a:rPr>
            </a:b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9AF32-5247-BF06-A8C3-F4EE7119F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305869-5AAD-18B5-81FA-3A21DC75F0AC}"/>
              </a:ext>
            </a:extLst>
          </p:cNvPr>
          <p:cNvSpPr txBox="1"/>
          <p:nvPr/>
        </p:nvSpPr>
        <p:spPr>
          <a:xfrm>
            <a:off x="658368" y="347472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85750" indent="-28575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Module 1 – Selling </a:t>
            </a:r>
            <a:r>
              <a:rPr lang="en-US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StepZen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, Speaking confidently</a:t>
            </a:r>
          </a:p>
          <a:p>
            <a:pPr marL="285750" indent="-28575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Module 2 – Architecture, white boards, and doing quick demos</a:t>
            </a:r>
          </a:p>
          <a:p>
            <a:pPr marL="285750" indent="-28575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Module 3 – Common scenarios, making a custom demo</a:t>
            </a:r>
          </a:p>
          <a:p>
            <a:pPr marL="285750" indent="-28575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Module 4 – </a:t>
            </a:r>
            <a:r>
              <a:rPr lang="en-US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StepZen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directives</a:t>
            </a:r>
          </a:p>
          <a:p>
            <a:pPr marL="285750" indent="-28575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Module 5 – Everything else--Governance, CI/CD, Testing</a:t>
            </a:r>
          </a:p>
        </p:txBody>
      </p:sp>
    </p:spTree>
    <p:extLst>
      <p:ext uri="{BB962C8B-B14F-4D97-AF65-F5344CB8AC3E}">
        <p14:creationId xmlns:p14="http://schemas.microsoft.com/office/powerpoint/2010/main" val="18129950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Presentation10" id="{77BB7BD5-37AD-8641-8F74-3B41867F830C}" vid="{0C5B2560-3122-7E4A-AF38-1A92AE98AE1F}"/>
    </a:ext>
  </a:extLst>
</a:theme>
</file>

<file path=ppt/theme/theme2.xml><?xml version="1.0" encoding="utf-8"?>
<a:theme xmlns:a="http://schemas.openxmlformats.org/drawingml/2006/main" name="1_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Apresentação1" id="{F8F070C5-8E27-0E40-8060-0751D3E3B941}" vid="{3D1E2580-CDCB-B94D-88D9-A25308E26F91}"/>
    </a:ext>
  </a:extLst>
</a:theme>
</file>

<file path=ppt/theme/theme3.xml><?xml version="1.0" encoding="utf-8"?>
<a:theme xmlns:a="http://schemas.openxmlformats.org/drawingml/2006/main" name="IBM 2020 Master template (black background)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12771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IBM Plex Sans" charset="0"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Naked-template" id="{38482274-8AD0-3B48-BC15-CBEB83BC3AA0}" vid="{045B8C44-5484-6A43-913D-21B9458BF858}"/>
    </a:ext>
  </a:extLst>
</a:theme>
</file>

<file path=ppt/theme/theme4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6350">
          <a:solidFill>
            <a:srgbClr val="002D9C"/>
          </a:solidFill>
          <a:headEnd type="none" w="med" len="med"/>
          <a:tailEnd type="triangle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Presentation_Template_2022_V01_Plex" id="{4C35AED2-0956-0D40-B36D-C06D62725AA8}" vid="{C4BA05BF-74B1-4B4C-B175-992815DE89C6}"/>
    </a:ext>
  </a:extLst>
</a:theme>
</file>

<file path=ppt/theme/theme5.xml><?xml version="1.0" encoding="utf-8"?>
<a:theme xmlns:a="http://schemas.openxmlformats.org/drawingml/2006/main" name="2_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Presentation_Template_2022_V01_Plex" id="{4C35AED2-0956-0D40-B36D-C06D62725AA8}" vid="{C4BA05BF-74B1-4B4C-B175-992815DE89C6}"/>
    </a:ext>
  </a:extLst>
</a:theme>
</file>

<file path=ppt/theme/theme6.xml><?xml version="1.0" encoding="utf-8"?>
<a:theme xmlns:a="http://schemas.openxmlformats.org/drawingml/2006/main" name="3_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Presentation_Template_2022_V01_Plex" id="{4C35AED2-0956-0D40-B36D-C06D62725AA8}" vid="{C4BA05BF-74B1-4B4C-B175-992815DE89C6}"/>
    </a:ext>
  </a:extLst>
</a:theme>
</file>

<file path=ppt/theme/theme7.xml><?xml version="1.0" encoding="utf-8"?>
<a:theme xmlns:a="http://schemas.openxmlformats.org/drawingml/2006/main" name="gry_background_2017">
  <a:themeElements>
    <a:clrScheme name="Custom 4">
      <a:dk1>
        <a:srgbClr val="000000"/>
      </a:dk1>
      <a:lt1>
        <a:srgbClr val="000E5E"/>
      </a:lt1>
      <a:dk2>
        <a:srgbClr val="EAEAEA"/>
      </a:dk2>
      <a:lt2>
        <a:srgbClr val="FFFFFF"/>
      </a:lt2>
      <a:accent1>
        <a:srgbClr val="69A6FF"/>
      </a:accent1>
      <a:accent2>
        <a:srgbClr val="0064FF"/>
      </a:accent2>
      <a:accent3>
        <a:srgbClr val="003BC9"/>
      </a:accent3>
      <a:accent4>
        <a:srgbClr val="BB8EFF"/>
      </a:accent4>
      <a:accent5>
        <a:srgbClr val="6E177D"/>
      </a:accent5>
      <a:accent6>
        <a:srgbClr val="20D5D2"/>
      </a:accent6>
      <a:hlink>
        <a:srgbClr val="0064FF"/>
      </a:hlink>
      <a:folHlink>
        <a:srgbClr val="E0E0E0"/>
      </a:folHlink>
    </a:clrScheme>
    <a:fontScheme name="IBM Master PPT Template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noAutofit/>
      </a:bodyPr>
      <a:lstStyle>
        <a:defPPr>
          <a:defRPr sz="1200" dirty="0" err="1">
            <a:solidFill>
              <a:srgbClr val="FFFFFF"/>
            </a:solidFill>
            <a:latin typeface="Arial"/>
            <a:cs typeface="Arial"/>
          </a:defRPr>
        </a:defPPr>
      </a:lstStyle>
    </a:spDef>
    <a:lnDef>
      <a:spPr>
        <a:ln w="6350">
          <a:solidFill>
            <a:schemeClr val="tx2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atson_presentation_template" id="{3596A0D1-ED97-224C-9AC3-B3B1AFFC03F1}" vid="{6953F3BD-CE26-1C45-A1F7-4E573E5A752B}"/>
    </a:ext>
  </a:extLst>
</a:theme>
</file>

<file path=ppt/theme/theme8.xml><?xml version="1.0" encoding="utf-8"?>
<a:theme xmlns:a="http://schemas.openxmlformats.org/drawingml/2006/main" name="1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Presentation10" id="{77BB7BD5-37AD-8641-8F74-3B41867F830C}" vid="{0C5B2560-3122-7E4A-AF38-1A92AE98AE1F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14174</TotalTime>
  <Words>3579</Words>
  <Application>Microsoft Office PowerPoint</Application>
  <PresentationFormat>Widescreen</PresentationFormat>
  <Paragraphs>471</Paragraphs>
  <Slides>49</Slides>
  <Notes>18</Notes>
  <HiddenSlides>9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IBM presentation template</vt:lpstr>
      <vt:lpstr>1_IBM Brand Template 2022</vt:lpstr>
      <vt:lpstr>IBM 2020 Master template (black background)</vt:lpstr>
      <vt:lpstr>IBM Brand Template 2022</vt:lpstr>
      <vt:lpstr>2_IBM Brand Template 2022</vt:lpstr>
      <vt:lpstr>3_IBM Brand Template 2022</vt:lpstr>
      <vt:lpstr>gry_background_2017</vt:lpstr>
      <vt:lpstr>1_IBM presentation template</vt:lpstr>
      <vt:lpstr>IBM StepZen Graph Server Integration Talk Tuesday  </vt:lpstr>
      <vt:lpstr>Agenda</vt:lpstr>
      <vt:lpstr>Context Why does this matter? -Brian </vt:lpstr>
      <vt:lpstr>Opportunity: GraphQL</vt:lpstr>
      <vt:lpstr>Core Problem:  Speed of app development is hindered by complicated service &amp; data silos</vt:lpstr>
      <vt:lpstr>How to access diverse, complicated silos?</vt:lpstr>
      <vt:lpstr>Solution:  A GraphQL API that abstracts the backends away</vt:lpstr>
      <vt:lpstr>GraphQL APIs enable access to diverse sources</vt:lpstr>
      <vt:lpstr>Use Cases</vt:lpstr>
      <vt:lpstr>In General</vt:lpstr>
      <vt:lpstr>Technology Equipment Manufacturer  - GraphQL on Cloud Database to combine with GraphQL CMS for web content delivery  - Rapid development and success lead to adding CRM data to the API  - “Curation” of third party GraphQL APIs to improve usability and product fit with their GraphQL API design patterns</vt:lpstr>
      <vt:lpstr>Technology Provider  - Standardized on GraphQL for both external API capability and internal development  - Multiple enterprise systems including SAP  - Improved usability of APIs along with simplifying the cross-domain view of the company</vt:lpstr>
      <vt:lpstr>IT Services Company  - GraphQL on Data Warehouse knowledge  - Combined with CRM and other revenue recognition systems  - GraphQL API made web development easy without requiring deep knowledge of back end systems</vt:lpstr>
      <vt:lpstr>Digital Marketing Agency  - GraphQL on Third party REST API  - Backend-for-Frontend (BFF) pattern for internal applications  - Simplified a complex API and ensured only necessary data was available  - Migrated third party providers without API disruption</vt:lpstr>
      <vt:lpstr>Personas  - Carlos</vt:lpstr>
      <vt:lpstr>Am I talking to the right person?</vt:lpstr>
      <vt:lpstr>Am I talking to the right person?</vt:lpstr>
      <vt:lpstr>Am I talking to the right person?</vt:lpstr>
      <vt:lpstr>Finding Opportunities</vt:lpstr>
      <vt:lpstr>Prospecting  - Newton</vt:lpstr>
      <vt:lpstr>Prospecting Introduction</vt:lpstr>
      <vt:lpstr>Step 3A: Learn the Problem   Prepare for the first conversation you have with your prospect, whether that be a response to an email or cold call. Your goal is to book a meeting or discovery call.     </vt:lpstr>
      <vt:lpstr>Step 1: Learn the solution   Prepare for the first conversation you have with your prospect, whether that be a response to an email or cold call. Your goal is to book a meeting or discovery call.     </vt:lpstr>
      <vt:lpstr>Step 2: Prospect  Start Prospecting with your Targeted Lead List using the Multi-Touch Outreach provided in the following slides.   </vt:lpstr>
      <vt:lpstr>Step 3: Prepare  Prepare for Client Conversations   Your customer answered either your phone call or email, you communicated the value of StepZen, and you booked a meeting - great!    Now, you will need to understand more about your customer and their challenges. </vt:lpstr>
      <vt:lpstr>Step 4: Follow-up  What’s Next?    Now that you are prospecting into your territory for StepZen, take your approach a step further with some of these ideas that came directly from your IBM Colleagues.  </vt:lpstr>
      <vt:lpstr>Step 5: Breathe  That was a lot of info   Just keep these key ideas in mind:  </vt:lpstr>
      <vt:lpstr>IBM StepZen Graph Server</vt:lpstr>
      <vt:lpstr>StepZen is a GraphQL server “as a service”</vt:lpstr>
      <vt:lpstr>StepZen solves hard problems, so you can focus on value</vt:lpstr>
      <vt:lpstr>Declarative Development</vt:lpstr>
      <vt:lpstr>Introduction to StepZen's Directives</vt:lpstr>
      <vt:lpstr>@rest Directive</vt:lpstr>
      <vt:lpstr>@dbquery Directive</vt:lpstr>
      <vt:lpstr>@graphql Directive</vt:lpstr>
      <vt:lpstr>@materializer Directive</vt:lpstr>
      <vt:lpstr>Composition for teams</vt:lpstr>
      <vt:lpstr>Composition for teams, and team of teams</vt:lpstr>
      <vt:lpstr>Competition</vt:lpstr>
      <vt:lpstr>apollo</vt:lpstr>
      <vt:lpstr>hasura</vt:lpstr>
      <vt:lpstr>Pricing, licensing, sizing  - Newton</vt:lpstr>
      <vt:lpstr>Start for Free</vt:lpstr>
      <vt:lpstr>Overview – IBM StepZen Graph Server Essentials </vt:lpstr>
      <vt:lpstr>Overview – IBM StepZen Graph Server Enterprise</vt:lpstr>
      <vt:lpstr>Parts</vt:lpstr>
      <vt:lpstr>Call to Action  - Brian &amp; Tom</vt:lpstr>
      <vt:lpstr>PowerPoint Presentation</vt:lpstr>
      <vt:lpstr>This was just a taste. Now get the full meal…  Full learning course on StepZen available over the next month.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1H23 &lt;&lt;Integration&gt;&gt; Commit Pitch</dc:title>
  <dc:creator>Eileen M Lowry</dc:creator>
  <cp:lastModifiedBy>Brian Pagano</cp:lastModifiedBy>
  <cp:revision>427</cp:revision>
  <dcterms:created xsi:type="dcterms:W3CDTF">2023-01-29T20:45:12Z</dcterms:created>
  <dcterms:modified xsi:type="dcterms:W3CDTF">2023-06-06T14:53:04Z</dcterms:modified>
</cp:coreProperties>
</file>